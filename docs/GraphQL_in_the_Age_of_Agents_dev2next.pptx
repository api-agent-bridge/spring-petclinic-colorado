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hyperlink" Target="https://mediaproxy.tvtropes.org/width/1200/https://static.tvtropes.org/pmwiki/pub/images/star_trek_logo_7.png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hyperlink" Target="https://cdn.mos.cms.futurecdn.net/a7UGqgTQZrzhMC32Td84AT.png" TargetMode="External"/><Relationship Id="rId6" Type="http://schemas.openxmlformats.org/officeDocument/2006/relationships/hyperlink" Target="https://encrypted-tbn0.gstatic.com/images?q=tbn:ANd9GcQ7si00XP3alfComoBNSt_zVVOTus8_gY8S2piSoxUFLQ&amp;s=10" TargetMode="External"/><Relationship Id="rId7" Type="http://schemas.openxmlformats.org/officeDocument/2006/relationships/hyperlink" Target="https://static.wikia.nocookie.net/memoryalpha/images/4/44/Kathryn_Janeway,_2371.jpg/revision/latest?cb=20210929101355&amp;path-prefix=en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hyperlink" Target="https://pbs.twimg.com/media/DFMspoGVwAAl-Zz?format=jpg&amp;name=small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hyperlink" Target="https://www.youtube.com/watch?v=Wm2h0cbvsw8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inkedin.com/in/zkozina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gatool.io/" TargetMode="External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x1"/>
          <p:cNvSpPr txBox="1"/>
          <p:nvPr/>
        </p:nvSpPr>
        <p:spPr>
          <a:xfrm>
            <a:off x="822960" y="1994957"/>
            <a:ext cx="10515601" cy="764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in the Age of Agents</a:t>
            </a:r>
          </a:p>
        </p:txBody>
      </p:sp>
      <p:sp>
        <p:nvSpPr>
          <p:cNvPr id="21" name="tx2"/>
          <p:cNvSpPr txBox="1"/>
          <p:nvPr/>
        </p:nvSpPr>
        <p:spPr>
          <a:xfrm>
            <a:off x="822960" y="3008951"/>
            <a:ext cx="105156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Your Next AI Client Speaks in Queries</a:t>
            </a:r>
          </a:p>
        </p:txBody>
      </p:sp>
      <p:sp>
        <p:nvSpPr>
          <p:cNvPr id="22" name="ln3"/>
          <p:cNvSpPr/>
          <p:nvPr/>
        </p:nvSpPr>
        <p:spPr>
          <a:xfrm>
            <a:off x="822960" y="3886200"/>
            <a:ext cx="10515601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x4"/>
          <p:cNvSpPr txBox="1"/>
          <p:nvPr/>
        </p:nvSpPr>
        <p:spPr>
          <a:xfrm>
            <a:off x="822960" y="4236649"/>
            <a:ext cx="54864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Dev2Next</a:t>
            </a:r>
          </a:p>
        </p:txBody>
      </p:sp>
      <p:sp>
        <p:nvSpPr>
          <p:cNvPr id="24" name="tx5"/>
          <p:cNvSpPr txBox="1"/>
          <p:nvPr/>
        </p:nvSpPr>
        <p:spPr>
          <a:xfrm>
            <a:off x="822960" y="4693849"/>
            <a:ext cx="54864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Željko Kozina  ·  @zkozina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x9"/>
          <p:cNvSpPr txBox="1"/>
          <p:nvPr/>
        </p:nvSpPr>
        <p:spPr>
          <a:xfrm>
            <a:off x="822960" y="788920"/>
            <a:ext cx="10058401" cy="61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7" name="agenda10"/>
          <p:cNvSpPr txBox="1"/>
          <p:nvPr/>
        </p:nvSpPr>
        <p:spPr>
          <a:xfrm>
            <a:off x="822960" y="1828800"/>
            <a:ext cx="10515601" cy="326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81000" indent="-381000">
              <a:spcBef>
                <a:spcPts val="2200"/>
              </a:spcBef>
              <a:buSzPct val="100000"/>
              <a:buChar char="•"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 is GraphQL?</a:t>
            </a:r>
          </a:p>
          <a:p>
            <a:pPr marL="381000" indent="-381000">
              <a:spcBef>
                <a:spcPts val="2200"/>
              </a:spcBef>
              <a:buSzPct val="100000"/>
              <a:buChar char="•"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Exposing APIs to agents: MCP and in-process tools</a:t>
            </a:r>
          </a:p>
          <a:p>
            <a:pPr marL="381000" indent="-381000">
              <a:spcBef>
                <a:spcPts val="2200"/>
              </a:spcBef>
              <a:buSzPct val="100000"/>
              <a:buChar char="•"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Testing</a:t>
            </a:r>
          </a:p>
          <a:p>
            <a:pPr marL="381000" indent="-381000">
              <a:spcBef>
                <a:spcPts val="2200"/>
              </a:spcBef>
              <a:buSzPct val="100000"/>
              <a:buChar char="•"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Security</a:t>
            </a:r>
          </a:p>
          <a:p>
            <a:pPr marL="381000" indent="-381000">
              <a:spcBef>
                <a:spcPts val="2200"/>
              </a:spcBef>
              <a:buSzPct val="100000"/>
              <a:buChar char="•"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Working with very large APIs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x11"/>
          <p:cNvSpPr txBox="1"/>
          <p:nvPr/>
        </p:nvSpPr>
        <p:spPr>
          <a:xfrm>
            <a:off x="-1" y="2358201"/>
            <a:ext cx="12191697" cy="678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of this is just my opinion.</a:t>
            </a:r>
          </a:p>
        </p:txBody>
      </p:sp>
      <p:sp>
        <p:nvSpPr>
          <p:cNvPr id="30" name="c1_tx12"/>
          <p:cNvSpPr txBox="1"/>
          <p:nvPr/>
        </p:nvSpPr>
        <p:spPr>
          <a:xfrm>
            <a:off x="-1" y="3455481"/>
            <a:ext cx="12191697" cy="678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8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Often flawed.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x13"/>
          <p:cNvSpPr txBox="1"/>
          <p:nvPr/>
        </p:nvSpPr>
        <p:spPr>
          <a:xfrm>
            <a:off x="822960" y="788920"/>
            <a:ext cx="10515601" cy="61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GraphQL?</a:t>
            </a:r>
          </a:p>
        </p:txBody>
      </p:sp>
      <p:sp>
        <p:nvSpPr>
          <p:cNvPr id="33" name="c1_tx14"/>
          <p:cNvSpPr txBox="1"/>
          <p:nvPr/>
        </p:nvSpPr>
        <p:spPr>
          <a:xfrm>
            <a:off x="822960" y="1828800"/>
            <a:ext cx="36576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" name="c1_what15"/>
          <p:cNvSpPr txBox="1"/>
          <p:nvPr/>
        </p:nvSpPr>
        <p:spPr>
          <a:xfrm>
            <a:off x="1234439" y="1828800"/>
            <a:ext cx="10058401" cy="801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 open-source query language for APIs and a server-side runtime </a:t>
            </a:r>
            <a:r>
              <a:rPr sz="2200">
                <a:solidFill>
                  <a:srgbClr val="8A8A8A"/>
                </a:solidFill>
              </a:rPr>
              <a:t>(as described on graphql.org)</a:t>
            </a:r>
          </a:p>
        </p:txBody>
      </p:sp>
      <p:sp>
        <p:nvSpPr>
          <p:cNvPr id="35" name="c2_tx16"/>
          <p:cNvSpPr txBox="1"/>
          <p:nvPr/>
        </p:nvSpPr>
        <p:spPr>
          <a:xfrm>
            <a:off x="822960" y="3063239"/>
            <a:ext cx="365761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6" name="c2_what17"/>
          <p:cNvSpPr txBox="1"/>
          <p:nvPr/>
        </p:nvSpPr>
        <p:spPr>
          <a:xfrm>
            <a:off x="1234439" y="3063239"/>
            <a:ext cx="10058401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specification</a:t>
            </a:r>
          </a:p>
        </p:txBody>
      </p:sp>
      <p:sp>
        <p:nvSpPr>
          <p:cNvPr id="37" name="c3_tx18"/>
          <p:cNvSpPr txBox="1"/>
          <p:nvPr/>
        </p:nvSpPr>
        <p:spPr>
          <a:xfrm>
            <a:off x="822960" y="3840479"/>
            <a:ext cx="365761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8" name="c3_what19"/>
          <p:cNvSpPr txBox="1"/>
          <p:nvPr/>
        </p:nvSpPr>
        <p:spPr>
          <a:xfrm>
            <a:off x="1234439" y="3840479"/>
            <a:ext cx="10058401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Foundation, under the Linux Foundation</a:t>
            </a:r>
          </a:p>
        </p:txBody>
      </p:sp>
      <p:sp>
        <p:nvSpPr>
          <p:cNvPr id="39" name="c4_tx20"/>
          <p:cNvSpPr txBox="1"/>
          <p:nvPr/>
        </p:nvSpPr>
        <p:spPr>
          <a:xfrm>
            <a:off x="822960" y="4617720"/>
            <a:ext cx="36576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0" name="c4_what21"/>
          <p:cNvSpPr txBox="1"/>
          <p:nvPr/>
        </p:nvSpPr>
        <p:spPr>
          <a:xfrm>
            <a:off x="1234439" y="4617720"/>
            <a:ext cx="100584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Working groups </a:t>
            </a:r>
            <a:r>
              <a:rPr sz="2200">
                <a:solidFill>
                  <a:srgbClr val="8A8A8A"/>
                </a:solidFill>
              </a:rPr>
              <a:t>(main, plus breakout groups per feature or domain)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"/>
                            </p:stCondLst>
                            <p:childTnLst>
                              <p:par>
                                <p:cTn id="36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" grpId="5"/>
      <p:bldP build="whole" bldLvl="1" animBg="1" rev="0" advAuto="0" spid="40" grpId="8"/>
      <p:bldP build="whole" bldLvl="1" animBg="1" rev="0" advAuto="0" spid="33" grpId="1"/>
      <p:bldP build="whole" bldLvl="1" animBg="1" rev="0" advAuto="0" spid="38" grpId="6"/>
      <p:bldP build="whole" bldLvl="1" animBg="1" rev="0" advAuto="0" spid="36" grpId="4"/>
      <p:bldP build="whole" bldLvl="1" animBg="1" rev="0" advAuto="0" spid="35" grpId="3"/>
      <p:bldP build="whole" bldLvl="1" animBg="1" rev="0" advAuto="0" spid="39" grpId="7"/>
      <p:bldP build="whole" bldLvl="1" animBg="1" rev="0" advAuto="0" spid="34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x22"/>
          <p:cNvSpPr txBox="1"/>
          <p:nvPr/>
        </p:nvSpPr>
        <p:spPr>
          <a:xfrm>
            <a:off x="822959" y="750452"/>
            <a:ext cx="516636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Latest specification</a:t>
            </a:r>
          </a:p>
        </p:txBody>
      </p:sp>
      <p:sp>
        <p:nvSpPr>
          <p:cNvPr id="43" name="tx23"/>
          <p:cNvSpPr txBox="1"/>
          <p:nvPr/>
        </p:nvSpPr>
        <p:spPr>
          <a:xfrm>
            <a:off x="822959" y="1310569"/>
            <a:ext cx="51663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September 2026 edition</a:t>
            </a:r>
          </a:p>
        </p:txBody>
      </p:sp>
      <p:sp>
        <p:nvSpPr>
          <p:cNvPr id="44" name="spec24"/>
          <p:cNvSpPr txBox="1"/>
          <p:nvPr/>
        </p:nvSpPr>
        <p:spPr>
          <a:xfrm>
            <a:off x="822959" y="1920239"/>
            <a:ext cx="5166362" cy="2659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30200" indent="-330200">
              <a:spcBef>
                <a:spcPts val="1400"/>
              </a:spcBef>
              <a:buSzPct val="100000"/>
              <a:buChar char="•"/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Directives on directive definitions: deprecate a directive</a:t>
            </a:r>
          </a:p>
          <a:p>
            <a:pPr marL="330200" indent="-330200">
              <a:spcBef>
                <a:spcPts val="1400"/>
              </a:spcBef>
              <a:buSzPct val="100000"/>
              <a:buChar char="•"/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Empty selection sets allowed (client-only fields)</a:t>
            </a:r>
          </a:p>
          <a:p>
            <a:pPr marL="330200" indent="-330200">
              <a:spcBef>
                <a:spcPts val="1400"/>
              </a:spcBef>
              <a:buSzPct val="100000"/>
              <a:buChar char="•"/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OneOf input objects must be fillable</a:t>
            </a:r>
          </a:p>
          <a:p>
            <a:pPr marL="330200" indent="-330200">
              <a:spcBef>
                <a:spcPts val="1400"/>
              </a:spcBef>
              <a:buSzPct val="100000"/>
              <a:buChar char="•"/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Fragments defined for evolving data needs</a:t>
            </a:r>
          </a:p>
          <a:p>
            <a:pPr marL="330200" indent="-330200">
              <a:spcBef>
                <a:spcPts val="1400"/>
              </a:spcBef>
              <a:buSzPct val="100000"/>
              <a:buChar char="•"/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Clarifications: execution, response position</a:t>
            </a:r>
          </a:p>
        </p:txBody>
      </p:sp>
      <p:sp>
        <p:nvSpPr>
          <p:cNvPr id="45" name="c1_ln25"/>
          <p:cNvSpPr/>
          <p:nvPr/>
        </p:nvSpPr>
        <p:spPr>
          <a:xfrm>
            <a:off x="6099047" y="731519"/>
            <a:ext cx="92" cy="5303522"/>
          </a:xfrm>
          <a:prstGeom prst="line">
            <a:avLst/>
          </a:prstGeom>
          <a:ln w="1905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c1_tx26"/>
          <p:cNvSpPr txBox="1"/>
          <p:nvPr/>
        </p:nvSpPr>
        <p:spPr>
          <a:xfrm>
            <a:off x="6400799" y="750452"/>
            <a:ext cx="516636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over HTTP</a:t>
            </a:r>
          </a:p>
        </p:txBody>
      </p:sp>
      <p:sp>
        <p:nvSpPr>
          <p:cNvPr id="47" name="c1_tx27"/>
          <p:cNvSpPr txBox="1"/>
          <p:nvPr/>
        </p:nvSpPr>
        <p:spPr>
          <a:xfrm>
            <a:off x="6400799" y="1310569"/>
            <a:ext cx="51663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now a standard, alongside the 2026 edition</a:t>
            </a:r>
          </a:p>
        </p:txBody>
      </p:sp>
      <p:sp>
        <p:nvSpPr>
          <p:cNvPr id="48" name="c1_tx28"/>
          <p:cNvSpPr txBox="1"/>
          <p:nvPr/>
        </p:nvSpPr>
        <p:spPr>
          <a:xfrm>
            <a:off x="6400799" y="1920239"/>
            <a:ext cx="274322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" name="c1_http29"/>
          <p:cNvSpPr txBox="1"/>
          <p:nvPr/>
        </p:nvSpPr>
        <p:spPr>
          <a:xfrm>
            <a:off x="6729983" y="1920239"/>
            <a:ext cx="483717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Its own media type:</a:t>
            </a:r>
          </a:p>
          <a:p>
            <a:pPr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application/graphql-response+json</a:t>
            </a:r>
          </a:p>
        </p:txBody>
      </p:sp>
      <p:sp>
        <p:nvSpPr>
          <p:cNvPr id="50" name="c1_tx30"/>
          <p:cNvSpPr txBox="1"/>
          <p:nvPr/>
        </p:nvSpPr>
        <p:spPr>
          <a:xfrm>
            <a:off x="6400799" y="2852927"/>
            <a:ext cx="274322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1" name="c1_http31"/>
          <p:cNvSpPr txBox="1"/>
          <p:nvPr/>
        </p:nvSpPr>
        <p:spPr>
          <a:xfrm>
            <a:off x="6729983" y="2852928"/>
            <a:ext cx="4837177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294 Partial Success: data and errors</a:t>
            </a:r>
          </a:p>
        </p:txBody>
      </p:sp>
      <p:sp>
        <p:nvSpPr>
          <p:cNvPr id="52" name="c1_tx32"/>
          <p:cNvSpPr txBox="1"/>
          <p:nvPr/>
        </p:nvSpPr>
        <p:spPr>
          <a:xfrm>
            <a:off x="6400799" y="3474720"/>
            <a:ext cx="274322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3" name="c1_http33"/>
          <p:cNvSpPr txBox="1"/>
          <p:nvPr/>
        </p:nvSpPr>
        <p:spPr>
          <a:xfrm>
            <a:off x="6729983" y="3474720"/>
            <a:ext cx="4837177" cy="550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4xx or 5xx when there is no data (422 for an invalid query)</a:t>
            </a:r>
          </a:p>
        </p:txBody>
      </p:sp>
      <p:sp>
        <p:nvSpPr>
          <p:cNvPr id="54" name="c1_tx34"/>
          <p:cNvSpPr txBox="1"/>
          <p:nvPr/>
        </p:nvSpPr>
        <p:spPr>
          <a:xfrm>
            <a:off x="6400799" y="4407408"/>
            <a:ext cx="274322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5" name="c1_http35"/>
          <p:cNvSpPr txBox="1"/>
          <p:nvPr/>
        </p:nvSpPr>
        <p:spPr>
          <a:xfrm>
            <a:off x="6729983" y="4407408"/>
            <a:ext cx="4837177" cy="55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POST: always supported</a:t>
            </a:r>
          </a:p>
          <a:p>
            <a:pPr>
              <a:defRPr sz="1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GET: optional, queries only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" grpId="2"/>
      <p:bldP build="whole" bldLvl="1" animBg="1" rev="0" advAuto="0" spid="53" grpId="9"/>
      <p:bldP build="whole" bldLvl="1" animBg="1" rev="0" advAuto="0" spid="45" grpId="1"/>
      <p:bldP build="whole" bldLvl="1" animBg="1" rev="0" advAuto="0" spid="54" grpId="10"/>
      <p:bldP build="whole" bldLvl="1" animBg="1" rev="0" advAuto="0" spid="55" grpId="11"/>
      <p:bldP build="whole" bldLvl="1" animBg="1" rev="0" advAuto="0" spid="51" grpId="7"/>
      <p:bldP build="whole" bldLvl="1" animBg="1" rev="0" advAuto="0" spid="47" grpId="3"/>
      <p:bldP build="whole" bldLvl="1" animBg="1" rev="0" advAuto="0" spid="49" grpId="5"/>
      <p:bldP build="whole" bldLvl="1" animBg="1" rev="0" advAuto="0" spid="52" grpId="8"/>
      <p:bldP build="whole" bldLvl="1" animBg="1" rev="0" advAuto="0" spid="48" grpId="4"/>
      <p:bldP build="whole" bldLvl="1" animBg="1" rev="0" advAuto="0" spid="50" grpId="6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x36"/>
          <p:cNvSpPr txBox="1"/>
          <p:nvPr/>
        </p:nvSpPr>
        <p:spPr>
          <a:xfrm>
            <a:off x="822960" y="636959"/>
            <a:ext cx="1051560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What's next for GraphQL</a:t>
            </a:r>
          </a:p>
        </p:txBody>
      </p:sp>
      <p:sp>
        <p:nvSpPr>
          <p:cNvPr id="58" name="tx37"/>
          <p:cNvSpPr txBox="1"/>
          <p:nvPr/>
        </p:nvSpPr>
        <p:spPr>
          <a:xfrm>
            <a:off x="822960" y="1657350"/>
            <a:ext cx="3657601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onError</a:t>
            </a:r>
          </a:p>
        </p:txBody>
      </p:sp>
      <p:sp>
        <p:nvSpPr>
          <p:cNvPr id="59" name="tx38"/>
          <p:cNvSpPr txBox="1"/>
          <p:nvPr/>
        </p:nvSpPr>
        <p:spPr>
          <a:xfrm>
            <a:off x="822959" y="2083583"/>
            <a:ext cx="749808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client chooses: NULL, PROPAGATE or HALT</a:t>
            </a:r>
          </a:p>
        </p:txBody>
      </p:sp>
      <p:sp>
        <p:nvSpPr>
          <p:cNvPr id="60" name="stage39"/>
          <p:cNvSpPr/>
          <p:nvPr/>
        </p:nvSpPr>
        <p:spPr>
          <a:xfrm>
            <a:off x="8686800" y="1709927"/>
            <a:ext cx="2651761" cy="420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x40"/>
          <p:cNvSpPr txBox="1"/>
          <p:nvPr/>
        </p:nvSpPr>
        <p:spPr>
          <a:xfrm>
            <a:off x="8686799" y="1827690"/>
            <a:ext cx="26517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RFC 1 · Proposal</a:t>
            </a:r>
          </a:p>
        </p:txBody>
      </p:sp>
      <p:sp>
        <p:nvSpPr>
          <p:cNvPr id="62" name="tx41"/>
          <p:cNvSpPr txBox="1"/>
          <p:nvPr/>
        </p:nvSpPr>
        <p:spPr>
          <a:xfrm>
            <a:off x="822960" y="2552097"/>
            <a:ext cx="365760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@defer and @stream</a:t>
            </a:r>
          </a:p>
        </p:txBody>
      </p:sp>
      <p:sp>
        <p:nvSpPr>
          <p:cNvPr id="63" name="tx42"/>
          <p:cNvSpPr txBox="1"/>
          <p:nvPr/>
        </p:nvSpPr>
        <p:spPr>
          <a:xfrm>
            <a:off x="822959" y="2979695"/>
            <a:ext cx="749808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slow parts of a response arrive later</a:t>
            </a:r>
          </a:p>
        </p:txBody>
      </p:sp>
      <p:sp>
        <p:nvSpPr>
          <p:cNvPr id="64" name="stage43"/>
          <p:cNvSpPr/>
          <p:nvPr/>
        </p:nvSpPr>
        <p:spPr>
          <a:xfrm>
            <a:off x="8686800" y="2606039"/>
            <a:ext cx="2651761" cy="420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x44"/>
          <p:cNvSpPr txBox="1"/>
          <p:nvPr/>
        </p:nvSpPr>
        <p:spPr>
          <a:xfrm>
            <a:off x="8686799" y="2723802"/>
            <a:ext cx="26517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RFC 2 · Draft</a:t>
            </a:r>
          </a:p>
        </p:txBody>
      </p:sp>
      <p:sp>
        <p:nvSpPr>
          <p:cNvPr id="66" name="tx45"/>
          <p:cNvSpPr txBox="1"/>
          <p:nvPr/>
        </p:nvSpPr>
        <p:spPr>
          <a:xfrm>
            <a:off x="822960" y="3448209"/>
            <a:ext cx="365760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Fragment arguments</a:t>
            </a:r>
          </a:p>
        </p:txBody>
      </p:sp>
      <p:sp>
        <p:nvSpPr>
          <p:cNvPr id="67" name="tx46"/>
          <p:cNvSpPr txBox="1"/>
          <p:nvPr/>
        </p:nvSpPr>
        <p:spPr>
          <a:xfrm>
            <a:off x="822959" y="3875807"/>
            <a:ext cx="749808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variables on fragments</a:t>
            </a:r>
          </a:p>
        </p:txBody>
      </p:sp>
      <p:sp>
        <p:nvSpPr>
          <p:cNvPr id="68" name="stage47"/>
          <p:cNvSpPr/>
          <p:nvPr/>
        </p:nvSpPr>
        <p:spPr>
          <a:xfrm>
            <a:off x="8686800" y="3502152"/>
            <a:ext cx="2651761" cy="420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x48"/>
          <p:cNvSpPr txBox="1"/>
          <p:nvPr/>
        </p:nvSpPr>
        <p:spPr>
          <a:xfrm>
            <a:off x="8686799" y="3619914"/>
            <a:ext cx="26517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RFC 2 · Draft</a:t>
            </a:r>
          </a:p>
        </p:txBody>
      </p:sp>
      <p:sp>
        <p:nvSpPr>
          <p:cNvPr id="70" name="tx49"/>
          <p:cNvSpPr txBox="1"/>
          <p:nvPr/>
        </p:nvSpPr>
        <p:spPr>
          <a:xfrm>
            <a:off x="822960" y="4344321"/>
            <a:ext cx="365760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Composite schemas</a:t>
            </a:r>
          </a:p>
        </p:txBody>
      </p:sp>
      <p:sp>
        <p:nvSpPr>
          <p:cNvPr id="71" name="tx50"/>
          <p:cNvSpPr txBox="1"/>
          <p:nvPr/>
        </p:nvSpPr>
        <p:spPr>
          <a:xfrm>
            <a:off x="822959" y="4771919"/>
            <a:ext cx="749808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schema from many services, vendor-neutral</a:t>
            </a:r>
          </a:p>
        </p:txBody>
      </p:sp>
      <p:sp>
        <p:nvSpPr>
          <p:cNvPr id="72" name="stage51"/>
          <p:cNvSpPr/>
          <p:nvPr/>
        </p:nvSpPr>
        <p:spPr>
          <a:xfrm>
            <a:off x="8686800" y="4398264"/>
            <a:ext cx="2651761" cy="420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x52"/>
          <p:cNvSpPr txBox="1"/>
          <p:nvPr/>
        </p:nvSpPr>
        <p:spPr>
          <a:xfrm>
            <a:off x="8686799" y="4516026"/>
            <a:ext cx="26517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own spec · in progress</a:t>
            </a:r>
          </a:p>
        </p:txBody>
      </p:sp>
      <p:sp>
        <p:nvSpPr>
          <p:cNvPr id="74" name="tx53"/>
          <p:cNvSpPr txBox="1"/>
          <p:nvPr/>
        </p:nvSpPr>
        <p:spPr>
          <a:xfrm>
            <a:off x="822960" y="5240433"/>
            <a:ext cx="365760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Working Group</a:t>
            </a:r>
          </a:p>
        </p:txBody>
      </p:sp>
      <p:sp>
        <p:nvSpPr>
          <p:cNvPr id="75" name="tx54"/>
          <p:cNvSpPr txBox="1"/>
          <p:nvPr/>
        </p:nvSpPr>
        <p:spPr>
          <a:xfrm>
            <a:off x="822959" y="5668032"/>
            <a:ext cx="749808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for agents</a:t>
            </a:r>
          </a:p>
        </p:txBody>
      </p:sp>
      <p:sp>
        <p:nvSpPr>
          <p:cNvPr id="76" name="stage55"/>
          <p:cNvSpPr/>
          <p:nvPr/>
        </p:nvSpPr>
        <p:spPr>
          <a:xfrm>
            <a:off x="8686800" y="5294376"/>
            <a:ext cx="2651761" cy="420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x56"/>
          <p:cNvSpPr txBox="1"/>
          <p:nvPr/>
        </p:nvSpPr>
        <p:spPr>
          <a:xfrm>
            <a:off x="8686799" y="5412138"/>
            <a:ext cx="26517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working group</a:t>
            </a:r>
          </a:p>
        </p:txBody>
      </p:sp>
      <p:sp>
        <p:nvSpPr>
          <p:cNvPr id="78" name="tx57"/>
          <p:cNvSpPr txBox="1"/>
          <p:nvPr/>
        </p:nvSpPr>
        <p:spPr>
          <a:xfrm>
            <a:off x="822960" y="6258305"/>
            <a:ext cx="105156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Stages from rfcs.graphql.org, 28 September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x58"/>
          <p:cNvSpPr txBox="1"/>
          <p:nvPr/>
        </p:nvSpPr>
        <p:spPr>
          <a:xfrm>
            <a:off x="457199" y="2952561"/>
            <a:ext cx="11277297" cy="678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will APIs look in the future?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23442" y="365759"/>
            <a:ext cx="6944812" cy="5486401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0"/>
          <p:cNvSpPr txBox="1"/>
          <p:nvPr/>
        </p:nvSpPr>
        <p:spPr>
          <a:xfrm>
            <a:off x="-1" y="6121145"/>
            <a:ext cx="1219169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ea typeface="Arial"/>
                <a:cs typeface="Arial"/>
                <a:sym typeface="Arial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8A8A8A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static.tvtropes.org/pmwiki/pub/images/star_trek_logo_7.png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x59"/>
          <p:cNvSpPr txBox="1"/>
          <p:nvPr/>
        </p:nvSpPr>
        <p:spPr>
          <a:xfrm>
            <a:off x="822960" y="697480"/>
            <a:ext cx="10515601" cy="61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Inspired by Star Trek</a:t>
            </a:r>
          </a:p>
        </p:txBody>
      </p:sp>
      <p:sp>
        <p:nvSpPr>
          <p:cNvPr id="86" name="inventions60"/>
          <p:cNvSpPr txBox="1"/>
          <p:nvPr/>
        </p:nvSpPr>
        <p:spPr>
          <a:xfrm>
            <a:off x="822960" y="1600200"/>
            <a:ext cx="10515601" cy="402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Automatic sliding doors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Mobile and flip phones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Tablets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Bluetooth earpieces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Video calls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Real-time translation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Handheld medical scanners</a:t>
            </a:r>
          </a:p>
          <a:p>
            <a:pPr marL="330200" indent="-330200">
              <a:spcBef>
                <a:spcPts val="1000"/>
              </a:spcBef>
              <a:buSzPct val="100000"/>
              <a:buChar char="•"/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Voice assistants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kirk61" descr="kirk6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4272" y="1143000"/>
            <a:ext cx="3621024" cy="4023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picard62" descr="picard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85336" y="1143000"/>
            <a:ext cx="3621025" cy="4023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janeway63" descr="janeway6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26400" y="1143000"/>
            <a:ext cx="3621025" cy="402336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0"/>
          <p:cNvSpPr txBox="1"/>
          <p:nvPr/>
        </p:nvSpPr>
        <p:spPr>
          <a:xfrm>
            <a:off x="-1" y="5572505"/>
            <a:ext cx="12191697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Images: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futurecdn.net</a:t>
            </a:r>
            <a:r>
              <a:t> ·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6" invalidUrl="" action="" tgtFrame="" tooltip="" history="1" highlightClick="0" endSnd="0"/>
              </a:rPr>
              <a:t>gstatic.com</a:t>
            </a:r>
            <a:r>
              <a:t> ·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7" invalidUrl="" action="" tgtFrame="" tooltip="" history="1" highlightClick="0" endSnd="0"/>
              </a:rPr>
              <a:t>Memory Alpha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db64"/>
          <p:cNvGrpSpPr/>
          <p:nvPr/>
        </p:nvGrpSpPr>
        <p:grpSpPr>
          <a:xfrm>
            <a:off x="9509758" y="2148839"/>
            <a:ext cx="1005842" cy="1280161"/>
            <a:chOff x="-1" y="0"/>
            <a:chExt cx="1005841" cy="1280160"/>
          </a:xfrm>
        </p:grpSpPr>
        <p:sp>
          <p:nvSpPr>
            <p:cNvPr id="93" name="Shape"/>
            <p:cNvSpPr/>
            <p:nvPr/>
          </p:nvSpPr>
          <p:spPr>
            <a:xfrm>
              <a:off x="-2" y="-1"/>
              <a:ext cx="1005843" cy="128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21"/>
                  </a:moveTo>
                  <a:cubicBezTo>
                    <a:pt x="0" y="950"/>
                    <a:pt x="4835" y="0"/>
                    <a:pt x="10800" y="0"/>
                  </a:cubicBezTo>
                  <a:cubicBezTo>
                    <a:pt x="16765" y="0"/>
                    <a:pt x="21600" y="950"/>
                    <a:pt x="21600" y="2121"/>
                  </a:cubicBezTo>
                  <a:lnTo>
                    <a:pt x="21600" y="19479"/>
                  </a:lnTo>
                  <a:cubicBezTo>
                    <a:pt x="21600" y="20650"/>
                    <a:pt x="16765" y="21600"/>
                    <a:pt x="10800" y="21600"/>
                  </a:cubicBezTo>
                  <a:cubicBezTo>
                    <a:pt x="4835" y="21600"/>
                    <a:pt x="0" y="20650"/>
                    <a:pt x="0" y="1947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" name="Oval"/>
            <p:cNvSpPr/>
            <p:nvPr/>
          </p:nvSpPr>
          <p:spPr>
            <a:xfrm>
              <a:off x="-1" y="-1"/>
              <a:ext cx="1005842" cy="25146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" name="Line"/>
            <p:cNvSpPr/>
            <p:nvPr/>
          </p:nvSpPr>
          <p:spPr>
            <a:xfrm>
              <a:off x="-2" y="-1"/>
              <a:ext cx="1005841" cy="128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21"/>
                  </a:moveTo>
                  <a:cubicBezTo>
                    <a:pt x="21600" y="3293"/>
                    <a:pt x="16765" y="4243"/>
                    <a:pt x="10800" y="4243"/>
                  </a:cubicBezTo>
                  <a:cubicBezTo>
                    <a:pt x="4835" y="4243"/>
                    <a:pt x="0" y="3293"/>
                    <a:pt x="0" y="2121"/>
                  </a:cubicBezTo>
                  <a:cubicBezTo>
                    <a:pt x="0" y="950"/>
                    <a:pt x="4835" y="0"/>
                    <a:pt x="10800" y="0"/>
                  </a:cubicBezTo>
                  <a:cubicBezTo>
                    <a:pt x="16765" y="0"/>
                    <a:pt x="21600" y="950"/>
                    <a:pt x="21600" y="2121"/>
                  </a:cubicBezTo>
                  <a:lnTo>
                    <a:pt x="21600" y="19479"/>
                  </a:lnTo>
                  <a:cubicBezTo>
                    <a:pt x="21600" y="20650"/>
                    <a:pt x="16765" y="21600"/>
                    <a:pt x="10800" y="21600"/>
                  </a:cubicBezTo>
                  <a:cubicBezTo>
                    <a:pt x="4835" y="21600"/>
                    <a:pt x="0" y="20650"/>
                    <a:pt x="0" y="19479"/>
                  </a:cubicBezTo>
                  <a:lnTo>
                    <a:pt x="0" y="2121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0" name="db65"/>
          <p:cNvGrpSpPr/>
          <p:nvPr/>
        </p:nvGrpSpPr>
        <p:grpSpPr>
          <a:xfrm>
            <a:off x="10286998" y="2606039"/>
            <a:ext cx="1005843" cy="1280161"/>
            <a:chOff x="-1" y="0"/>
            <a:chExt cx="1005841" cy="1280160"/>
          </a:xfrm>
        </p:grpSpPr>
        <p:sp>
          <p:nvSpPr>
            <p:cNvPr id="97" name="Shape"/>
            <p:cNvSpPr/>
            <p:nvPr/>
          </p:nvSpPr>
          <p:spPr>
            <a:xfrm>
              <a:off x="-2" y="-1"/>
              <a:ext cx="1005843" cy="128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21"/>
                  </a:moveTo>
                  <a:cubicBezTo>
                    <a:pt x="0" y="950"/>
                    <a:pt x="4835" y="0"/>
                    <a:pt x="10800" y="0"/>
                  </a:cubicBezTo>
                  <a:cubicBezTo>
                    <a:pt x="16765" y="0"/>
                    <a:pt x="21600" y="950"/>
                    <a:pt x="21600" y="2121"/>
                  </a:cubicBezTo>
                  <a:lnTo>
                    <a:pt x="21600" y="19479"/>
                  </a:lnTo>
                  <a:cubicBezTo>
                    <a:pt x="21600" y="20650"/>
                    <a:pt x="16765" y="21600"/>
                    <a:pt x="10800" y="21600"/>
                  </a:cubicBezTo>
                  <a:cubicBezTo>
                    <a:pt x="4835" y="21600"/>
                    <a:pt x="0" y="20650"/>
                    <a:pt x="0" y="1947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" name="Oval"/>
            <p:cNvSpPr/>
            <p:nvPr/>
          </p:nvSpPr>
          <p:spPr>
            <a:xfrm>
              <a:off x="-1" y="-1"/>
              <a:ext cx="1005842" cy="25146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" name="Line"/>
            <p:cNvSpPr/>
            <p:nvPr/>
          </p:nvSpPr>
          <p:spPr>
            <a:xfrm>
              <a:off x="-2" y="-1"/>
              <a:ext cx="1005841" cy="1280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21"/>
                  </a:moveTo>
                  <a:cubicBezTo>
                    <a:pt x="21600" y="3293"/>
                    <a:pt x="16765" y="4243"/>
                    <a:pt x="10800" y="4243"/>
                  </a:cubicBezTo>
                  <a:cubicBezTo>
                    <a:pt x="4835" y="4243"/>
                    <a:pt x="0" y="3293"/>
                    <a:pt x="0" y="2121"/>
                  </a:cubicBezTo>
                  <a:cubicBezTo>
                    <a:pt x="0" y="950"/>
                    <a:pt x="4835" y="0"/>
                    <a:pt x="10800" y="0"/>
                  </a:cubicBezTo>
                  <a:cubicBezTo>
                    <a:pt x="16765" y="0"/>
                    <a:pt x="21600" y="950"/>
                    <a:pt x="21600" y="2121"/>
                  </a:cubicBezTo>
                  <a:lnTo>
                    <a:pt x="21600" y="19479"/>
                  </a:lnTo>
                  <a:cubicBezTo>
                    <a:pt x="21600" y="20650"/>
                    <a:pt x="16765" y="21600"/>
                    <a:pt x="10800" y="21600"/>
                  </a:cubicBezTo>
                  <a:cubicBezTo>
                    <a:pt x="4835" y="21600"/>
                    <a:pt x="0" y="20650"/>
                    <a:pt x="0" y="19479"/>
                  </a:cubicBezTo>
                  <a:lnTo>
                    <a:pt x="0" y="2121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1" name="tx66"/>
          <p:cNvSpPr txBox="1"/>
          <p:nvPr/>
        </p:nvSpPr>
        <p:spPr>
          <a:xfrm>
            <a:off x="8869680" y="4163843"/>
            <a:ext cx="301752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data &amp; processes</a:t>
            </a:r>
          </a:p>
        </p:txBody>
      </p:sp>
      <p:sp>
        <p:nvSpPr>
          <p:cNvPr id="102" name="c1_ov67"/>
          <p:cNvSpPr/>
          <p:nvPr/>
        </p:nvSpPr>
        <p:spPr>
          <a:xfrm>
            <a:off x="932688" y="841247"/>
            <a:ext cx="420625" cy="420625"/>
          </a:xfrm>
          <a:prstGeom prst="ellips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c1_ln68"/>
          <p:cNvSpPr/>
          <p:nvPr/>
        </p:nvSpPr>
        <p:spPr>
          <a:xfrm>
            <a:off x="1143000" y="1261872"/>
            <a:ext cx="92" cy="566929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c1_ln69"/>
          <p:cNvSpPr/>
          <p:nvPr/>
        </p:nvSpPr>
        <p:spPr>
          <a:xfrm>
            <a:off x="813816" y="1481327"/>
            <a:ext cx="658369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c1_ln70"/>
          <p:cNvSpPr/>
          <p:nvPr/>
        </p:nvSpPr>
        <p:spPr>
          <a:xfrm flipH="1">
            <a:off x="886967" y="1828799"/>
            <a:ext cx="256033" cy="5029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c1_ln71"/>
          <p:cNvSpPr/>
          <p:nvPr/>
        </p:nvSpPr>
        <p:spPr>
          <a:xfrm>
            <a:off x="1143000" y="1828799"/>
            <a:ext cx="256033" cy="5029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c1_ov72"/>
          <p:cNvSpPr/>
          <p:nvPr/>
        </p:nvSpPr>
        <p:spPr>
          <a:xfrm>
            <a:off x="1801367" y="704087"/>
            <a:ext cx="420625" cy="420625"/>
          </a:xfrm>
          <a:prstGeom prst="ellips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c1_ln73"/>
          <p:cNvSpPr/>
          <p:nvPr/>
        </p:nvSpPr>
        <p:spPr>
          <a:xfrm>
            <a:off x="2011679" y="1124711"/>
            <a:ext cx="92" cy="566929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c1_ln74"/>
          <p:cNvSpPr/>
          <p:nvPr/>
        </p:nvSpPr>
        <p:spPr>
          <a:xfrm>
            <a:off x="1682495" y="1344167"/>
            <a:ext cx="658369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c1_ln75"/>
          <p:cNvSpPr/>
          <p:nvPr/>
        </p:nvSpPr>
        <p:spPr>
          <a:xfrm flipH="1">
            <a:off x="1755648" y="1691639"/>
            <a:ext cx="256033" cy="502920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c1_ln76"/>
          <p:cNvSpPr/>
          <p:nvPr/>
        </p:nvSpPr>
        <p:spPr>
          <a:xfrm>
            <a:off x="2011679" y="1691639"/>
            <a:ext cx="256033" cy="502920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c1_ov77"/>
          <p:cNvSpPr/>
          <p:nvPr/>
        </p:nvSpPr>
        <p:spPr>
          <a:xfrm>
            <a:off x="2670048" y="841247"/>
            <a:ext cx="420625" cy="420625"/>
          </a:xfrm>
          <a:prstGeom prst="ellips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c1_ln78"/>
          <p:cNvSpPr/>
          <p:nvPr/>
        </p:nvSpPr>
        <p:spPr>
          <a:xfrm>
            <a:off x="2880360" y="1261872"/>
            <a:ext cx="92" cy="566929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c1_ln79"/>
          <p:cNvSpPr/>
          <p:nvPr/>
        </p:nvSpPr>
        <p:spPr>
          <a:xfrm>
            <a:off x="2551176" y="1481327"/>
            <a:ext cx="658369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c1_ln80"/>
          <p:cNvSpPr/>
          <p:nvPr/>
        </p:nvSpPr>
        <p:spPr>
          <a:xfrm flipH="1">
            <a:off x="2624327" y="1828799"/>
            <a:ext cx="256033" cy="5029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c1_ln81"/>
          <p:cNvSpPr/>
          <p:nvPr/>
        </p:nvSpPr>
        <p:spPr>
          <a:xfrm>
            <a:off x="2880360" y="1828799"/>
            <a:ext cx="256033" cy="5029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c1x3_ln82"/>
          <p:cNvSpPr/>
          <p:nvPr/>
        </p:nvSpPr>
        <p:spPr>
          <a:xfrm>
            <a:off x="3566159" y="1737360"/>
            <a:ext cx="5669281" cy="86868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c1x3_tx83"/>
          <p:cNvSpPr txBox="1"/>
          <p:nvPr/>
        </p:nvSpPr>
        <p:spPr>
          <a:xfrm>
            <a:off x="4937759" y="1595464"/>
            <a:ext cx="2743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REST / SOAP</a:t>
            </a:r>
          </a:p>
        </p:txBody>
      </p:sp>
      <p:sp>
        <p:nvSpPr>
          <p:cNvPr id="119" name="c2_ln84"/>
          <p:cNvSpPr/>
          <p:nvPr/>
        </p:nvSpPr>
        <p:spPr>
          <a:xfrm>
            <a:off x="1874520" y="4069079"/>
            <a:ext cx="92" cy="16459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c2_ov85"/>
          <p:cNvSpPr/>
          <p:nvPr/>
        </p:nvSpPr>
        <p:spPr>
          <a:xfrm>
            <a:off x="1828799" y="4023359"/>
            <a:ext cx="91442" cy="91441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c2_rc86"/>
          <p:cNvSpPr/>
          <p:nvPr/>
        </p:nvSpPr>
        <p:spPr>
          <a:xfrm>
            <a:off x="1600199" y="4233671"/>
            <a:ext cx="548642" cy="411481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c2_ov87"/>
          <p:cNvSpPr/>
          <p:nvPr/>
        </p:nvSpPr>
        <p:spPr>
          <a:xfrm>
            <a:off x="1719072" y="4379976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c2_ov88"/>
          <p:cNvSpPr/>
          <p:nvPr/>
        </p:nvSpPr>
        <p:spPr>
          <a:xfrm>
            <a:off x="1956816" y="4379976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c2_ln89"/>
          <p:cNvSpPr/>
          <p:nvPr/>
        </p:nvSpPr>
        <p:spPr>
          <a:xfrm>
            <a:off x="1764792" y="4544567"/>
            <a:ext cx="219457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c2_rc90"/>
          <p:cNvSpPr/>
          <p:nvPr/>
        </p:nvSpPr>
        <p:spPr>
          <a:xfrm>
            <a:off x="1545336" y="4709159"/>
            <a:ext cx="658369" cy="56692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c2_ln91"/>
          <p:cNvSpPr/>
          <p:nvPr/>
        </p:nvSpPr>
        <p:spPr>
          <a:xfrm flipH="1">
            <a:off x="1307592" y="4818888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c2_ln92"/>
          <p:cNvSpPr/>
          <p:nvPr/>
        </p:nvSpPr>
        <p:spPr>
          <a:xfrm>
            <a:off x="2203704" y="4818888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c2_ln93"/>
          <p:cNvSpPr/>
          <p:nvPr/>
        </p:nvSpPr>
        <p:spPr>
          <a:xfrm>
            <a:off x="1709927" y="5276088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c2_ln94"/>
          <p:cNvSpPr/>
          <p:nvPr/>
        </p:nvSpPr>
        <p:spPr>
          <a:xfrm>
            <a:off x="2039111" y="5276088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c3_ln95"/>
          <p:cNvSpPr/>
          <p:nvPr/>
        </p:nvSpPr>
        <p:spPr>
          <a:xfrm flipH="1">
            <a:off x="1874520" y="2606039"/>
            <a:ext cx="137161" cy="128016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c2_ln96"/>
          <p:cNvSpPr/>
          <p:nvPr/>
        </p:nvSpPr>
        <p:spPr>
          <a:xfrm flipV="1">
            <a:off x="2743199" y="3428999"/>
            <a:ext cx="6492242" cy="1417321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c2_tx97"/>
          <p:cNvSpPr txBox="1"/>
          <p:nvPr/>
        </p:nvSpPr>
        <p:spPr>
          <a:xfrm>
            <a:off x="5669279" y="3855578"/>
            <a:ext cx="9144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5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5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9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25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60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"/>
                            </p:stCondLst>
                            <p:childTnLst>
                              <p:par>
                                <p:cTn id="78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3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"/>
                            </p:stCondLst>
                            <p:childTnLst>
                              <p:par>
                                <p:cTn id="82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3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50"/>
                            </p:stCondLst>
                            <p:childTnLst>
                              <p:par>
                                <p:cTn id="86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3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3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750"/>
                            </p:stCondLst>
                            <p:childTnLst>
                              <p:par>
                                <p:cTn id="94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3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100"/>
                            </p:stCondLst>
                            <p:childTnLst>
                              <p:par>
                                <p:cTn id="98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3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450"/>
                            </p:stCondLst>
                            <p:childTnLst>
                              <p:par>
                                <p:cTn id="102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4" dur="3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800"/>
                            </p:stCondLst>
                            <p:childTnLst>
                              <p:par>
                                <p:cTn id="106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3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50"/>
                            </p:stCondLst>
                            <p:childTnLst>
                              <p:par>
                                <p:cTn id="110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3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6" dur="3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850"/>
                            </p:stCondLst>
                            <p:childTnLst>
                              <p:par>
                                <p:cTn id="118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0" dur="3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4200"/>
                            </p:stCondLst>
                            <p:childTnLst>
                              <p:par>
                                <p:cTn id="122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4" dur="3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Class="exit" nodeType="click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28" dur="300" fill="hold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"/>
                            </p:stCondLst>
                            <p:childTnLst>
                              <p:par>
                                <p:cTn id="131" presetClass="exit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32" dur="300" fill="hold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"/>
                            </p:stCondLst>
                            <p:childTnLst>
                              <p:par>
                                <p:cTn id="135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7" dur="3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8" grpId="7"/>
      <p:bldP build="whole" bldLvl="1" animBg="1" rev="0" advAuto="0" spid="109" grpId="8"/>
      <p:bldP build="whole" bldLvl="1" animBg="1" rev="0" advAuto="0" spid="114" grpId="13"/>
      <p:bldP build="whole" bldLvl="1" animBg="1" rev="0" advAuto="0" spid="128" grpId="27"/>
      <p:bldP build="whole" bldLvl="1" animBg="1" rev="0" advAuto="0" spid="131" grpId="29"/>
      <p:bldP build="whole" bldLvl="1" animBg="1" rev="0" advAuto="0" spid="129" grpId="28"/>
      <p:bldP build="whole" bldLvl="1" animBg="1" rev="0" advAuto="0" spid="121" grpId="20"/>
      <p:bldP build="whole" bldLvl="1" animBg="1" rev="0" advAuto="0" spid="132" grpId="30"/>
      <p:bldP build="whole" bldLvl="1" animBg="1" rev="0" advAuto="0" spid="124" grpId="23"/>
      <p:bldP build="whole" bldLvl="1" animBg="1" rev="0" advAuto="0" spid="116" grpId="15"/>
      <p:bldP build="whole" bldLvl="1" animBg="1" rev="0" advAuto="0" spid="123" grpId="22"/>
      <p:bldP build="whole" bldLvl="1" animBg="1" rev="0" advAuto="0" spid="106" grpId="5"/>
      <p:bldP build="whole" bldLvl="1" animBg="1" rev="0" advAuto="0" spid="122" grpId="21"/>
      <p:bldP build="whole" bldLvl="1" animBg="1" rev="0" advAuto="0" spid="117" grpId="16"/>
      <p:bldP build="whole" bldLvl="1" animBg="1" rev="0" advAuto="0" spid="118" grpId="17"/>
      <p:bldP build="whole" bldLvl="1" animBg="1" rev="0" advAuto="0" spid="125" grpId="24"/>
      <p:bldP build="whole" bldLvl="1" animBg="1" rev="0" advAuto="0" spid="120" grpId="19"/>
      <p:bldP build="whole" bldLvl="1" animBg="1" rev="0" advAuto="0" spid="103" grpId="2"/>
      <p:bldP build="whole" bldLvl="1" animBg="1" rev="0" advAuto="0" spid="113" grpId="12"/>
      <p:bldP build="whole" bldLvl="1" animBg="1" rev="0" advAuto="0" spid="110" grpId="9"/>
      <p:bldP build="whole" bldLvl="1" animBg="1" rev="0" advAuto="0" spid="111" grpId="10"/>
      <p:bldP build="whole" bldLvl="1" animBg="1" rev="0" advAuto="0" spid="118" grpId="32"/>
      <p:bldP build="whole" bldLvl="1" animBg="1" rev="0" advAuto="0" spid="102" grpId="1"/>
      <p:bldP build="whole" bldLvl="1" animBg="1" rev="0" advAuto="0" spid="126" grpId="25"/>
      <p:bldP build="whole" bldLvl="1" animBg="1" rev="0" advAuto="0" spid="119" grpId="18"/>
      <p:bldP build="whole" bldLvl="1" animBg="1" rev="0" advAuto="0" spid="117" grpId="31"/>
      <p:bldP build="whole" bldLvl="1" animBg="1" rev="0" advAuto="0" spid="107" grpId="6"/>
      <p:bldP build="whole" bldLvl="1" animBg="1" rev="0" advAuto="0" spid="105" grpId="4"/>
      <p:bldP build="whole" bldLvl="1" animBg="1" rev="0" advAuto="0" spid="112" grpId="11"/>
      <p:bldP build="whole" bldLvl="1" animBg="1" rev="0" advAuto="0" spid="130" grpId="33"/>
      <p:bldP build="whole" bldLvl="1" animBg="1" rev="0" advAuto="0" spid="127" grpId="26"/>
      <p:bldP build="whole" bldLvl="1" animBg="1" rev="0" advAuto="0" spid="104" grpId="3"/>
      <p:bldP build="whole" bldLvl="1" animBg="1" rev="0" advAuto="0" spid="115" grpId="14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2347" y="502919"/>
            <a:ext cx="7807000" cy="5349242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0"/>
          <p:cNvSpPr txBox="1"/>
          <p:nvPr/>
        </p:nvSpPr>
        <p:spPr>
          <a:xfrm>
            <a:off x="-1" y="6121145"/>
            <a:ext cx="1219169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ea typeface="Arial"/>
                <a:cs typeface="Arial"/>
                <a:sym typeface="Arial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8A8A8A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https://pbs.twimg.com/media/DFMspoGVwAAl-Zz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c98"/>
          <p:cNvSpPr/>
          <p:nvPr/>
        </p:nvSpPr>
        <p:spPr>
          <a:xfrm>
            <a:off x="9372600" y="914400"/>
            <a:ext cx="2514600" cy="475488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x99"/>
          <p:cNvSpPr txBox="1"/>
          <p:nvPr/>
        </p:nvSpPr>
        <p:spPr>
          <a:xfrm>
            <a:off x="9372600" y="1152466"/>
            <a:ext cx="251460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data &amp; processes</a:t>
            </a:r>
          </a:p>
        </p:txBody>
      </p:sp>
      <p:grpSp>
        <p:nvGrpSpPr>
          <p:cNvPr id="142" name="db100"/>
          <p:cNvGrpSpPr/>
          <p:nvPr/>
        </p:nvGrpSpPr>
        <p:grpSpPr>
          <a:xfrm>
            <a:off x="9692640" y="1783079"/>
            <a:ext cx="914401" cy="1143001"/>
            <a:chOff x="0" y="0"/>
            <a:chExt cx="914400" cy="1143000"/>
          </a:xfrm>
        </p:grpSpPr>
        <p:sp>
          <p:nvSpPr>
            <p:cNvPr id="139" name="Shap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"/>
                  </a:move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0" name="Oval"/>
            <p:cNvSpPr/>
            <p:nvPr/>
          </p:nvSpPr>
          <p:spPr>
            <a:xfrm>
              <a:off x="0" y="-1"/>
              <a:ext cx="914400" cy="22860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1" name="Lin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"/>
                  </a:moveTo>
                  <a:cubicBezTo>
                    <a:pt x="21600" y="3353"/>
                    <a:pt x="16765" y="4320"/>
                    <a:pt x="10800" y="4320"/>
                  </a:cubicBezTo>
                  <a:cubicBezTo>
                    <a:pt x="4835" y="4320"/>
                    <a:pt x="0" y="3353"/>
                    <a:pt x="0" y="2160"/>
                  </a:cubicBez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lnTo>
                    <a:pt x="0" y="2160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46" name="db101"/>
          <p:cNvGrpSpPr/>
          <p:nvPr/>
        </p:nvGrpSpPr>
        <p:grpSpPr>
          <a:xfrm>
            <a:off x="10652759" y="2103120"/>
            <a:ext cx="914401" cy="1143001"/>
            <a:chOff x="0" y="0"/>
            <a:chExt cx="914400" cy="1143000"/>
          </a:xfrm>
        </p:grpSpPr>
        <p:sp>
          <p:nvSpPr>
            <p:cNvPr id="143" name="Shap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"/>
                  </a:move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Oval"/>
            <p:cNvSpPr/>
            <p:nvPr/>
          </p:nvSpPr>
          <p:spPr>
            <a:xfrm>
              <a:off x="0" y="-1"/>
              <a:ext cx="914400" cy="22860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Lin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"/>
                  </a:moveTo>
                  <a:cubicBezTo>
                    <a:pt x="21600" y="3353"/>
                    <a:pt x="16765" y="4320"/>
                    <a:pt x="10800" y="4320"/>
                  </a:cubicBezTo>
                  <a:cubicBezTo>
                    <a:pt x="4835" y="4320"/>
                    <a:pt x="0" y="3353"/>
                    <a:pt x="0" y="2160"/>
                  </a:cubicBez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lnTo>
                    <a:pt x="0" y="2160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47" name="rc102"/>
          <p:cNvSpPr/>
          <p:nvPr/>
        </p:nvSpPr>
        <p:spPr>
          <a:xfrm>
            <a:off x="9692640" y="3703320"/>
            <a:ext cx="1874521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x103"/>
          <p:cNvSpPr txBox="1"/>
          <p:nvPr/>
        </p:nvSpPr>
        <p:spPr>
          <a:xfrm>
            <a:off x="9692640" y="3872806"/>
            <a:ext cx="18745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49" name="rc104"/>
          <p:cNvSpPr/>
          <p:nvPr/>
        </p:nvSpPr>
        <p:spPr>
          <a:xfrm>
            <a:off x="9692640" y="4480559"/>
            <a:ext cx="1874521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x105"/>
          <p:cNvSpPr txBox="1"/>
          <p:nvPr/>
        </p:nvSpPr>
        <p:spPr>
          <a:xfrm>
            <a:off x="9692640" y="4650045"/>
            <a:ext cx="18745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151" name="rc106"/>
          <p:cNvSpPr/>
          <p:nvPr/>
        </p:nvSpPr>
        <p:spPr>
          <a:xfrm>
            <a:off x="685800" y="868680"/>
            <a:ext cx="1188720" cy="8686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ln107"/>
          <p:cNvSpPr/>
          <p:nvPr/>
        </p:nvSpPr>
        <p:spPr>
          <a:xfrm>
            <a:off x="685800" y="1069847"/>
            <a:ext cx="1188721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ov108"/>
          <p:cNvSpPr/>
          <p:nvPr/>
        </p:nvSpPr>
        <p:spPr>
          <a:xfrm>
            <a:off x="763523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ov109"/>
          <p:cNvSpPr/>
          <p:nvPr/>
        </p:nvSpPr>
        <p:spPr>
          <a:xfrm>
            <a:off x="891539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ov110"/>
          <p:cNvSpPr/>
          <p:nvPr/>
        </p:nvSpPr>
        <p:spPr>
          <a:xfrm>
            <a:off x="1019555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ln111"/>
          <p:cNvSpPr/>
          <p:nvPr/>
        </p:nvSpPr>
        <p:spPr>
          <a:xfrm>
            <a:off x="850391" y="1280160"/>
            <a:ext cx="795530" cy="92"/>
          </a:xfrm>
          <a:prstGeom prst="line">
            <a:avLst/>
          </a:prstGeom>
          <a:ln w="1905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ln112"/>
          <p:cNvSpPr/>
          <p:nvPr/>
        </p:nvSpPr>
        <p:spPr>
          <a:xfrm>
            <a:off x="850391" y="1435608"/>
            <a:ext cx="566930" cy="92"/>
          </a:xfrm>
          <a:prstGeom prst="line">
            <a:avLst/>
          </a:prstGeom>
          <a:ln w="1905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rc113"/>
          <p:cNvSpPr/>
          <p:nvPr/>
        </p:nvSpPr>
        <p:spPr>
          <a:xfrm>
            <a:off x="1033272" y="2240279"/>
            <a:ext cx="502920" cy="868681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ln114"/>
          <p:cNvSpPr/>
          <p:nvPr/>
        </p:nvSpPr>
        <p:spPr>
          <a:xfrm>
            <a:off x="1211580" y="2999232"/>
            <a:ext cx="146305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c2_ln115"/>
          <p:cNvSpPr/>
          <p:nvPr/>
        </p:nvSpPr>
        <p:spPr>
          <a:xfrm>
            <a:off x="1257300" y="4279391"/>
            <a:ext cx="92" cy="15636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c2_ov116"/>
          <p:cNvSpPr/>
          <p:nvPr/>
        </p:nvSpPr>
        <p:spPr>
          <a:xfrm>
            <a:off x="1213866" y="4235958"/>
            <a:ext cx="86869" cy="86869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c2_rc117"/>
          <p:cNvSpPr/>
          <p:nvPr/>
        </p:nvSpPr>
        <p:spPr>
          <a:xfrm>
            <a:off x="996696" y="4435754"/>
            <a:ext cx="521209" cy="390907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c2_ov118"/>
          <p:cNvSpPr/>
          <p:nvPr/>
        </p:nvSpPr>
        <p:spPr>
          <a:xfrm>
            <a:off x="1109624" y="4574742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c2_ov119"/>
          <p:cNvSpPr/>
          <p:nvPr/>
        </p:nvSpPr>
        <p:spPr>
          <a:xfrm>
            <a:off x="1335480" y="4574742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c2_ln120"/>
          <p:cNvSpPr/>
          <p:nvPr/>
        </p:nvSpPr>
        <p:spPr>
          <a:xfrm>
            <a:off x="1153058" y="4731106"/>
            <a:ext cx="208484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c2_rc121"/>
          <p:cNvSpPr/>
          <p:nvPr/>
        </p:nvSpPr>
        <p:spPr>
          <a:xfrm>
            <a:off x="944574" y="4887467"/>
            <a:ext cx="625451" cy="538583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c2_ln122"/>
          <p:cNvSpPr/>
          <p:nvPr/>
        </p:nvSpPr>
        <p:spPr>
          <a:xfrm flipH="1">
            <a:off x="718717" y="4991710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c2_ln123"/>
          <p:cNvSpPr/>
          <p:nvPr/>
        </p:nvSpPr>
        <p:spPr>
          <a:xfrm>
            <a:off x="1570025" y="4991710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c2_ln124"/>
          <p:cNvSpPr/>
          <p:nvPr/>
        </p:nvSpPr>
        <p:spPr>
          <a:xfrm>
            <a:off x="1100938" y="5426049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c2_ln125"/>
          <p:cNvSpPr/>
          <p:nvPr/>
        </p:nvSpPr>
        <p:spPr>
          <a:xfrm>
            <a:off x="1413661" y="5426049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c2_ln126"/>
          <p:cNvSpPr/>
          <p:nvPr/>
        </p:nvSpPr>
        <p:spPr>
          <a:xfrm>
            <a:off x="1828800" y="5056632"/>
            <a:ext cx="960121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c2_ln127"/>
          <p:cNvSpPr/>
          <p:nvPr/>
        </p:nvSpPr>
        <p:spPr>
          <a:xfrm>
            <a:off x="2743200" y="5056632"/>
            <a:ext cx="1188721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c3_rc128"/>
          <p:cNvSpPr/>
          <p:nvPr/>
        </p:nvSpPr>
        <p:spPr>
          <a:xfrm>
            <a:off x="2743200" y="4709159"/>
            <a:ext cx="1188720" cy="694945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c3_tx129"/>
          <p:cNvSpPr txBox="1"/>
          <p:nvPr/>
        </p:nvSpPr>
        <p:spPr>
          <a:xfrm>
            <a:off x="2743200" y="4914736"/>
            <a:ext cx="118872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175" name="x6f_ln130"/>
          <p:cNvSpPr/>
          <p:nvPr/>
        </p:nvSpPr>
        <p:spPr>
          <a:xfrm>
            <a:off x="2514600" y="1298447"/>
            <a:ext cx="68580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x6f_ln131"/>
          <p:cNvSpPr/>
          <p:nvPr/>
        </p:nvSpPr>
        <p:spPr>
          <a:xfrm>
            <a:off x="2514600" y="2670048"/>
            <a:ext cx="68580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c2x6f_ln132"/>
          <p:cNvSpPr/>
          <p:nvPr/>
        </p:nvSpPr>
        <p:spPr>
          <a:xfrm>
            <a:off x="3931920" y="5056632"/>
            <a:ext cx="54406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c1x6f_rc133"/>
          <p:cNvSpPr/>
          <p:nvPr/>
        </p:nvSpPr>
        <p:spPr>
          <a:xfrm>
            <a:off x="5486399" y="1046988"/>
            <a:ext cx="1097282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c1x6f_tx134"/>
          <p:cNvSpPr txBox="1"/>
          <p:nvPr/>
        </p:nvSpPr>
        <p:spPr>
          <a:xfrm>
            <a:off x="5486399" y="1187471"/>
            <a:ext cx="109728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BFF</a:t>
            </a:r>
          </a:p>
        </p:txBody>
      </p:sp>
      <p:sp>
        <p:nvSpPr>
          <p:cNvPr id="180" name="c1x6f_rc135"/>
          <p:cNvSpPr/>
          <p:nvPr/>
        </p:nvSpPr>
        <p:spPr>
          <a:xfrm>
            <a:off x="5486399" y="2418588"/>
            <a:ext cx="1097282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c1x6f_tx136"/>
          <p:cNvSpPr txBox="1"/>
          <p:nvPr/>
        </p:nvSpPr>
        <p:spPr>
          <a:xfrm>
            <a:off x="5486399" y="2559071"/>
            <a:ext cx="109728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BFF</a:t>
            </a:r>
          </a:p>
        </p:txBody>
      </p:sp>
      <p:sp>
        <p:nvSpPr>
          <p:cNvPr id="182" name="c4x6f_rc137"/>
          <p:cNvSpPr/>
          <p:nvPr/>
        </p:nvSpPr>
        <p:spPr>
          <a:xfrm>
            <a:off x="5417820" y="4805171"/>
            <a:ext cx="1234441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c4x6f_tx138"/>
          <p:cNvSpPr txBox="1"/>
          <p:nvPr/>
        </p:nvSpPr>
        <p:spPr>
          <a:xfrm>
            <a:off x="5417820" y="4945655"/>
            <a:ext cx="12344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BFF?</a:t>
            </a:r>
          </a:p>
        </p:txBody>
      </p:sp>
      <p:sp>
        <p:nvSpPr>
          <p:cNvPr id="184" name="c5x6f_ln139"/>
          <p:cNvSpPr/>
          <p:nvPr/>
        </p:nvSpPr>
        <p:spPr>
          <a:xfrm flipV="1">
            <a:off x="5532120" y="5029200"/>
            <a:ext cx="1005840" cy="54865"/>
          </a:xfrm>
          <a:prstGeom prst="line">
            <a:avLst/>
          </a:prstGeom>
          <a:ln w="3810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c5x6f_tx140"/>
          <p:cNvSpPr txBox="1"/>
          <p:nvPr/>
        </p:nvSpPr>
        <p:spPr>
          <a:xfrm>
            <a:off x="5120640" y="5467948"/>
            <a:ext cx="182880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BFC?</a:t>
            </a:r>
          </a:p>
        </p:txBody>
      </p:sp>
      <p:sp>
        <p:nvSpPr>
          <p:cNvPr id="186" name="c6f_ln141"/>
          <p:cNvSpPr/>
          <p:nvPr/>
        </p:nvSpPr>
        <p:spPr>
          <a:xfrm>
            <a:off x="2514600" y="1298447"/>
            <a:ext cx="4297681" cy="171907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c6f_ln142"/>
          <p:cNvSpPr/>
          <p:nvPr/>
        </p:nvSpPr>
        <p:spPr>
          <a:xfrm>
            <a:off x="2514600" y="2670048"/>
            <a:ext cx="4233672" cy="57607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c6f_ln143"/>
          <p:cNvSpPr/>
          <p:nvPr/>
        </p:nvSpPr>
        <p:spPr>
          <a:xfrm flipV="1">
            <a:off x="3931920" y="3611879"/>
            <a:ext cx="2926081" cy="144475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c6f_ln144"/>
          <p:cNvSpPr/>
          <p:nvPr/>
        </p:nvSpPr>
        <p:spPr>
          <a:xfrm>
            <a:off x="8046719" y="3268979"/>
            <a:ext cx="1325881" cy="92"/>
          </a:xfrm>
          <a:prstGeom prst="line">
            <a:avLst/>
          </a:prstGeom>
          <a:ln w="38100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190" name="c6f_gql145" descr="c6f_gql14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75119" y="2606039"/>
            <a:ext cx="1325881" cy="132588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6f_tx146"/>
          <p:cNvSpPr txBox="1"/>
          <p:nvPr/>
        </p:nvSpPr>
        <p:spPr>
          <a:xfrm>
            <a:off x="6309359" y="4081201"/>
            <a:ext cx="20574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100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192" name="c7_ln147"/>
          <p:cNvSpPr/>
          <p:nvPr/>
        </p:nvSpPr>
        <p:spPr>
          <a:xfrm flipV="1">
            <a:off x="1828799" y="3474720"/>
            <a:ext cx="4846322" cy="960121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c7_tx148"/>
          <p:cNvSpPr txBox="1"/>
          <p:nvPr/>
        </p:nvSpPr>
        <p:spPr>
          <a:xfrm>
            <a:off x="3749040" y="3337857"/>
            <a:ext cx="64008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10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50"/>
                            </p:stCondLst>
                            <p:childTnLst>
                              <p:par>
                                <p:cTn id="50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3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800"/>
                            </p:stCondLst>
                            <p:childTnLst>
                              <p:par>
                                <p:cTn id="54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3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150"/>
                            </p:stCondLst>
                            <p:childTnLst>
                              <p:par>
                                <p:cTn id="58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3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3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850"/>
                            </p:stCondLst>
                            <p:childTnLst>
                              <p:par>
                                <p:cTn id="66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3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200"/>
                            </p:stCondLst>
                            <p:childTnLst>
                              <p:par>
                                <p:cTn id="70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3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50"/>
                            </p:stCondLst>
                            <p:childTnLst>
                              <p:par>
                                <p:cTn id="74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3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3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50"/>
                            </p:stCondLst>
                            <p:childTnLst>
                              <p:par>
                                <p:cTn id="83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3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Class="entr" nodeType="click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0" dur="3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"/>
                            </p:stCondLst>
                            <p:childTnLst>
                              <p:par>
                                <p:cTn id="92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4" dur="3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3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50"/>
                            </p:stCondLst>
                            <p:childTnLst>
                              <p:par>
                                <p:cTn id="101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3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Class="exit" nodeType="click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7" dur="150" fill="hold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"/>
                            </p:stCondLst>
                            <p:childTnLst>
                              <p:par>
                                <p:cTn id="110" presetClass="exit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11" dur="150" fill="hold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00"/>
                            </p:stCondLst>
                            <p:childTnLst>
                              <p:par>
                                <p:cTn id="114" presetClass="exit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15" dur="150" fill="hold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50"/>
                            </p:stCondLst>
                            <p:childTnLst>
                              <p:par>
                                <p:cTn id="118" presetClass="exit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19" dur="150" fill="hold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600"/>
                            </p:stCondLst>
                            <p:childTnLst>
                              <p:par>
                                <p:cTn id="122" presetClass="exit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23" dur="150" fill="hold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750"/>
                            </p:stCondLst>
                            <p:childTnLst>
                              <p:par>
                                <p:cTn id="126" presetClass="exit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27" dur="150" fill="hold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00"/>
                            </p:stCondLst>
                            <p:childTnLst>
                              <p:par>
                                <p:cTn id="130" presetClass="exit" nodeType="after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31" dur="150" fill="hold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50"/>
                            </p:stCondLst>
                            <p:childTnLst>
                              <p:par>
                                <p:cTn id="134" presetClass="exit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35" dur="150" fill="hold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200"/>
                            </p:stCondLst>
                            <p:childTnLst>
                              <p:par>
                                <p:cTn id="138" presetClass="exit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39" dur="150" fill="hold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350"/>
                            </p:stCondLst>
                            <p:childTnLst>
                              <p:par>
                                <p:cTn id="142" presetClass="exit" nodeType="afterEffect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43" dur="150" fill="hold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Class="exit" nodeType="afterEffect" presetID="10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47" dur="150" fill="hold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650"/>
                            </p:stCondLst>
                            <p:childTnLst>
                              <p:par>
                                <p:cTn id="150" presetClass="entr" nodeType="afterEffect" presetID="10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2" dur="175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825"/>
                            </p:stCondLst>
                            <p:childTnLst>
                              <p:par>
                                <p:cTn id="154" presetClass="entr" nodeType="afterEffect" presetID="10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6" dur="175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Class="entr" nodeType="afterEffect" presetID="10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9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0" dur="175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175"/>
                            </p:stCondLst>
                            <p:childTnLst>
                              <p:par>
                                <p:cTn id="162" presetClass="entr" nodeType="afterEffect" presetID="10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4" dur="175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350"/>
                            </p:stCondLst>
                            <p:childTnLst>
                              <p:par>
                                <p:cTn id="166" presetClass="entr" nodeType="afterEffect" presetID="10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8" dur="175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525"/>
                            </p:stCondLst>
                            <p:childTnLst>
                              <p:par>
                                <p:cTn id="170" presetClass="entr" nodeType="afterEffect" presetID="10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2" dur="175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Class="entr" nodeType="clickEffect" presetID="10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7" dur="3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350"/>
                            </p:stCondLst>
                            <p:childTnLst>
                              <p:par>
                                <p:cTn id="179" presetClass="entr" nodeType="afterEffect" presetID="10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1" dur="3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7" grpId="18"/>
      <p:bldP build="whole" bldLvl="1" animBg="1" rev="0" advAuto="0" spid="179" grpId="29"/>
      <p:bldP build="whole" bldLvl="1" animBg="1" rev="0" advAuto="0" spid="184" grpId="34"/>
      <p:bldP build="whole" bldLvl="1" animBg="1" rev="0" advAuto="0" spid="177" grpId="27"/>
      <p:bldP build="whole" bldLvl="1" animBg="1" rev="0" advAuto="0" spid="180" grpId="30"/>
      <p:bldP build="whole" bldLvl="1" animBg="1" rev="0" advAuto="0" spid="160" grpId="5"/>
      <p:bldP build="whole" bldLvl="1" animBg="1" rev="0" advAuto="0" spid="178" grpId="28"/>
      <p:bldP build="whole" bldLvl="1" animBg="1" rev="0" advAuto="0" spid="172" grpId="17"/>
      <p:bldP build="whole" bldLvl="1" animBg="1" rev="0" advAuto="0" spid="173" grpId="19"/>
      <p:bldP build="whole" bldLvl="1" animBg="1" rev="0" advAuto="0" spid="161" grpId="6"/>
      <p:bldP build="whole" bldLvl="1" animBg="1" rev="0" advAuto="0" spid="185" grpId="24"/>
      <p:bldP build="whole" bldLvl="1" animBg="1" rev="0" advAuto="0" spid="182" grpId="21"/>
      <p:bldP build="whole" bldLvl="1" animBg="1" rev="0" advAuto="0" spid="186" grpId="36"/>
      <p:bldP build="whole" bldLvl="1" animBg="1" rev="0" advAuto="0" spid="190" grpId="40"/>
      <p:bldP build="whole" bldLvl="1" animBg="1" rev="0" advAuto="0" spid="193" grpId="43"/>
      <p:bldP build="whole" bldLvl="1" animBg="1" rev="0" advAuto="0" spid="170" grpId="15"/>
      <p:bldP build="whole" bldLvl="1" animBg="1" rev="0" advAuto="0" spid="169" grpId="14"/>
      <p:bldP build="whole" bldLvl="1" animBg="1" rev="0" advAuto="0" spid="174" grpId="20"/>
      <p:bldP build="whole" bldLvl="1" animBg="1" rev="0" advAuto="0" spid="185" grpId="35"/>
      <p:bldP build="whole" bldLvl="1" animBg="1" rev="0" advAuto="0" spid="181" grpId="4"/>
      <p:bldP build="whole" bldLvl="1" animBg="1" rev="0" advAuto="0" spid="182" grpId="32"/>
      <p:bldP build="whole" bldLvl="1" animBg="1" rev="0" advAuto="0" spid="189" grpId="39"/>
      <p:bldP build="whole" bldLvl="1" animBg="1" rev="0" advAuto="0" spid="175" grpId="25"/>
      <p:bldP build="whole" bldLvl="1" animBg="1" rev="0" advAuto="0" spid="171" grpId="16"/>
      <p:bldP build="whole" bldLvl="1" animBg="1" rev="0" advAuto="0" spid="167" grpId="12"/>
      <p:bldP build="whole" bldLvl="1" animBg="1" rev="0" advAuto="0" spid="165" grpId="10"/>
      <p:bldP build="whole" bldLvl="1" animBg="1" rev="0" advAuto="0" spid="179" grpId="2"/>
      <p:bldP build="whole" bldLvl="1" animBg="1" rev="0" advAuto="0" spid="191" grpId="41"/>
      <p:bldP build="whole" bldLvl="1" animBg="1" rev="0" advAuto="0" spid="187" grpId="37"/>
      <p:bldP build="whole" bldLvl="1" animBg="1" rev="0" advAuto="0" spid="192" grpId="42"/>
      <p:bldP build="whole" bldLvl="1" animBg="1" rev="0" advAuto="0" spid="166" grpId="11"/>
      <p:bldP build="whole" bldLvl="1" animBg="1" rev="0" advAuto="0" spid="168" grpId="13"/>
      <p:bldP build="whole" bldLvl="1" animBg="1" rev="0" advAuto="0" spid="183" grpId="22"/>
      <p:bldP build="whole" bldLvl="1" animBg="1" rev="0" advAuto="0" spid="164" grpId="9"/>
      <p:bldP build="whole" bldLvl="1" animBg="1" rev="0" advAuto="0" spid="180" grpId="3"/>
      <p:bldP build="whole" bldLvl="1" animBg="1" rev="0" advAuto="0" spid="163" grpId="8"/>
      <p:bldP build="whole" bldLvl="1" animBg="1" rev="0" advAuto="0" spid="178" grpId="1"/>
      <p:bldP build="whole" bldLvl="1" animBg="1" rev="0" advAuto="0" spid="181" grpId="31"/>
      <p:bldP build="whole" bldLvl="1" animBg="1" rev="0" advAuto="0" spid="188" grpId="38"/>
      <p:bldP build="whole" bldLvl="1" animBg="1" rev="0" advAuto="0" spid="176" grpId="26"/>
      <p:bldP build="whole" bldLvl="1" animBg="1" rev="0" advAuto="0" spid="183" grpId="33"/>
      <p:bldP build="whole" bldLvl="1" animBg="1" rev="0" advAuto="0" spid="162" grpId="7"/>
      <p:bldP build="whole" bldLvl="1" animBg="1" rev="0" advAuto="0" spid="184" grpId="2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x149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MCP?</a:t>
            </a:r>
          </a:p>
        </p:txBody>
      </p:sp>
      <p:sp>
        <p:nvSpPr>
          <p:cNvPr id="196" name="rc150"/>
          <p:cNvSpPr/>
          <p:nvPr/>
        </p:nvSpPr>
        <p:spPr>
          <a:xfrm>
            <a:off x="822960" y="1828799"/>
            <a:ext cx="2194561" cy="64008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x151"/>
          <p:cNvSpPr txBox="1"/>
          <p:nvPr/>
        </p:nvSpPr>
        <p:spPr>
          <a:xfrm>
            <a:off x="896111" y="2025371"/>
            <a:ext cx="2048257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 app</a:t>
            </a:r>
          </a:p>
        </p:txBody>
      </p:sp>
      <p:sp>
        <p:nvSpPr>
          <p:cNvPr id="198" name="rc152"/>
          <p:cNvSpPr/>
          <p:nvPr/>
        </p:nvSpPr>
        <p:spPr>
          <a:xfrm>
            <a:off x="822960" y="3063239"/>
            <a:ext cx="219456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x153"/>
          <p:cNvSpPr txBox="1"/>
          <p:nvPr/>
        </p:nvSpPr>
        <p:spPr>
          <a:xfrm>
            <a:off x="896111" y="3259811"/>
            <a:ext cx="2048257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IDE</a:t>
            </a:r>
          </a:p>
        </p:txBody>
      </p:sp>
      <p:sp>
        <p:nvSpPr>
          <p:cNvPr id="200" name="rc154"/>
          <p:cNvSpPr/>
          <p:nvPr/>
        </p:nvSpPr>
        <p:spPr>
          <a:xfrm>
            <a:off x="822960" y="4297679"/>
            <a:ext cx="219456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x155"/>
          <p:cNvSpPr txBox="1"/>
          <p:nvPr/>
        </p:nvSpPr>
        <p:spPr>
          <a:xfrm>
            <a:off x="896111" y="4494251"/>
            <a:ext cx="2048257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agent</a:t>
            </a:r>
          </a:p>
        </p:txBody>
      </p:sp>
      <p:sp>
        <p:nvSpPr>
          <p:cNvPr id="202" name="rc156"/>
          <p:cNvSpPr/>
          <p:nvPr/>
        </p:nvSpPr>
        <p:spPr>
          <a:xfrm>
            <a:off x="9052559" y="1508760"/>
            <a:ext cx="237744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x157"/>
          <p:cNvSpPr txBox="1"/>
          <p:nvPr/>
        </p:nvSpPr>
        <p:spPr>
          <a:xfrm>
            <a:off x="9125712" y="1705331"/>
            <a:ext cx="2231136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files</a:t>
            </a:r>
          </a:p>
        </p:txBody>
      </p:sp>
      <p:sp>
        <p:nvSpPr>
          <p:cNvPr id="204" name="rc158"/>
          <p:cNvSpPr/>
          <p:nvPr/>
        </p:nvSpPr>
        <p:spPr>
          <a:xfrm>
            <a:off x="9052559" y="2560320"/>
            <a:ext cx="237744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x159"/>
          <p:cNvSpPr txBox="1"/>
          <p:nvPr/>
        </p:nvSpPr>
        <p:spPr>
          <a:xfrm>
            <a:off x="9125712" y="2756891"/>
            <a:ext cx="2231136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206" name="rc160"/>
          <p:cNvSpPr/>
          <p:nvPr/>
        </p:nvSpPr>
        <p:spPr>
          <a:xfrm>
            <a:off x="9052559" y="3611879"/>
            <a:ext cx="237744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x161"/>
          <p:cNvSpPr txBox="1"/>
          <p:nvPr/>
        </p:nvSpPr>
        <p:spPr>
          <a:xfrm>
            <a:off x="9125712" y="3808451"/>
            <a:ext cx="2231136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208" name="rc162"/>
          <p:cNvSpPr/>
          <p:nvPr/>
        </p:nvSpPr>
        <p:spPr>
          <a:xfrm>
            <a:off x="9052559" y="4663440"/>
            <a:ext cx="237744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x163"/>
          <p:cNvSpPr txBox="1"/>
          <p:nvPr/>
        </p:nvSpPr>
        <p:spPr>
          <a:xfrm>
            <a:off x="9125712" y="4860011"/>
            <a:ext cx="2231136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API</a:t>
            </a:r>
          </a:p>
        </p:txBody>
      </p:sp>
      <p:sp>
        <p:nvSpPr>
          <p:cNvPr id="210" name="x1_ln164"/>
          <p:cNvSpPr/>
          <p:nvPr/>
        </p:nvSpPr>
        <p:spPr>
          <a:xfrm flipV="1">
            <a:off x="3017519" y="1828800"/>
            <a:ext cx="6035042" cy="32004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x1_ln165"/>
          <p:cNvSpPr/>
          <p:nvPr/>
        </p:nvSpPr>
        <p:spPr>
          <a:xfrm>
            <a:off x="3017519" y="2148839"/>
            <a:ext cx="6035042" cy="73152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x1_ln166"/>
          <p:cNvSpPr/>
          <p:nvPr/>
        </p:nvSpPr>
        <p:spPr>
          <a:xfrm>
            <a:off x="3017519" y="2148839"/>
            <a:ext cx="6035042" cy="178308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x1_ln167"/>
          <p:cNvSpPr/>
          <p:nvPr/>
        </p:nvSpPr>
        <p:spPr>
          <a:xfrm>
            <a:off x="3017519" y="2148839"/>
            <a:ext cx="6035042" cy="2834642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x1_ln168"/>
          <p:cNvSpPr/>
          <p:nvPr/>
        </p:nvSpPr>
        <p:spPr>
          <a:xfrm flipV="1">
            <a:off x="3017519" y="1828800"/>
            <a:ext cx="6035042" cy="155448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x1_ln169"/>
          <p:cNvSpPr/>
          <p:nvPr/>
        </p:nvSpPr>
        <p:spPr>
          <a:xfrm flipV="1">
            <a:off x="3017519" y="2880361"/>
            <a:ext cx="6035042" cy="502920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x1_ln170"/>
          <p:cNvSpPr/>
          <p:nvPr/>
        </p:nvSpPr>
        <p:spPr>
          <a:xfrm>
            <a:off x="3017519" y="3383279"/>
            <a:ext cx="6035042" cy="54864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x1_ln171"/>
          <p:cNvSpPr/>
          <p:nvPr/>
        </p:nvSpPr>
        <p:spPr>
          <a:xfrm>
            <a:off x="3017520" y="3383279"/>
            <a:ext cx="6035041" cy="160020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x1_ln172"/>
          <p:cNvSpPr/>
          <p:nvPr/>
        </p:nvSpPr>
        <p:spPr>
          <a:xfrm flipV="1">
            <a:off x="3017519" y="1828800"/>
            <a:ext cx="6035042" cy="278892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x1_ln173"/>
          <p:cNvSpPr/>
          <p:nvPr/>
        </p:nvSpPr>
        <p:spPr>
          <a:xfrm flipV="1">
            <a:off x="3017519" y="2880360"/>
            <a:ext cx="6035042" cy="173736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x1_ln174"/>
          <p:cNvSpPr/>
          <p:nvPr/>
        </p:nvSpPr>
        <p:spPr>
          <a:xfrm flipV="1">
            <a:off x="3017519" y="3931920"/>
            <a:ext cx="6035042" cy="68580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x1_ln175"/>
          <p:cNvSpPr/>
          <p:nvPr/>
        </p:nvSpPr>
        <p:spPr>
          <a:xfrm>
            <a:off x="3017519" y="4617720"/>
            <a:ext cx="6035042" cy="365761"/>
          </a:xfrm>
          <a:prstGeom prst="line">
            <a:avLst/>
          </a:prstGeom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x1_tx176"/>
          <p:cNvSpPr txBox="1"/>
          <p:nvPr/>
        </p:nvSpPr>
        <p:spPr>
          <a:xfrm>
            <a:off x="3566159" y="5710264"/>
            <a:ext cx="512064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× 4 = 12 integrations</a:t>
            </a:r>
          </a:p>
        </p:txBody>
      </p:sp>
      <p:sp>
        <p:nvSpPr>
          <p:cNvPr id="223" name="c1_ln177"/>
          <p:cNvSpPr/>
          <p:nvPr/>
        </p:nvSpPr>
        <p:spPr>
          <a:xfrm>
            <a:off x="3017520" y="2148839"/>
            <a:ext cx="2148841" cy="109728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c1_ln178"/>
          <p:cNvSpPr/>
          <p:nvPr/>
        </p:nvSpPr>
        <p:spPr>
          <a:xfrm flipV="1">
            <a:off x="3017520" y="3246120"/>
            <a:ext cx="2148841" cy="13716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c1_ln179"/>
          <p:cNvSpPr/>
          <p:nvPr/>
        </p:nvSpPr>
        <p:spPr>
          <a:xfrm flipV="1">
            <a:off x="3017520" y="3246120"/>
            <a:ext cx="2148841" cy="137160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c1_ln180"/>
          <p:cNvSpPr/>
          <p:nvPr/>
        </p:nvSpPr>
        <p:spPr>
          <a:xfrm flipV="1">
            <a:off x="6995159" y="1828799"/>
            <a:ext cx="2057401" cy="141732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c1_ln181"/>
          <p:cNvSpPr/>
          <p:nvPr/>
        </p:nvSpPr>
        <p:spPr>
          <a:xfrm flipV="1">
            <a:off x="6995159" y="2880360"/>
            <a:ext cx="2057401" cy="36576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c1_ln182"/>
          <p:cNvSpPr/>
          <p:nvPr/>
        </p:nvSpPr>
        <p:spPr>
          <a:xfrm>
            <a:off x="6995159" y="3246120"/>
            <a:ext cx="2057401" cy="68580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c1_ln183"/>
          <p:cNvSpPr/>
          <p:nvPr/>
        </p:nvSpPr>
        <p:spPr>
          <a:xfrm>
            <a:off x="6995159" y="3246120"/>
            <a:ext cx="2057401" cy="1737361"/>
          </a:xfrm>
          <a:prstGeom prst="line">
            <a:avLst/>
          </a:prstGeom>
          <a:ln w="2222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c1_rc184"/>
          <p:cNvSpPr/>
          <p:nvPr/>
        </p:nvSpPr>
        <p:spPr>
          <a:xfrm>
            <a:off x="5166359" y="2788920"/>
            <a:ext cx="1828801" cy="914401"/>
          </a:xfrm>
          <a:prstGeom prst="rect">
            <a:avLst/>
          </a:prstGeom>
          <a:solidFill>
            <a:srgbClr val="FFFFFF"/>
          </a:solidFill>
          <a:ln w="444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c1_tx185"/>
          <p:cNvSpPr txBox="1"/>
          <p:nvPr/>
        </p:nvSpPr>
        <p:spPr>
          <a:xfrm>
            <a:off x="5166359" y="3048736"/>
            <a:ext cx="1828801" cy="39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232" name="c1_tx186"/>
          <p:cNvSpPr txBox="1"/>
          <p:nvPr/>
        </p:nvSpPr>
        <p:spPr>
          <a:xfrm>
            <a:off x="3566159" y="5710264"/>
            <a:ext cx="512064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+ 4 = 7</a:t>
            </a:r>
          </a:p>
        </p:txBody>
      </p:sp>
      <p:sp>
        <p:nvSpPr>
          <p:cNvPr id="233" name="tx187"/>
          <p:cNvSpPr txBox="1"/>
          <p:nvPr/>
        </p:nvSpPr>
        <p:spPr>
          <a:xfrm>
            <a:off x="548639" y="6258305"/>
            <a:ext cx="1106424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 open protocol · Anthropic, Nov 2024 · Linux Foundation (Agentic AI Foundation) since Dec 2025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" dur="300" fill="hold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Class="exit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" dur="300" fill="hold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Class="exit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4" dur="300" fill="hold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Class="exit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8" dur="300" fill="hold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Class="exit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2" dur="300" fill="hold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Class="exit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6" dur="300" fill="hold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0" dur="300" fill="hold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Class="exit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4" dur="300" fill="hold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Class="exit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8" dur="300" fill="hold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"/>
                            </p:stCondLst>
                            <p:childTnLst>
                              <p:par>
                                <p:cTn id="41" presetClass="exit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2" dur="300" fill="hold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Class="exit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6" dur="300" fill="hold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Class="exit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0" dur="300" fill="hold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Class="exit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4" dur="300" fill="hold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90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3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5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3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60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3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95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3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300"/>
                            </p:stCondLst>
                            <p:childTnLst>
                              <p:par>
                                <p:cTn id="73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3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650"/>
                            </p:stCondLst>
                            <p:childTnLst>
                              <p:par>
                                <p:cTn id="77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3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3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350"/>
                            </p:stCondLst>
                            <p:childTnLst>
                              <p:par>
                                <p:cTn id="85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3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700"/>
                            </p:stCondLst>
                            <p:childTnLst>
                              <p:par>
                                <p:cTn id="89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3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50"/>
                            </p:stCondLst>
                            <p:childTnLst>
                              <p:par>
                                <p:cTn id="93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3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14"/>
      <p:bldP build="whole" bldLvl="1" animBg="1" rev="0" advAuto="0" spid="224" grpId="15"/>
      <p:bldP build="whole" bldLvl="1" animBg="1" rev="0" advAuto="0" spid="218" grpId="9"/>
      <p:bldP build="whole" bldLvl="1" animBg="1" rev="0" advAuto="0" spid="215" grpId="6"/>
      <p:bldP build="whole" bldLvl="1" animBg="1" rev="0" advAuto="0" spid="231" grpId="22"/>
      <p:bldP build="whole" bldLvl="1" animBg="1" rev="0" advAuto="0" spid="232" grpId="23"/>
      <p:bldP build="whole" bldLvl="1" animBg="1" rev="0" advAuto="0" spid="217" grpId="8"/>
      <p:bldP build="whole" bldLvl="1" animBg="1" rev="0" advAuto="0" spid="220" grpId="11"/>
      <p:bldP build="whole" bldLvl="1" animBg="1" rev="0" advAuto="0" spid="210" grpId="1"/>
      <p:bldP build="whole" bldLvl="1" animBg="1" rev="0" advAuto="0" spid="221" grpId="12"/>
      <p:bldP build="whole" bldLvl="1" animBg="1" rev="0" advAuto="0" spid="219" grpId="10"/>
      <p:bldP build="whole" bldLvl="1" animBg="1" rev="0" advAuto="0" spid="229" grpId="20"/>
      <p:bldP build="whole" bldLvl="1" animBg="1" rev="0" advAuto="0" spid="228" grpId="19"/>
      <p:bldP build="whole" bldLvl="1" animBg="1" rev="0" advAuto="0" spid="226" grpId="17"/>
      <p:bldP build="whole" bldLvl="1" animBg="1" rev="0" advAuto="0" spid="213" grpId="4"/>
      <p:bldP build="whole" bldLvl="1" animBg="1" rev="0" advAuto="0" spid="230" grpId="21"/>
      <p:bldP build="whole" bldLvl="1" animBg="1" rev="0" advAuto="0" spid="211" grpId="2"/>
      <p:bldP build="whole" bldLvl="1" animBg="1" rev="0" advAuto="0" spid="222" grpId="13"/>
      <p:bldP build="whole" bldLvl="1" animBg="1" rev="0" advAuto="0" spid="225" grpId="16"/>
      <p:bldP build="whole" bldLvl="1" animBg="1" rev="0" advAuto="0" spid="214" grpId="5"/>
      <p:bldP build="whole" bldLvl="1" animBg="1" rev="0" advAuto="0" spid="212" grpId="3"/>
      <p:bldP build="whole" bldLvl="1" animBg="1" rev="0" advAuto="0" spid="227" grpId="18"/>
      <p:bldP build="whole" bldLvl="1" animBg="1" rev="0" advAuto="0" spid="216" grpId="7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x188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Host, client, server</a:t>
            </a:r>
          </a:p>
        </p:txBody>
      </p:sp>
      <p:sp>
        <p:nvSpPr>
          <p:cNvPr id="236" name="rc189"/>
          <p:cNvSpPr/>
          <p:nvPr/>
        </p:nvSpPr>
        <p:spPr>
          <a:xfrm>
            <a:off x="548639" y="1371600"/>
            <a:ext cx="4206242" cy="4480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x190"/>
          <p:cNvSpPr txBox="1"/>
          <p:nvPr/>
        </p:nvSpPr>
        <p:spPr>
          <a:xfrm>
            <a:off x="548639" y="1512083"/>
            <a:ext cx="420624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host: the AI app</a:t>
            </a:r>
          </a:p>
        </p:txBody>
      </p:sp>
      <p:sp>
        <p:nvSpPr>
          <p:cNvPr id="238" name="ln191"/>
          <p:cNvSpPr/>
          <p:nvPr/>
        </p:nvSpPr>
        <p:spPr>
          <a:xfrm>
            <a:off x="1257300" y="2377439"/>
            <a:ext cx="92" cy="139904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ov192"/>
          <p:cNvSpPr/>
          <p:nvPr/>
        </p:nvSpPr>
        <p:spPr>
          <a:xfrm>
            <a:off x="1218438" y="2338577"/>
            <a:ext cx="77725" cy="77725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rc193"/>
          <p:cNvSpPr/>
          <p:nvPr/>
        </p:nvSpPr>
        <p:spPr>
          <a:xfrm>
            <a:off x="1024127" y="2517343"/>
            <a:ext cx="466345" cy="34975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ov194"/>
          <p:cNvSpPr/>
          <p:nvPr/>
        </p:nvSpPr>
        <p:spPr>
          <a:xfrm>
            <a:off x="1125169" y="2641701"/>
            <a:ext cx="62181" cy="62181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ov195"/>
          <p:cNvSpPr/>
          <p:nvPr/>
        </p:nvSpPr>
        <p:spPr>
          <a:xfrm>
            <a:off x="1327252" y="2641701"/>
            <a:ext cx="62181" cy="62181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ln196"/>
          <p:cNvSpPr/>
          <p:nvPr/>
        </p:nvSpPr>
        <p:spPr>
          <a:xfrm>
            <a:off x="1164030" y="2781605"/>
            <a:ext cx="186539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rc197"/>
          <p:cNvSpPr/>
          <p:nvPr/>
        </p:nvSpPr>
        <p:spPr>
          <a:xfrm>
            <a:off x="977494" y="2921507"/>
            <a:ext cx="559614" cy="481890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ln198"/>
          <p:cNvSpPr/>
          <p:nvPr/>
        </p:nvSpPr>
        <p:spPr>
          <a:xfrm flipH="1">
            <a:off x="775411" y="3014777"/>
            <a:ext cx="202083" cy="2331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ln199"/>
          <p:cNvSpPr/>
          <p:nvPr/>
        </p:nvSpPr>
        <p:spPr>
          <a:xfrm>
            <a:off x="1537105" y="3014777"/>
            <a:ext cx="202083" cy="2331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ln200"/>
          <p:cNvSpPr/>
          <p:nvPr/>
        </p:nvSpPr>
        <p:spPr>
          <a:xfrm>
            <a:off x="1117397" y="3403396"/>
            <a:ext cx="92" cy="31089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ln201"/>
          <p:cNvSpPr/>
          <p:nvPr/>
        </p:nvSpPr>
        <p:spPr>
          <a:xfrm>
            <a:off x="1397202" y="3403396"/>
            <a:ext cx="92" cy="31089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x202"/>
          <p:cNvSpPr txBox="1"/>
          <p:nvPr/>
        </p:nvSpPr>
        <p:spPr>
          <a:xfrm>
            <a:off x="548639" y="3976530"/>
            <a:ext cx="173736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model</a:t>
            </a:r>
          </a:p>
        </p:txBody>
      </p:sp>
      <p:sp>
        <p:nvSpPr>
          <p:cNvPr id="250" name="rc203"/>
          <p:cNvSpPr/>
          <p:nvPr/>
        </p:nvSpPr>
        <p:spPr>
          <a:xfrm>
            <a:off x="2468879" y="2148839"/>
            <a:ext cx="2011680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x204"/>
          <p:cNvSpPr txBox="1"/>
          <p:nvPr/>
        </p:nvSpPr>
        <p:spPr>
          <a:xfrm>
            <a:off x="2542032" y="2364046"/>
            <a:ext cx="1865377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client</a:t>
            </a:r>
          </a:p>
        </p:txBody>
      </p:sp>
      <p:sp>
        <p:nvSpPr>
          <p:cNvPr id="252" name="rc205"/>
          <p:cNvSpPr/>
          <p:nvPr/>
        </p:nvSpPr>
        <p:spPr>
          <a:xfrm>
            <a:off x="2468879" y="3977640"/>
            <a:ext cx="2011680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x206"/>
          <p:cNvSpPr txBox="1"/>
          <p:nvPr/>
        </p:nvSpPr>
        <p:spPr>
          <a:xfrm>
            <a:off x="2542032" y="4192846"/>
            <a:ext cx="1865377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client</a:t>
            </a:r>
          </a:p>
        </p:txBody>
      </p:sp>
      <p:sp>
        <p:nvSpPr>
          <p:cNvPr id="254" name="c1_rc207"/>
          <p:cNvSpPr/>
          <p:nvPr/>
        </p:nvSpPr>
        <p:spPr>
          <a:xfrm>
            <a:off x="7498080" y="1600200"/>
            <a:ext cx="4114801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c1_tx208"/>
          <p:cNvSpPr txBox="1"/>
          <p:nvPr/>
        </p:nvSpPr>
        <p:spPr>
          <a:xfrm>
            <a:off x="7498080" y="1768115"/>
            <a:ext cx="41148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Petclinic MCP server</a:t>
            </a:r>
          </a:p>
        </p:txBody>
      </p:sp>
      <p:sp>
        <p:nvSpPr>
          <p:cNvPr id="256" name="c1_ln209"/>
          <p:cNvSpPr/>
          <p:nvPr/>
        </p:nvSpPr>
        <p:spPr>
          <a:xfrm>
            <a:off x="4480559" y="2468879"/>
            <a:ext cx="3017521" cy="92"/>
          </a:xfrm>
          <a:prstGeom prst="line">
            <a:avLst/>
          </a:prstGeom>
          <a:ln w="2222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c1_ln210"/>
          <p:cNvSpPr/>
          <p:nvPr/>
        </p:nvSpPr>
        <p:spPr>
          <a:xfrm flipH="1">
            <a:off x="4480559" y="2578607"/>
            <a:ext cx="3017521" cy="92"/>
          </a:xfrm>
          <a:prstGeom prst="line">
            <a:avLst/>
          </a:prstGeom>
          <a:ln w="2222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c2_rc211"/>
          <p:cNvSpPr/>
          <p:nvPr/>
        </p:nvSpPr>
        <p:spPr>
          <a:xfrm>
            <a:off x="7635240" y="2240279"/>
            <a:ext cx="1207009" cy="1005840"/>
          </a:xfrm>
          <a:prstGeom prst="rect">
            <a:avLst/>
          </a:prstGeom>
          <a:solidFill>
            <a:srgbClr val="F2F2F2"/>
          </a:solidFill>
          <a:ln w="317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c2_tx212"/>
          <p:cNvSpPr txBox="1"/>
          <p:nvPr/>
        </p:nvSpPr>
        <p:spPr>
          <a:xfrm>
            <a:off x="7635240" y="2393048"/>
            <a:ext cx="12070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260" name="c2_tx213"/>
          <p:cNvSpPr txBox="1"/>
          <p:nvPr/>
        </p:nvSpPr>
        <p:spPr>
          <a:xfrm>
            <a:off x="7635240" y="2852165"/>
            <a:ext cx="120700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model calls</a:t>
            </a:r>
          </a:p>
        </p:txBody>
      </p:sp>
      <p:sp>
        <p:nvSpPr>
          <p:cNvPr id="261" name="c2_rc214"/>
          <p:cNvSpPr/>
          <p:nvPr/>
        </p:nvSpPr>
        <p:spPr>
          <a:xfrm>
            <a:off x="8961119" y="2240279"/>
            <a:ext cx="120700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c2_tx215"/>
          <p:cNvSpPr txBox="1"/>
          <p:nvPr/>
        </p:nvSpPr>
        <p:spPr>
          <a:xfrm>
            <a:off x="8961119" y="2393048"/>
            <a:ext cx="12070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resources</a:t>
            </a:r>
          </a:p>
        </p:txBody>
      </p:sp>
      <p:sp>
        <p:nvSpPr>
          <p:cNvPr id="263" name="c2_tx216"/>
          <p:cNvSpPr txBox="1"/>
          <p:nvPr/>
        </p:nvSpPr>
        <p:spPr>
          <a:xfrm>
            <a:off x="8961119" y="2852165"/>
            <a:ext cx="120700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app reads</a:t>
            </a:r>
          </a:p>
        </p:txBody>
      </p:sp>
      <p:sp>
        <p:nvSpPr>
          <p:cNvPr id="264" name="c2_rc217"/>
          <p:cNvSpPr/>
          <p:nvPr/>
        </p:nvSpPr>
        <p:spPr>
          <a:xfrm>
            <a:off x="10286999" y="2240279"/>
            <a:ext cx="120701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c2_tx218"/>
          <p:cNvSpPr txBox="1"/>
          <p:nvPr/>
        </p:nvSpPr>
        <p:spPr>
          <a:xfrm>
            <a:off x="10286999" y="2393048"/>
            <a:ext cx="12070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prompts</a:t>
            </a:r>
          </a:p>
        </p:txBody>
      </p:sp>
      <p:sp>
        <p:nvSpPr>
          <p:cNvPr id="266" name="c2_tx219"/>
          <p:cNvSpPr txBox="1"/>
          <p:nvPr/>
        </p:nvSpPr>
        <p:spPr>
          <a:xfrm>
            <a:off x="10286999" y="2852165"/>
            <a:ext cx="120701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user picks</a:t>
            </a:r>
          </a:p>
        </p:txBody>
      </p:sp>
      <p:sp>
        <p:nvSpPr>
          <p:cNvPr id="267" name="c1_rc220"/>
          <p:cNvSpPr/>
          <p:nvPr/>
        </p:nvSpPr>
        <p:spPr>
          <a:xfrm>
            <a:off x="7498080" y="3749040"/>
            <a:ext cx="4114801" cy="1828801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c1_tx221"/>
          <p:cNvSpPr txBox="1"/>
          <p:nvPr/>
        </p:nvSpPr>
        <p:spPr>
          <a:xfrm>
            <a:off x="7498080" y="3916955"/>
            <a:ext cx="41148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GitHub MCP server</a:t>
            </a:r>
          </a:p>
        </p:txBody>
      </p:sp>
      <p:sp>
        <p:nvSpPr>
          <p:cNvPr id="269" name="c1_ln222"/>
          <p:cNvSpPr/>
          <p:nvPr/>
        </p:nvSpPr>
        <p:spPr>
          <a:xfrm>
            <a:off x="4480559" y="4297679"/>
            <a:ext cx="3017521" cy="92"/>
          </a:xfrm>
          <a:prstGeom prst="line">
            <a:avLst/>
          </a:prstGeom>
          <a:ln w="2222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c1_ln223"/>
          <p:cNvSpPr/>
          <p:nvPr/>
        </p:nvSpPr>
        <p:spPr>
          <a:xfrm flipH="1">
            <a:off x="4480559" y="4407408"/>
            <a:ext cx="3017521" cy="92"/>
          </a:xfrm>
          <a:prstGeom prst="line">
            <a:avLst/>
          </a:prstGeom>
          <a:ln w="2222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c2_rc224"/>
          <p:cNvSpPr/>
          <p:nvPr/>
        </p:nvSpPr>
        <p:spPr>
          <a:xfrm>
            <a:off x="7635240" y="4389120"/>
            <a:ext cx="1207009" cy="1005840"/>
          </a:xfrm>
          <a:prstGeom prst="rect">
            <a:avLst/>
          </a:prstGeom>
          <a:solidFill>
            <a:srgbClr val="F2F2F2"/>
          </a:solidFill>
          <a:ln w="317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c2_tx225"/>
          <p:cNvSpPr txBox="1"/>
          <p:nvPr/>
        </p:nvSpPr>
        <p:spPr>
          <a:xfrm>
            <a:off x="7635240" y="4541888"/>
            <a:ext cx="12070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273" name="c2_tx226"/>
          <p:cNvSpPr txBox="1"/>
          <p:nvPr/>
        </p:nvSpPr>
        <p:spPr>
          <a:xfrm>
            <a:off x="7635240" y="5001005"/>
            <a:ext cx="120700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model calls</a:t>
            </a:r>
          </a:p>
        </p:txBody>
      </p:sp>
      <p:sp>
        <p:nvSpPr>
          <p:cNvPr id="274" name="c2_rc227"/>
          <p:cNvSpPr/>
          <p:nvPr/>
        </p:nvSpPr>
        <p:spPr>
          <a:xfrm>
            <a:off x="8961119" y="4389120"/>
            <a:ext cx="120700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c2_tx228"/>
          <p:cNvSpPr txBox="1"/>
          <p:nvPr/>
        </p:nvSpPr>
        <p:spPr>
          <a:xfrm>
            <a:off x="8961119" y="4541888"/>
            <a:ext cx="120700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resources</a:t>
            </a:r>
          </a:p>
        </p:txBody>
      </p:sp>
      <p:sp>
        <p:nvSpPr>
          <p:cNvPr id="276" name="c2_tx229"/>
          <p:cNvSpPr txBox="1"/>
          <p:nvPr/>
        </p:nvSpPr>
        <p:spPr>
          <a:xfrm>
            <a:off x="8961119" y="5001005"/>
            <a:ext cx="120700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app reads</a:t>
            </a:r>
          </a:p>
        </p:txBody>
      </p:sp>
      <p:sp>
        <p:nvSpPr>
          <p:cNvPr id="277" name="c2_rc230"/>
          <p:cNvSpPr/>
          <p:nvPr/>
        </p:nvSpPr>
        <p:spPr>
          <a:xfrm>
            <a:off x="10286999" y="4389120"/>
            <a:ext cx="120701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c2_tx231"/>
          <p:cNvSpPr txBox="1"/>
          <p:nvPr/>
        </p:nvSpPr>
        <p:spPr>
          <a:xfrm>
            <a:off x="10286999" y="4541888"/>
            <a:ext cx="12070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prompts</a:t>
            </a:r>
          </a:p>
        </p:txBody>
      </p:sp>
      <p:sp>
        <p:nvSpPr>
          <p:cNvPr id="279" name="c2_tx232"/>
          <p:cNvSpPr txBox="1"/>
          <p:nvPr/>
        </p:nvSpPr>
        <p:spPr>
          <a:xfrm>
            <a:off x="10286999" y="5001005"/>
            <a:ext cx="120701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user picks</a:t>
            </a:r>
          </a:p>
        </p:txBody>
      </p:sp>
      <p:sp>
        <p:nvSpPr>
          <p:cNvPr id="280" name="c1_tx233"/>
          <p:cNvSpPr txBox="1"/>
          <p:nvPr/>
        </p:nvSpPr>
        <p:spPr>
          <a:xfrm>
            <a:off x="4846320" y="3141286"/>
            <a:ext cx="25603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JSON-RPC 2.0</a:t>
            </a:r>
          </a:p>
        </p:txBody>
      </p:sp>
      <p:sp>
        <p:nvSpPr>
          <p:cNvPr id="281" name="c1_tx234"/>
          <p:cNvSpPr txBox="1"/>
          <p:nvPr/>
        </p:nvSpPr>
        <p:spPr>
          <a:xfrm>
            <a:off x="4846320" y="3525888"/>
            <a:ext cx="256032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stdio (local) or</a:t>
            </a:r>
          </a:p>
          <a:p>
            <a: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Streamable HTTP (remote)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"/>
                            </p:stCondLst>
                            <p:childTnLst>
                              <p:par>
                                <p:cTn id="50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3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"/>
                            </p:stCondLst>
                            <p:childTnLst>
                              <p:par>
                                <p:cTn id="54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3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50"/>
                            </p:stCondLst>
                            <p:childTnLst>
                              <p:par>
                                <p:cTn id="58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3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400"/>
                            </p:stCondLst>
                            <p:childTnLst>
                              <p:par>
                                <p:cTn id="62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3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50"/>
                            </p:stCondLst>
                            <p:childTnLst>
                              <p:par>
                                <p:cTn id="66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3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100"/>
                            </p:stCondLst>
                            <p:childTnLst>
                              <p:par>
                                <p:cTn id="70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3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50"/>
                            </p:stCondLst>
                            <p:childTnLst>
                              <p:par>
                                <p:cTn id="74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3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00"/>
                            </p:stCondLst>
                            <p:childTnLst>
                              <p:par>
                                <p:cTn id="78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3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150"/>
                            </p:stCondLst>
                            <p:childTnLst>
                              <p:par>
                                <p:cTn id="82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3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3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850"/>
                            </p:stCondLst>
                            <p:childTnLst>
                              <p:par>
                                <p:cTn id="90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3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200"/>
                            </p:stCondLst>
                            <p:childTnLst>
                              <p:par>
                                <p:cTn id="94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3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50"/>
                            </p:stCondLst>
                            <p:childTnLst>
                              <p:par>
                                <p:cTn id="98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35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900"/>
                            </p:stCondLst>
                            <p:childTnLst>
                              <p:par>
                                <p:cTn id="102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4" dur="35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250"/>
                            </p:stCondLst>
                            <p:childTnLst>
                              <p:par>
                                <p:cTn id="106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8" dur="3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600"/>
                            </p:stCondLst>
                            <p:childTnLst>
                              <p:par>
                                <p:cTn id="110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3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950"/>
                            </p:stCondLst>
                            <p:childTnLst>
                              <p:par>
                                <p:cTn id="114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6" dur="35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0" grpId="9"/>
      <p:bldP build="whole" bldLvl="1" animBg="1" rev="0" advAuto="0" spid="260" grpId="13"/>
      <p:bldP build="whole" bldLvl="1" animBg="1" rev="0" advAuto="0" spid="281" grpId="10"/>
      <p:bldP build="whole" bldLvl="1" animBg="1" rev="0" advAuto="0" spid="273" grpId="22"/>
      <p:bldP build="whole" bldLvl="1" animBg="1" rev="0" advAuto="0" spid="275" grpId="24"/>
      <p:bldP build="whole" bldLvl="1" animBg="1" rev="0" advAuto="0" spid="255" grpId="2"/>
      <p:bldP build="whole" bldLvl="1" animBg="1" rev="0" advAuto="0" spid="267" grpId="5"/>
      <p:bldP build="whole" bldLvl="1" animBg="1" rev="0" advAuto="0" spid="258" grpId="11"/>
      <p:bldP build="whole" bldLvl="1" animBg="1" rev="0" advAuto="0" spid="257" grpId="4"/>
      <p:bldP build="whole" bldLvl="1" animBg="1" rev="0" advAuto="0" spid="268" grpId="6"/>
      <p:bldP build="whole" bldLvl="1" animBg="1" rev="0" advAuto="0" spid="272" grpId="21"/>
      <p:bldP build="whole" bldLvl="1" animBg="1" rev="0" advAuto="0" spid="262" grpId="15"/>
      <p:bldP build="whole" bldLvl="1" animBg="1" rev="0" advAuto="0" spid="261" grpId="14"/>
      <p:bldP build="whole" bldLvl="1" animBg="1" rev="0" advAuto="0" spid="263" grpId="16"/>
      <p:bldP build="whole" bldLvl="1" animBg="1" rev="0" advAuto="0" spid="269" grpId="7"/>
      <p:bldP build="whole" bldLvl="1" animBg="1" rev="0" advAuto="0" spid="265" grpId="18"/>
      <p:bldP build="whole" bldLvl="1" animBg="1" rev="0" advAuto="0" spid="274" grpId="23"/>
      <p:bldP build="whole" bldLvl="1" animBg="1" rev="0" advAuto="0" spid="256" grpId="3"/>
      <p:bldP build="whole" bldLvl="1" animBg="1" rev="0" advAuto="0" spid="270" grpId="8"/>
      <p:bldP build="whole" bldLvl="1" animBg="1" rev="0" advAuto="0" spid="264" grpId="17"/>
      <p:bldP build="whole" bldLvl="1" animBg="1" rev="0" advAuto="0" spid="276" grpId="25"/>
      <p:bldP build="whole" bldLvl="1" animBg="1" rev="0" advAuto="0" spid="271" grpId="20"/>
      <p:bldP build="whole" bldLvl="1" animBg="1" rev="0" advAuto="0" spid="279" grpId="28"/>
      <p:bldP build="whole" bldLvl="1" animBg="1" rev="0" advAuto="0" spid="278" grpId="27"/>
      <p:bldP build="whole" bldLvl="1" animBg="1" rev="0" advAuto="0" spid="259" grpId="12"/>
      <p:bldP build="whole" bldLvl="1" animBg="1" rev="0" advAuto="0" spid="277" grpId="26"/>
      <p:bldP build="whole" bldLvl="1" animBg="1" rev="0" advAuto="0" spid="254" grpId="1"/>
      <p:bldP build="whole" bldLvl="1" animBg="1" rev="0" advAuto="0" spid="266" grpId="19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x235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tool call, on the wire</a:t>
            </a:r>
          </a:p>
        </p:txBody>
      </p:sp>
      <p:sp>
        <p:nvSpPr>
          <p:cNvPr id="284" name="rc236"/>
          <p:cNvSpPr/>
          <p:nvPr/>
        </p:nvSpPr>
        <p:spPr>
          <a:xfrm>
            <a:off x="1508759" y="1325880"/>
            <a:ext cx="2468882" cy="64008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x237"/>
          <p:cNvSpPr txBox="1"/>
          <p:nvPr/>
        </p:nvSpPr>
        <p:spPr>
          <a:xfrm>
            <a:off x="1508759" y="1541086"/>
            <a:ext cx="246888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app (client)</a:t>
            </a:r>
          </a:p>
        </p:txBody>
      </p:sp>
      <p:sp>
        <p:nvSpPr>
          <p:cNvPr id="286" name="rc238"/>
          <p:cNvSpPr/>
          <p:nvPr/>
        </p:nvSpPr>
        <p:spPr>
          <a:xfrm>
            <a:off x="8458199" y="1325880"/>
            <a:ext cx="2468882" cy="64008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x239"/>
          <p:cNvSpPr txBox="1"/>
          <p:nvPr/>
        </p:nvSpPr>
        <p:spPr>
          <a:xfrm>
            <a:off x="8458199" y="1541086"/>
            <a:ext cx="246888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server</a:t>
            </a:r>
          </a:p>
        </p:txBody>
      </p:sp>
      <p:sp>
        <p:nvSpPr>
          <p:cNvPr id="288" name="ln240"/>
          <p:cNvSpPr/>
          <p:nvPr/>
        </p:nvSpPr>
        <p:spPr>
          <a:xfrm>
            <a:off x="2743200" y="2011679"/>
            <a:ext cx="92" cy="3657601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ln241"/>
          <p:cNvSpPr/>
          <p:nvPr/>
        </p:nvSpPr>
        <p:spPr>
          <a:xfrm>
            <a:off x="9692640" y="2011679"/>
            <a:ext cx="92" cy="3657601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c1_ln242"/>
          <p:cNvSpPr/>
          <p:nvPr/>
        </p:nvSpPr>
        <p:spPr>
          <a:xfrm>
            <a:off x="2788920" y="2468879"/>
            <a:ext cx="68580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c1_tx243"/>
          <p:cNvSpPr txBox="1"/>
          <p:nvPr/>
        </p:nvSpPr>
        <p:spPr>
          <a:xfrm>
            <a:off x="2926079" y="2159762"/>
            <a:ext cx="6583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  initialize</a:t>
            </a:r>
          </a:p>
        </p:txBody>
      </p:sp>
      <p:sp>
        <p:nvSpPr>
          <p:cNvPr id="292" name="c1_ln244"/>
          <p:cNvSpPr/>
          <p:nvPr/>
        </p:nvSpPr>
        <p:spPr>
          <a:xfrm flipH="1">
            <a:off x="2788919" y="2880360"/>
            <a:ext cx="68580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c1_tx245"/>
          <p:cNvSpPr txBox="1"/>
          <p:nvPr/>
        </p:nvSpPr>
        <p:spPr>
          <a:xfrm>
            <a:off x="2926079" y="2986278"/>
            <a:ext cx="65836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version, capabilities</a:t>
            </a:r>
          </a:p>
        </p:txBody>
      </p:sp>
      <p:sp>
        <p:nvSpPr>
          <p:cNvPr id="294" name="c2_ln246"/>
          <p:cNvSpPr/>
          <p:nvPr/>
        </p:nvSpPr>
        <p:spPr>
          <a:xfrm>
            <a:off x="2788920" y="3493008"/>
            <a:ext cx="68580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c2_tx247"/>
          <p:cNvSpPr txBox="1"/>
          <p:nvPr/>
        </p:nvSpPr>
        <p:spPr>
          <a:xfrm>
            <a:off x="2926079" y="3183890"/>
            <a:ext cx="6583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  tools/list</a:t>
            </a:r>
          </a:p>
        </p:txBody>
      </p:sp>
      <p:sp>
        <p:nvSpPr>
          <p:cNvPr id="296" name="c2_ln248"/>
          <p:cNvSpPr/>
          <p:nvPr/>
        </p:nvSpPr>
        <p:spPr>
          <a:xfrm flipH="1">
            <a:off x="2788919" y="3904488"/>
            <a:ext cx="68580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c2_tx249"/>
          <p:cNvSpPr txBox="1"/>
          <p:nvPr/>
        </p:nvSpPr>
        <p:spPr>
          <a:xfrm>
            <a:off x="2926079" y="4010406"/>
            <a:ext cx="65836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listVets: name, description, inputSchema</a:t>
            </a:r>
          </a:p>
        </p:txBody>
      </p:sp>
      <p:sp>
        <p:nvSpPr>
          <p:cNvPr id="298" name="c3_tx250"/>
          <p:cNvSpPr txBox="1"/>
          <p:nvPr/>
        </p:nvSpPr>
        <p:spPr>
          <a:xfrm>
            <a:off x="548640" y="4441304"/>
            <a:ext cx="676656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 “Which vets work here?”  →  the model picks listVets</a:t>
            </a:r>
          </a:p>
        </p:txBody>
      </p:sp>
      <p:sp>
        <p:nvSpPr>
          <p:cNvPr id="299" name="c4_ln251"/>
          <p:cNvSpPr/>
          <p:nvPr/>
        </p:nvSpPr>
        <p:spPr>
          <a:xfrm>
            <a:off x="2788920" y="5111496"/>
            <a:ext cx="68580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c4_tx252"/>
          <p:cNvSpPr txBox="1"/>
          <p:nvPr/>
        </p:nvSpPr>
        <p:spPr>
          <a:xfrm>
            <a:off x="2926079" y="4802377"/>
            <a:ext cx="6583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  tools/call  listVets  {}</a:t>
            </a:r>
          </a:p>
        </p:txBody>
      </p:sp>
      <p:sp>
        <p:nvSpPr>
          <p:cNvPr id="301" name="c4_ln253"/>
          <p:cNvSpPr/>
          <p:nvPr/>
        </p:nvSpPr>
        <p:spPr>
          <a:xfrm flipH="1">
            <a:off x="2788919" y="5522976"/>
            <a:ext cx="68580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c4_tx254"/>
          <p:cNvSpPr txBox="1"/>
          <p:nvPr/>
        </p:nvSpPr>
        <p:spPr>
          <a:xfrm>
            <a:off x="2926079" y="5628894"/>
            <a:ext cx="65836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content: Carter, Leary, Douglas, …</a:t>
            </a:r>
          </a:p>
        </p:txBody>
      </p:sp>
      <p:sp>
        <p:nvSpPr>
          <p:cNvPr id="303" name="c5_tx255"/>
          <p:cNvSpPr txBox="1"/>
          <p:nvPr/>
        </p:nvSpPr>
        <p:spPr>
          <a:xfrm>
            <a:off x="548640" y="6151232"/>
            <a:ext cx="73152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 the model answers in plain words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3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35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"/>
                            </p:stCondLst>
                            <p:childTnLst>
                              <p:par>
                                <p:cTn id="48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3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3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56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8" dur="3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3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0" grpId="11"/>
      <p:bldP build="whole" bldLvl="1" animBg="1" rev="0" advAuto="0" spid="303" grpId="14"/>
      <p:bldP build="whole" bldLvl="1" animBg="1" rev="0" advAuto="0" spid="294" grpId="5"/>
      <p:bldP build="whole" bldLvl="1" animBg="1" rev="0" advAuto="0" spid="298" grpId="9"/>
      <p:bldP build="whole" bldLvl="1" animBg="1" rev="0" advAuto="0" spid="291" grpId="2"/>
      <p:bldP build="whole" bldLvl="1" animBg="1" rev="0" advAuto="0" spid="293" grpId="4"/>
      <p:bldP build="whole" bldLvl="1" animBg="1" rev="0" advAuto="0" spid="297" grpId="8"/>
      <p:bldP build="whole" bldLvl="1" animBg="1" rev="0" advAuto="0" spid="302" grpId="13"/>
      <p:bldP build="whole" bldLvl="1" animBg="1" rev="0" advAuto="0" spid="299" grpId="10"/>
      <p:bldP build="whole" bldLvl="1" animBg="1" rev="0" advAuto="0" spid="295" grpId="6"/>
      <p:bldP build="whole" bldLvl="1" animBg="1" rev="0" advAuto="0" spid="301" grpId="12"/>
      <p:bldP build="whole" bldLvl="1" animBg="1" rev="0" advAuto="0" spid="296" grpId="7"/>
      <p:bldP build="whole" bldLvl="1" animBg="1" rev="0" advAuto="0" spid="290" grpId="1"/>
      <p:bldP build="whole" bldLvl="1" animBg="1" rev="0" advAuto="0" spid="292" grpId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x256"/>
          <p:cNvSpPr txBox="1"/>
          <p:nvPr/>
        </p:nvSpPr>
        <p:spPr>
          <a:xfrm>
            <a:off x="411480" y="366057"/>
            <a:ext cx="11338560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operation to MCP tool</a:t>
            </a:r>
          </a:p>
        </p:txBody>
      </p:sp>
      <p:sp>
        <p:nvSpPr>
          <p:cNvPr id="306" name="tx257"/>
          <p:cNvSpPr txBox="1"/>
          <p:nvPr/>
        </p:nvSpPr>
        <p:spPr>
          <a:xfrm>
            <a:off x="411480" y="978244"/>
            <a:ext cx="406908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operation</a:t>
            </a:r>
          </a:p>
        </p:txBody>
      </p:sp>
      <p:sp>
        <p:nvSpPr>
          <p:cNvPr id="307" name="tx258"/>
          <p:cNvSpPr txBox="1"/>
          <p:nvPr/>
        </p:nvSpPr>
        <p:spPr>
          <a:xfrm>
            <a:off x="411480" y="1344930"/>
            <a:ext cx="40690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getOwnerDetails.graphql</a:t>
            </a:r>
          </a:p>
        </p:txBody>
      </p:sp>
      <p:sp>
        <p:nvSpPr>
          <p:cNvPr id="308" name="tx259"/>
          <p:cNvSpPr txBox="1"/>
          <p:nvPr/>
        </p:nvSpPr>
        <p:spPr>
          <a:xfrm>
            <a:off x="5760719" y="978244"/>
            <a:ext cx="585216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tool</a:t>
            </a:r>
          </a:p>
        </p:txBody>
      </p:sp>
      <p:sp>
        <p:nvSpPr>
          <p:cNvPr id="309" name="rc260"/>
          <p:cNvSpPr/>
          <p:nvPr/>
        </p:nvSpPr>
        <p:spPr>
          <a:xfrm>
            <a:off x="411480" y="1685289"/>
            <a:ext cx="4069080" cy="1958087"/>
          </a:xfrm>
          <a:prstGeom prst="roundRect">
            <a:avLst>
              <a:gd name="adj" fmla="val 280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c1x2_hl261"/>
          <p:cNvSpPr/>
          <p:nvPr/>
        </p:nvSpPr>
        <p:spPr>
          <a:xfrm>
            <a:off x="484631" y="1877314"/>
            <a:ext cx="3922778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c2x3_hl262"/>
          <p:cNvSpPr/>
          <p:nvPr/>
        </p:nvSpPr>
        <p:spPr>
          <a:xfrm>
            <a:off x="484631" y="2099564"/>
            <a:ext cx="3922778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c3_hl263"/>
          <p:cNvSpPr/>
          <p:nvPr/>
        </p:nvSpPr>
        <p:spPr>
          <a:xfrm>
            <a:off x="484631" y="2099564"/>
            <a:ext cx="3922778" cy="135178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code264"/>
          <p:cNvSpPr txBox="1"/>
          <p:nvPr/>
        </p:nvSpPr>
        <p:spPr>
          <a:xfrm>
            <a:off x="612648" y="1886457"/>
            <a:ext cx="3666745" cy="1521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One owner with their pets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GetOwnerDetails($id: ID!)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owner(id: $id)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firstName lastName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pets { name type { name }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14" name="rc265"/>
          <p:cNvSpPr/>
          <p:nvPr/>
        </p:nvSpPr>
        <p:spPr>
          <a:xfrm>
            <a:off x="5760720" y="1463039"/>
            <a:ext cx="5852160" cy="4180587"/>
          </a:xfrm>
          <a:prstGeom prst="roundRect">
            <a:avLst>
              <a:gd name="adj" fmla="val 131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c1x2_hl266"/>
          <p:cNvSpPr/>
          <p:nvPr/>
        </p:nvSpPr>
        <p:spPr>
          <a:xfrm>
            <a:off x="5833871" y="1877314"/>
            <a:ext cx="5705857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c2x3_hl267"/>
          <p:cNvSpPr/>
          <p:nvPr/>
        </p:nvSpPr>
        <p:spPr>
          <a:xfrm>
            <a:off x="5833871" y="2099564"/>
            <a:ext cx="5705857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c3_hl268"/>
          <p:cNvSpPr/>
          <p:nvPr/>
        </p:nvSpPr>
        <p:spPr>
          <a:xfrm>
            <a:off x="5833871" y="3210814"/>
            <a:ext cx="5705857" cy="135178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code269"/>
          <p:cNvSpPr txBox="1"/>
          <p:nvPr/>
        </p:nvSpPr>
        <p:spPr>
          <a:xfrm>
            <a:off x="5961888" y="1664207"/>
            <a:ext cx="5449824" cy="368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@McpTool(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description = "One owner with their pets",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 = "getOwnerDetails")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Owner getOwnerDetails(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@McpToolParam(description = "Owner id")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String 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graphQlClient.document("""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query GetOwnerDetails($id: ID!)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owner(id: $id)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firstName lastName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pets { name type { name }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}""")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.variable("id", id)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.retrieveSync("owner")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.toEntity(Owner.class);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19" name="c1_ln270"/>
          <p:cNvSpPr/>
          <p:nvPr/>
        </p:nvSpPr>
        <p:spPr>
          <a:xfrm>
            <a:off x="4571999" y="1997582"/>
            <a:ext cx="1097282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c2_ln271"/>
          <p:cNvSpPr/>
          <p:nvPr/>
        </p:nvSpPr>
        <p:spPr>
          <a:xfrm flipV="1">
            <a:off x="4571999" y="2219832"/>
            <a:ext cx="1097282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c3_ln272"/>
          <p:cNvSpPr/>
          <p:nvPr/>
        </p:nvSpPr>
        <p:spPr>
          <a:xfrm>
            <a:off x="4571999" y="3108832"/>
            <a:ext cx="1097282" cy="333376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c1_tx273"/>
          <p:cNvSpPr txBox="1"/>
          <p:nvPr/>
        </p:nvSpPr>
        <p:spPr>
          <a:xfrm>
            <a:off x="4571999" y="1664287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323" name="c2_tx274"/>
          <p:cNvSpPr txBox="1"/>
          <p:nvPr/>
        </p:nvSpPr>
        <p:spPr>
          <a:xfrm>
            <a:off x="4571999" y="2343737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324" name="c3_tx275"/>
          <p:cNvSpPr txBox="1"/>
          <p:nvPr/>
        </p:nvSpPr>
        <p:spPr>
          <a:xfrm>
            <a:off x="4571999" y="3584400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325" name="tx276"/>
          <p:cNvSpPr txBox="1"/>
          <p:nvPr/>
        </p:nvSpPr>
        <p:spPr>
          <a:xfrm>
            <a:off x="411480" y="6085792"/>
            <a:ext cx="1133856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Written by hand with Spring AI's @McpTool and Spring's HttpSyncGraphQlClient.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xit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3" dur="300" fill="hold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"/>
                            </p:stCondLst>
                            <p:childTnLst>
                              <p:par>
                                <p:cTn id="30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1" dur="300" fill="hold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5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xit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8" dur="300" fill="hold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"/>
                            </p:stCondLst>
                            <p:childTnLst>
                              <p:par>
                                <p:cTn id="51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3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"/>
                            </p:stCondLst>
                            <p:childTnLst>
                              <p:par>
                                <p:cTn id="55" presetClass="exit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6" dur="300" fill="hold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35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3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50"/>
                            </p:stCondLst>
                            <p:childTnLst>
                              <p:par>
                                <p:cTn id="67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9" dur="3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0" grpId="9"/>
      <p:bldP build="whole" bldLvl="1" animBg="1" rev="0" advAuto="0" spid="316" grpId="13"/>
      <p:bldP build="whole" bldLvl="1" animBg="1" rev="0" advAuto="0" spid="315" grpId="2"/>
      <p:bldP build="whole" bldLvl="1" animBg="1" rev="0" advAuto="0" spid="317" grpId="14"/>
      <p:bldP build="whole" bldLvl="1" animBg="1" rev="0" advAuto="0" spid="324" grpId="16"/>
      <p:bldP build="whole" bldLvl="1" animBg="1" rev="0" advAuto="0" spid="322" grpId="4"/>
      <p:bldP build="whole" bldLvl="1" animBg="1" rev="0" advAuto="0" spid="315" grpId="7"/>
      <p:bldP build="whole" bldLvl="1" animBg="1" rev="0" advAuto="0" spid="319" grpId="3"/>
      <p:bldP build="whole" bldLvl="1" animBg="1" rev="0" advAuto="0" spid="312" grpId="12"/>
      <p:bldP build="whole" bldLvl="1" animBg="1" rev="0" advAuto="0" spid="323" grpId="10"/>
      <p:bldP build="whole" bldLvl="1" animBg="1" rev="0" advAuto="0" spid="311" grpId="6"/>
      <p:bldP build="whole" bldLvl="1" animBg="1" rev="0" advAuto="0" spid="321" grpId="15"/>
      <p:bldP build="whole" bldLvl="1" animBg="1" rev="0" advAuto="0" spid="310" grpId="1"/>
      <p:bldP build="whole" bldLvl="1" animBg="1" rev="0" advAuto="0" spid="311" grpId="11"/>
      <p:bldP build="whole" bldLvl="1" animBg="1" rev="0" advAuto="0" spid="316" grpId="8"/>
      <p:bldP build="whole" bldLvl="1" animBg="1" rev="0" advAuto="0" spid="310" grpId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x277"/>
          <p:cNvSpPr txBox="1"/>
          <p:nvPr/>
        </p:nvSpPr>
        <p:spPr>
          <a:xfrm>
            <a:off x="411480" y="366057"/>
            <a:ext cx="11338560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operation to in-process tool</a:t>
            </a:r>
          </a:p>
        </p:txBody>
      </p:sp>
      <p:sp>
        <p:nvSpPr>
          <p:cNvPr id="328" name="tx278"/>
          <p:cNvSpPr txBox="1"/>
          <p:nvPr/>
        </p:nvSpPr>
        <p:spPr>
          <a:xfrm>
            <a:off x="411480" y="978244"/>
            <a:ext cx="406908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operation</a:t>
            </a:r>
          </a:p>
        </p:txBody>
      </p:sp>
      <p:sp>
        <p:nvSpPr>
          <p:cNvPr id="329" name="tx279"/>
          <p:cNvSpPr txBox="1"/>
          <p:nvPr/>
        </p:nvSpPr>
        <p:spPr>
          <a:xfrm>
            <a:off x="411480" y="1344930"/>
            <a:ext cx="40690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getOwnerDetails.graphql</a:t>
            </a:r>
          </a:p>
        </p:txBody>
      </p:sp>
      <p:sp>
        <p:nvSpPr>
          <p:cNvPr id="330" name="tx280"/>
          <p:cNvSpPr txBox="1"/>
          <p:nvPr/>
        </p:nvSpPr>
        <p:spPr>
          <a:xfrm>
            <a:off x="5760719" y="978244"/>
            <a:ext cx="585216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In-process tool</a:t>
            </a:r>
          </a:p>
        </p:txBody>
      </p:sp>
      <p:sp>
        <p:nvSpPr>
          <p:cNvPr id="331" name="rc281"/>
          <p:cNvSpPr/>
          <p:nvPr/>
        </p:nvSpPr>
        <p:spPr>
          <a:xfrm>
            <a:off x="411480" y="1685289"/>
            <a:ext cx="4069080" cy="1958087"/>
          </a:xfrm>
          <a:prstGeom prst="roundRect">
            <a:avLst>
              <a:gd name="adj" fmla="val 280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c1x2_hl282"/>
          <p:cNvSpPr/>
          <p:nvPr/>
        </p:nvSpPr>
        <p:spPr>
          <a:xfrm>
            <a:off x="484631" y="1877314"/>
            <a:ext cx="3922778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c2x3_hl283"/>
          <p:cNvSpPr/>
          <p:nvPr/>
        </p:nvSpPr>
        <p:spPr>
          <a:xfrm>
            <a:off x="484631" y="2099564"/>
            <a:ext cx="3922778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c3_hl284"/>
          <p:cNvSpPr/>
          <p:nvPr/>
        </p:nvSpPr>
        <p:spPr>
          <a:xfrm>
            <a:off x="484631" y="2099564"/>
            <a:ext cx="3922778" cy="135178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code285"/>
          <p:cNvSpPr txBox="1"/>
          <p:nvPr/>
        </p:nvSpPr>
        <p:spPr>
          <a:xfrm>
            <a:off x="612648" y="1886457"/>
            <a:ext cx="3666745" cy="1521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One owner with their pets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GetOwnerDetails($id: ID!)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owner(id: $id)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firstName lastName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pets { name type { name }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36" name="rc286"/>
          <p:cNvSpPr/>
          <p:nvPr/>
        </p:nvSpPr>
        <p:spPr>
          <a:xfrm>
            <a:off x="5760720" y="1463039"/>
            <a:ext cx="5852160" cy="4180587"/>
          </a:xfrm>
          <a:prstGeom prst="roundRect">
            <a:avLst>
              <a:gd name="adj" fmla="val 131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c1x2_hl287"/>
          <p:cNvSpPr/>
          <p:nvPr/>
        </p:nvSpPr>
        <p:spPr>
          <a:xfrm>
            <a:off x="5833871" y="1877314"/>
            <a:ext cx="5705857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c2x3_hl288"/>
          <p:cNvSpPr/>
          <p:nvPr/>
        </p:nvSpPr>
        <p:spPr>
          <a:xfrm>
            <a:off x="5833871" y="2099564"/>
            <a:ext cx="5705857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c3_hl289"/>
          <p:cNvSpPr/>
          <p:nvPr/>
        </p:nvSpPr>
        <p:spPr>
          <a:xfrm>
            <a:off x="5833871" y="3210814"/>
            <a:ext cx="5705857" cy="135178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code290"/>
          <p:cNvSpPr txBox="1"/>
          <p:nvPr/>
        </p:nvSpPr>
        <p:spPr>
          <a:xfrm>
            <a:off x="5961888" y="1664207"/>
            <a:ext cx="5449824" cy="3680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@Tool(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description = "One owner with their pets",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name = "getOwnerDetails")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Owner getOwnerDetails(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@ToolParam(description = "Owner id")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String 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graphQlClient.document("""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query GetOwnerDetails($id: ID!)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owner(id: $id)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firstName lastName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pets { name type { name }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}""")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.variable("id", id)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.retrieveSync("owner")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.toEntity(Owner.class);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41" name="c1_ln291"/>
          <p:cNvSpPr/>
          <p:nvPr/>
        </p:nvSpPr>
        <p:spPr>
          <a:xfrm>
            <a:off x="4571999" y="1997582"/>
            <a:ext cx="1097282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c2_ln292"/>
          <p:cNvSpPr/>
          <p:nvPr/>
        </p:nvSpPr>
        <p:spPr>
          <a:xfrm flipV="1">
            <a:off x="4571999" y="2219832"/>
            <a:ext cx="1097282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c3_ln293"/>
          <p:cNvSpPr/>
          <p:nvPr/>
        </p:nvSpPr>
        <p:spPr>
          <a:xfrm>
            <a:off x="4571999" y="3108832"/>
            <a:ext cx="1097282" cy="333376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c1_tx294"/>
          <p:cNvSpPr txBox="1"/>
          <p:nvPr/>
        </p:nvSpPr>
        <p:spPr>
          <a:xfrm>
            <a:off x="4571999" y="1664287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345" name="c2_tx295"/>
          <p:cNvSpPr txBox="1"/>
          <p:nvPr/>
        </p:nvSpPr>
        <p:spPr>
          <a:xfrm>
            <a:off x="4571999" y="2343737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346" name="c3_tx296"/>
          <p:cNvSpPr txBox="1"/>
          <p:nvPr/>
        </p:nvSpPr>
        <p:spPr>
          <a:xfrm>
            <a:off x="4571999" y="3584400"/>
            <a:ext cx="10972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347" name="tx297"/>
          <p:cNvSpPr txBox="1"/>
          <p:nvPr/>
        </p:nvSpPr>
        <p:spPr>
          <a:xfrm>
            <a:off x="411480" y="6085792"/>
            <a:ext cx="1133856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Written by hand with Spring AI's @Tool and Spring's HttpSyncGraphQlClient.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xit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3" dur="300" fill="hold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"/>
                            </p:stCondLst>
                            <p:childTnLst>
                              <p:par>
                                <p:cTn id="30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1" dur="300" fill="hold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5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xit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8" dur="300" fill="hold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"/>
                            </p:stCondLst>
                            <p:childTnLst>
                              <p:par>
                                <p:cTn id="51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3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"/>
                            </p:stCondLst>
                            <p:childTnLst>
                              <p:par>
                                <p:cTn id="55" presetClass="exit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6" dur="300" fill="hold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35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35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50"/>
                            </p:stCondLst>
                            <p:childTnLst>
                              <p:par>
                                <p:cTn id="67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9" dur="35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6" grpId="16"/>
      <p:bldP build="whole" bldLvl="1" animBg="1" rev="0" advAuto="0" spid="345" grpId="10"/>
      <p:bldP build="whole" bldLvl="1" animBg="1" rev="0" advAuto="0" spid="334" grpId="12"/>
      <p:bldP build="whole" bldLvl="1" animBg="1" rev="0" advAuto="0" spid="337" grpId="2"/>
      <p:bldP build="whole" bldLvl="1" animBg="1" rev="0" advAuto="0" spid="333" grpId="6"/>
      <p:bldP build="whole" bldLvl="1" animBg="1" rev="0" advAuto="0" spid="333" grpId="11"/>
      <p:bldP build="whole" bldLvl="1" animBg="1" rev="0" advAuto="0" spid="337" grpId="7"/>
      <p:bldP build="whole" bldLvl="1" animBg="1" rev="0" advAuto="0" spid="338" grpId="8"/>
      <p:bldP build="whole" bldLvl="1" animBg="1" rev="0" advAuto="0" spid="344" grpId="4"/>
      <p:bldP build="whole" bldLvl="1" animBg="1" rev="0" advAuto="0" spid="341" grpId="3"/>
      <p:bldP build="whole" bldLvl="1" animBg="1" rev="0" advAuto="0" spid="338" grpId="13"/>
      <p:bldP build="whole" bldLvl="1" animBg="1" rev="0" advAuto="0" spid="339" grpId="14"/>
      <p:bldP build="whole" bldLvl="1" animBg="1" rev="0" advAuto="0" spid="343" grpId="15"/>
      <p:bldP build="whole" bldLvl="1" animBg="1" rev="0" advAuto="0" spid="332" grpId="1"/>
      <p:bldP build="whole" bldLvl="1" animBg="1" rev="0" advAuto="0" spid="342" grpId="9"/>
      <p:bldP build="whole" bldLvl="1" animBg="1" rev="0" advAuto="0" spid="332" grpId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x298"/>
          <p:cNvSpPr txBox="1"/>
          <p:nvPr/>
        </p:nvSpPr>
        <p:spPr>
          <a:xfrm>
            <a:off x="411480" y="479550"/>
            <a:ext cx="4526280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tool definition</a:t>
            </a:r>
          </a:p>
        </p:txBody>
      </p:sp>
      <p:sp>
        <p:nvSpPr>
          <p:cNvPr id="350" name="rc299"/>
          <p:cNvSpPr/>
          <p:nvPr/>
        </p:nvSpPr>
        <p:spPr>
          <a:xfrm>
            <a:off x="411480" y="960119"/>
            <a:ext cx="4526280" cy="3729103"/>
          </a:xfrm>
          <a:prstGeom prst="roundRect">
            <a:avLst>
              <a:gd name="adj" fmla="val 1471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c1_hl300"/>
          <p:cNvSpPr/>
          <p:nvPr/>
        </p:nvSpPr>
        <p:spPr>
          <a:xfrm>
            <a:off x="484631" y="1408049"/>
            <a:ext cx="4379978" cy="27419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c2_hl301"/>
          <p:cNvSpPr/>
          <p:nvPr/>
        </p:nvSpPr>
        <p:spPr>
          <a:xfrm>
            <a:off x="484631" y="1663954"/>
            <a:ext cx="4379978" cy="53009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c3_hl302"/>
          <p:cNvSpPr/>
          <p:nvPr/>
        </p:nvSpPr>
        <p:spPr>
          <a:xfrm>
            <a:off x="484631" y="2175764"/>
            <a:ext cx="4379978" cy="180962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c4_hl303"/>
          <p:cNvSpPr/>
          <p:nvPr/>
        </p:nvSpPr>
        <p:spPr>
          <a:xfrm>
            <a:off x="484631" y="3967098"/>
            <a:ext cx="4379978" cy="27419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code304"/>
          <p:cNvSpPr txBox="1"/>
          <p:nvPr/>
        </p:nvSpPr>
        <p:spPr>
          <a:xfrm>
            <a:off x="612648" y="1161287"/>
            <a:ext cx="4123945" cy="3300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"name": "getOwnerDetails",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"description":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"Returns one owner with their pets.",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"inputSchema": {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"type": "object",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"properties": {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"id": { "type": "string" }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},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"required": ["id"]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},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"outputSchema": { … }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56" name="c1_pl305"/>
          <p:cNvSpPr/>
          <p:nvPr/>
        </p:nvSpPr>
        <p:spPr>
          <a:xfrm>
            <a:off x="5120640" y="1421701"/>
            <a:ext cx="54864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c1_tx306"/>
          <p:cNvSpPr txBox="1"/>
          <p:nvPr/>
        </p:nvSpPr>
        <p:spPr>
          <a:xfrm>
            <a:off x="5120640" y="1471231"/>
            <a:ext cx="54864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358" name="c2_pl307"/>
          <p:cNvSpPr/>
          <p:nvPr/>
        </p:nvSpPr>
        <p:spPr>
          <a:xfrm>
            <a:off x="5120640" y="1805558"/>
            <a:ext cx="102870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c2_tx308"/>
          <p:cNvSpPr txBox="1"/>
          <p:nvPr/>
        </p:nvSpPr>
        <p:spPr>
          <a:xfrm>
            <a:off x="5120640" y="1855088"/>
            <a:ext cx="10287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360" name="c2_ln309"/>
          <p:cNvSpPr/>
          <p:nvPr/>
        </p:nvSpPr>
        <p:spPr>
          <a:xfrm>
            <a:off x="5047488" y="1709673"/>
            <a:ext cx="92" cy="438659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c3_pl310"/>
          <p:cNvSpPr/>
          <p:nvPr/>
        </p:nvSpPr>
        <p:spPr>
          <a:xfrm>
            <a:off x="5120640" y="2957132"/>
            <a:ext cx="61722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c3_tx311"/>
          <p:cNvSpPr txBox="1"/>
          <p:nvPr/>
        </p:nvSpPr>
        <p:spPr>
          <a:xfrm>
            <a:off x="5120640" y="3006661"/>
            <a:ext cx="6172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363" name="c3_ln312"/>
          <p:cNvSpPr/>
          <p:nvPr/>
        </p:nvSpPr>
        <p:spPr>
          <a:xfrm>
            <a:off x="5047488" y="2221484"/>
            <a:ext cx="92" cy="171818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c4_pl313"/>
          <p:cNvSpPr/>
          <p:nvPr/>
        </p:nvSpPr>
        <p:spPr>
          <a:xfrm>
            <a:off x="5120640" y="3980751"/>
            <a:ext cx="68580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c4_tx314"/>
          <p:cNvSpPr txBox="1"/>
          <p:nvPr/>
        </p:nvSpPr>
        <p:spPr>
          <a:xfrm>
            <a:off x="5120640" y="4030281"/>
            <a:ext cx="6858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66" name="c5_tx315"/>
          <p:cNvSpPr txBox="1"/>
          <p:nvPr/>
        </p:nvSpPr>
        <p:spPr>
          <a:xfrm>
            <a:off x="6172200" y="479550"/>
            <a:ext cx="4526280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operation</a:t>
            </a:r>
          </a:p>
        </p:txBody>
      </p:sp>
      <p:sp>
        <p:nvSpPr>
          <p:cNvPr id="367" name="c5_rc316"/>
          <p:cNvSpPr/>
          <p:nvPr/>
        </p:nvSpPr>
        <p:spPr>
          <a:xfrm>
            <a:off x="6172200" y="960119"/>
            <a:ext cx="4526280" cy="2705482"/>
          </a:xfrm>
          <a:prstGeom prst="roundRect">
            <a:avLst>
              <a:gd name="adj" fmla="val 2028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c5_hl317"/>
          <p:cNvSpPr/>
          <p:nvPr/>
        </p:nvSpPr>
        <p:spPr>
          <a:xfrm>
            <a:off x="6245352" y="1152144"/>
            <a:ext cx="4379977" cy="27419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c5_hl318"/>
          <p:cNvSpPr/>
          <p:nvPr/>
        </p:nvSpPr>
        <p:spPr>
          <a:xfrm>
            <a:off x="6245352" y="1408049"/>
            <a:ext cx="4379977" cy="27419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c5_hl319"/>
          <p:cNvSpPr/>
          <p:nvPr/>
        </p:nvSpPr>
        <p:spPr>
          <a:xfrm>
            <a:off x="6245352" y="1663954"/>
            <a:ext cx="4379977" cy="274194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c5_hl320"/>
          <p:cNvSpPr/>
          <p:nvPr/>
        </p:nvSpPr>
        <p:spPr>
          <a:xfrm>
            <a:off x="6245352" y="2175764"/>
            <a:ext cx="4379977" cy="104190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c5_code321"/>
          <p:cNvSpPr txBox="1"/>
          <p:nvPr/>
        </p:nvSpPr>
        <p:spPr>
          <a:xfrm>
            <a:off x="6373367" y="1161287"/>
            <a:ext cx="4123945" cy="228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Returns one owner with their pets.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GetOwnerDetails(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$id: ID!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 {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owner(id: $id) {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firstName lastName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pets { name type { name } }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ts val="20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73" name="c5_pl322"/>
          <p:cNvSpPr/>
          <p:nvPr/>
        </p:nvSpPr>
        <p:spPr>
          <a:xfrm>
            <a:off x="10881359" y="1165796"/>
            <a:ext cx="102870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c5_tx323"/>
          <p:cNvSpPr txBox="1"/>
          <p:nvPr/>
        </p:nvSpPr>
        <p:spPr>
          <a:xfrm>
            <a:off x="10881359" y="1215326"/>
            <a:ext cx="10287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375" name="c5_pl324"/>
          <p:cNvSpPr/>
          <p:nvPr/>
        </p:nvSpPr>
        <p:spPr>
          <a:xfrm>
            <a:off x="10881359" y="1421701"/>
            <a:ext cx="54864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c5_tx325"/>
          <p:cNvSpPr txBox="1"/>
          <p:nvPr/>
        </p:nvSpPr>
        <p:spPr>
          <a:xfrm>
            <a:off x="10881359" y="1471231"/>
            <a:ext cx="54864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377" name="c5_pl326"/>
          <p:cNvSpPr/>
          <p:nvPr/>
        </p:nvSpPr>
        <p:spPr>
          <a:xfrm>
            <a:off x="10881359" y="1677607"/>
            <a:ext cx="61722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c5_tx327"/>
          <p:cNvSpPr txBox="1"/>
          <p:nvPr/>
        </p:nvSpPr>
        <p:spPr>
          <a:xfrm>
            <a:off x="10881359" y="1727136"/>
            <a:ext cx="6172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379" name="c5_pl328"/>
          <p:cNvSpPr/>
          <p:nvPr/>
        </p:nvSpPr>
        <p:spPr>
          <a:xfrm>
            <a:off x="10881359" y="2573273"/>
            <a:ext cx="685801" cy="246889"/>
          </a:xfrm>
          <a:prstGeom prst="roundRect">
            <a:avLst>
              <a:gd name="adj" fmla="val 48148"/>
            </a:avLst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c5_tx329"/>
          <p:cNvSpPr txBox="1"/>
          <p:nvPr/>
        </p:nvSpPr>
        <p:spPr>
          <a:xfrm>
            <a:off x="10881359" y="2622803"/>
            <a:ext cx="6858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81" name="c5_ln330"/>
          <p:cNvSpPr/>
          <p:nvPr/>
        </p:nvSpPr>
        <p:spPr>
          <a:xfrm>
            <a:off x="10808207" y="2221483"/>
            <a:ext cx="92" cy="950468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5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35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"/>
                            </p:stCondLst>
                            <p:childTnLst>
                              <p:par>
                                <p:cTn id="39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35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"/>
                            </p:stCondLst>
                            <p:childTnLst>
                              <p:par>
                                <p:cTn id="43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50"/>
                            </p:stCondLst>
                            <p:childTnLst>
                              <p:par>
                                <p:cTn id="47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35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3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"/>
                            </p:stCondLst>
                            <p:childTnLst>
                              <p:par>
                                <p:cTn id="56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8" dur="35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60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2" dur="3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3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"/>
                            </p:stCondLst>
                            <p:childTnLst>
                              <p:par>
                                <p:cTn id="69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3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"/>
                            </p:stCondLst>
                            <p:childTnLst>
                              <p:par>
                                <p:cTn id="73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35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50"/>
                            </p:stCondLst>
                            <p:childTnLst>
                              <p:par>
                                <p:cTn id="77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35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00"/>
                            </p:stCondLst>
                            <p:childTnLst>
                              <p:par>
                                <p:cTn id="81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3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50"/>
                            </p:stCondLst>
                            <p:childTnLst>
                              <p:par>
                                <p:cTn id="85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35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"/>
                            </p:stCondLst>
                            <p:childTnLst>
                              <p:par>
                                <p:cTn id="89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35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450"/>
                            </p:stCondLst>
                            <p:childTnLst>
                              <p:par>
                                <p:cTn id="93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35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800"/>
                            </p:stCondLst>
                            <p:childTnLst>
                              <p:par>
                                <p:cTn id="97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3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50"/>
                            </p:stCondLst>
                            <p:childTnLst>
                              <p:par>
                                <p:cTn id="101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35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00"/>
                            </p:stCondLst>
                            <p:childTnLst>
                              <p:par>
                                <p:cTn id="105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35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850"/>
                            </p:stCondLst>
                            <p:childTnLst>
                              <p:par>
                                <p:cTn id="109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1" dur="35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200"/>
                            </p:stCondLst>
                            <p:childTnLst>
                              <p:par>
                                <p:cTn id="113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5" dur="35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50"/>
                            </p:stCondLst>
                            <p:childTnLst>
                              <p:par>
                                <p:cTn id="117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9" dur="35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900"/>
                            </p:stCondLst>
                            <p:childTnLst>
                              <p:par>
                                <p:cTn id="121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3" dur="35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250"/>
                            </p:stCondLst>
                            <p:childTnLst>
                              <p:par>
                                <p:cTn id="125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7" dur="35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1" grpId="30"/>
      <p:bldP build="whole" bldLvl="1" animBg="1" rev="0" advAuto="0" spid="364" grpId="13"/>
      <p:bldP build="whole" bldLvl="1" animBg="1" rev="0" advAuto="0" spid="363" grpId="11"/>
      <p:bldP build="whole" bldLvl="1" animBg="1" rev="0" advAuto="0" spid="378" grpId="27"/>
      <p:bldP build="whole" bldLvl="1" animBg="1" rev="0" advAuto="0" spid="377" grpId="26"/>
      <p:bldP build="whole" bldLvl="1" animBg="1" rev="0" advAuto="0" spid="376" grpId="25"/>
      <p:bldP build="whole" bldLvl="1" animBg="1" rev="0" advAuto="0" spid="356" grpId="2"/>
      <p:bldP build="whole" bldLvl="1" animBg="1" rev="0" advAuto="0" spid="374" grpId="23"/>
      <p:bldP build="whole" bldLvl="1" animBg="1" rev="0" advAuto="0" spid="358" grpId="5"/>
      <p:bldP build="whole" bldLvl="1" animBg="1" rev="0" advAuto="0" spid="373" grpId="22"/>
      <p:bldP build="whole" bldLvl="1" animBg="1" rev="0" advAuto="0" spid="361" grpId="9"/>
      <p:bldP build="whole" bldLvl="1" animBg="1" rev="0" advAuto="0" spid="370" grpId="19"/>
      <p:bldP build="whole" bldLvl="1" animBg="1" rev="0" advAuto="0" spid="357" grpId="3"/>
      <p:bldP build="whole" bldLvl="1" animBg="1" rev="0" advAuto="0" spid="372" grpId="21"/>
      <p:bldP build="whole" bldLvl="1" animBg="1" rev="0" advAuto="0" spid="375" grpId="24"/>
      <p:bldP build="whole" bldLvl="1" animBg="1" rev="0" advAuto="0" spid="366" grpId="15"/>
      <p:bldP build="whole" bldLvl="1" animBg="1" rev="0" advAuto="0" spid="359" grpId="6"/>
      <p:bldP build="whole" bldLvl="1" animBg="1" rev="0" advAuto="0" spid="351" grpId="1"/>
      <p:bldP build="whole" bldLvl="1" animBg="1" rev="0" advAuto="0" spid="362" grpId="10"/>
      <p:bldP build="whole" bldLvl="1" animBg="1" rev="0" advAuto="0" spid="371" grpId="20"/>
      <p:bldP build="whole" bldLvl="1" animBg="1" rev="0" advAuto="0" spid="365" grpId="14"/>
      <p:bldP build="whole" bldLvl="1" animBg="1" rev="0" advAuto="0" spid="352" grpId="4"/>
      <p:bldP build="whole" bldLvl="1" animBg="1" rev="0" advAuto="0" spid="367" grpId="16"/>
      <p:bldP build="whole" bldLvl="1" animBg="1" rev="0" advAuto="0" spid="360" grpId="7"/>
      <p:bldP build="whole" bldLvl="1" animBg="1" rev="0" advAuto="0" spid="368" grpId="17"/>
      <p:bldP build="whole" bldLvl="1" animBg="1" rev="0" advAuto="0" spid="354" grpId="12"/>
      <p:bldP build="whole" bldLvl="1" animBg="1" rev="0" advAuto="0" spid="379" grpId="28"/>
      <p:bldP build="whole" bldLvl="1" animBg="1" rev="0" advAuto="0" spid="380" grpId="29"/>
      <p:bldP build="whole" bldLvl="1" animBg="1" rev="0" advAuto="0" spid="369" grpId="18"/>
      <p:bldP build="whole" bldLvl="1" animBg="1" rev="0" advAuto="0" spid="353" grpId="8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c331"/>
          <p:cNvSpPr/>
          <p:nvPr/>
        </p:nvSpPr>
        <p:spPr>
          <a:xfrm>
            <a:off x="9372600" y="914400"/>
            <a:ext cx="2514600" cy="475488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x332"/>
          <p:cNvSpPr txBox="1"/>
          <p:nvPr/>
        </p:nvSpPr>
        <p:spPr>
          <a:xfrm>
            <a:off x="9372600" y="1152466"/>
            <a:ext cx="251460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data &amp; processes</a:t>
            </a:r>
          </a:p>
        </p:txBody>
      </p:sp>
      <p:grpSp>
        <p:nvGrpSpPr>
          <p:cNvPr id="388" name="db333"/>
          <p:cNvGrpSpPr/>
          <p:nvPr/>
        </p:nvGrpSpPr>
        <p:grpSpPr>
          <a:xfrm>
            <a:off x="9692640" y="1783079"/>
            <a:ext cx="914401" cy="1143001"/>
            <a:chOff x="0" y="0"/>
            <a:chExt cx="914400" cy="1143000"/>
          </a:xfrm>
        </p:grpSpPr>
        <p:sp>
          <p:nvSpPr>
            <p:cNvPr id="385" name="Shap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"/>
                  </a:move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6" name="Oval"/>
            <p:cNvSpPr/>
            <p:nvPr/>
          </p:nvSpPr>
          <p:spPr>
            <a:xfrm>
              <a:off x="0" y="-1"/>
              <a:ext cx="914400" cy="22860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7" name="Lin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"/>
                  </a:moveTo>
                  <a:cubicBezTo>
                    <a:pt x="21600" y="3353"/>
                    <a:pt x="16765" y="4320"/>
                    <a:pt x="10800" y="4320"/>
                  </a:cubicBezTo>
                  <a:cubicBezTo>
                    <a:pt x="4835" y="4320"/>
                    <a:pt x="0" y="3353"/>
                    <a:pt x="0" y="2160"/>
                  </a:cubicBez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lnTo>
                    <a:pt x="0" y="2160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92" name="db334"/>
          <p:cNvGrpSpPr/>
          <p:nvPr/>
        </p:nvGrpSpPr>
        <p:grpSpPr>
          <a:xfrm>
            <a:off x="10652759" y="2103120"/>
            <a:ext cx="914401" cy="1143001"/>
            <a:chOff x="0" y="0"/>
            <a:chExt cx="914400" cy="1143000"/>
          </a:xfrm>
        </p:grpSpPr>
        <p:sp>
          <p:nvSpPr>
            <p:cNvPr id="389" name="Shap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"/>
                  </a:move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0" name="Oval"/>
            <p:cNvSpPr/>
            <p:nvPr/>
          </p:nvSpPr>
          <p:spPr>
            <a:xfrm>
              <a:off x="0" y="-1"/>
              <a:ext cx="914400" cy="22860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1" name="Line"/>
            <p:cNvSpPr/>
            <p:nvPr/>
          </p:nvSpPr>
          <p:spPr>
            <a:xfrm>
              <a:off x="0" y="0"/>
              <a:ext cx="914401" cy="1143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"/>
                  </a:moveTo>
                  <a:cubicBezTo>
                    <a:pt x="21600" y="3353"/>
                    <a:pt x="16765" y="4320"/>
                    <a:pt x="10800" y="4320"/>
                  </a:cubicBezTo>
                  <a:cubicBezTo>
                    <a:pt x="4835" y="4320"/>
                    <a:pt x="0" y="3353"/>
                    <a:pt x="0" y="2160"/>
                  </a:cubicBezTo>
                  <a:cubicBezTo>
                    <a:pt x="0" y="967"/>
                    <a:pt x="4835" y="0"/>
                    <a:pt x="10800" y="0"/>
                  </a:cubicBezTo>
                  <a:cubicBezTo>
                    <a:pt x="16765" y="0"/>
                    <a:pt x="21600" y="967"/>
                    <a:pt x="21600" y="2160"/>
                  </a:cubicBezTo>
                  <a:lnTo>
                    <a:pt x="21600" y="19440"/>
                  </a:lnTo>
                  <a:cubicBezTo>
                    <a:pt x="21600" y="20633"/>
                    <a:pt x="16765" y="21600"/>
                    <a:pt x="10800" y="21600"/>
                  </a:cubicBezTo>
                  <a:cubicBezTo>
                    <a:pt x="4835" y="21600"/>
                    <a:pt x="0" y="20633"/>
                    <a:pt x="0" y="19440"/>
                  </a:cubicBezTo>
                  <a:lnTo>
                    <a:pt x="0" y="2160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93" name="rc335"/>
          <p:cNvSpPr/>
          <p:nvPr/>
        </p:nvSpPr>
        <p:spPr>
          <a:xfrm>
            <a:off x="9692640" y="3703320"/>
            <a:ext cx="1874521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x336"/>
          <p:cNvSpPr txBox="1"/>
          <p:nvPr/>
        </p:nvSpPr>
        <p:spPr>
          <a:xfrm>
            <a:off x="9692640" y="3872806"/>
            <a:ext cx="18745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395" name="rc337"/>
          <p:cNvSpPr/>
          <p:nvPr/>
        </p:nvSpPr>
        <p:spPr>
          <a:xfrm>
            <a:off x="9692640" y="4480559"/>
            <a:ext cx="1874521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x338"/>
          <p:cNvSpPr txBox="1"/>
          <p:nvPr/>
        </p:nvSpPr>
        <p:spPr>
          <a:xfrm>
            <a:off x="9692640" y="4650045"/>
            <a:ext cx="18745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service</a:t>
            </a:r>
          </a:p>
        </p:txBody>
      </p:sp>
      <p:sp>
        <p:nvSpPr>
          <p:cNvPr id="397" name="rc339"/>
          <p:cNvSpPr/>
          <p:nvPr/>
        </p:nvSpPr>
        <p:spPr>
          <a:xfrm>
            <a:off x="685800" y="868680"/>
            <a:ext cx="1188720" cy="8686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ln340"/>
          <p:cNvSpPr/>
          <p:nvPr/>
        </p:nvSpPr>
        <p:spPr>
          <a:xfrm>
            <a:off x="685800" y="1069847"/>
            <a:ext cx="1188721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ov341"/>
          <p:cNvSpPr/>
          <p:nvPr/>
        </p:nvSpPr>
        <p:spPr>
          <a:xfrm>
            <a:off x="763523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ov342"/>
          <p:cNvSpPr/>
          <p:nvPr/>
        </p:nvSpPr>
        <p:spPr>
          <a:xfrm>
            <a:off x="891539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ov343"/>
          <p:cNvSpPr/>
          <p:nvPr/>
        </p:nvSpPr>
        <p:spPr>
          <a:xfrm>
            <a:off x="1019555" y="937260"/>
            <a:ext cx="64009" cy="64009"/>
          </a:xfrm>
          <a:prstGeom prst="ellips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ln344"/>
          <p:cNvSpPr/>
          <p:nvPr/>
        </p:nvSpPr>
        <p:spPr>
          <a:xfrm>
            <a:off x="850391" y="1280160"/>
            <a:ext cx="795530" cy="92"/>
          </a:xfrm>
          <a:prstGeom prst="line">
            <a:avLst/>
          </a:prstGeom>
          <a:ln w="1905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ln345"/>
          <p:cNvSpPr/>
          <p:nvPr/>
        </p:nvSpPr>
        <p:spPr>
          <a:xfrm>
            <a:off x="850391" y="1435608"/>
            <a:ext cx="566930" cy="92"/>
          </a:xfrm>
          <a:prstGeom prst="line">
            <a:avLst/>
          </a:prstGeom>
          <a:ln w="1905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rc346"/>
          <p:cNvSpPr/>
          <p:nvPr/>
        </p:nvSpPr>
        <p:spPr>
          <a:xfrm>
            <a:off x="1033272" y="2240279"/>
            <a:ext cx="502920" cy="868681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ln347"/>
          <p:cNvSpPr/>
          <p:nvPr/>
        </p:nvSpPr>
        <p:spPr>
          <a:xfrm>
            <a:off x="1211580" y="2999232"/>
            <a:ext cx="146305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ln348"/>
          <p:cNvSpPr/>
          <p:nvPr/>
        </p:nvSpPr>
        <p:spPr>
          <a:xfrm>
            <a:off x="1257300" y="4279391"/>
            <a:ext cx="92" cy="15636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ov349"/>
          <p:cNvSpPr/>
          <p:nvPr/>
        </p:nvSpPr>
        <p:spPr>
          <a:xfrm>
            <a:off x="1213866" y="4235958"/>
            <a:ext cx="86869" cy="86869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rc350"/>
          <p:cNvSpPr/>
          <p:nvPr/>
        </p:nvSpPr>
        <p:spPr>
          <a:xfrm>
            <a:off x="996696" y="4435754"/>
            <a:ext cx="521209" cy="390907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ov351"/>
          <p:cNvSpPr/>
          <p:nvPr/>
        </p:nvSpPr>
        <p:spPr>
          <a:xfrm>
            <a:off x="1109624" y="4574742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ov352"/>
          <p:cNvSpPr/>
          <p:nvPr/>
        </p:nvSpPr>
        <p:spPr>
          <a:xfrm>
            <a:off x="1335480" y="4574742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ln353"/>
          <p:cNvSpPr/>
          <p:nvPr/>
        </p:nvSpPr>
        <p:spPr>
          <a:xfrm>
            <a:off x="1153058" y="4731106"/>
            <a:ext cx="208484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rc354"/>
          <p:cNvSpPr/>
          <p:nvPr/>
        </p:nvSpPr>
        <p:spPr>
          <a:xfrm>
            <a:off x="944574" y="4887467"/>
            <a:ext cx="625451" cy="538583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ln355"/>
          <p:cNvSpPr/>
          <p:nvPr/>
        </p:nvSpPr>
        <p:spPr>
          <a:xfrm flipH="1">
            <a:off x="718717" y="4991710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ln356"/>
          <p:cNvSpPr/>
          <p:nvPr/>
        </p:nvSpPr>
        <p:spPr>
          <a:xfrm>
            <a:off x="1570025" y="4991710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ln357"/>
          <p:cNvSpPr/>
          <p:nvPr/>
        </p:nvSpPr>
        <p:spPr>
          <a:xfrm>
            <a:off x="1100938" y="5426049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ln358"/>
          <p:cNvSpPr/>
          <p:nvPr/>
        </p:nvSpPr>
        <p:spPr>
          <a:xfrm>
            <a:off x="1413661" y="5426049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ln359"/>
          <p:cNvSpPr/>
          <p:nvPr/>
        </p:nvSpPr>
        <p:spPr>
          <a:xfrm>
            <a:off x="1828800" y="5056632"/>
            <a:ext cx="96012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rc360"/>
          <p:cNvSpPr/>
          <p:nvPr/>
        </p:nvSpPr>
        <p:spPr>
          <a:xfrm>
            <a:off x="2743200" y="4709159"/>
            <a:ext cx="1188720" cy="694945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tx361"/>
          <p:cNvSpPr txBox="1"/>
          <p:nvPr/>
        </p:nvSpPr>
        <p:spPr>
          <a:xfrm>
            <a:off x="2743200" y="4914736"/>
            <a:ext cx="118872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420" name="ln362"/>
          <p:cNvSpPr/>
          <p:nvPr/>
        </p:nvSpPr>
        <p:spPr>
          <a:xfrm>
            <a:off x="2514600" y="1298447"/>
            <a:ext cx="4297681" cy="171907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ln363"/>
          <p:cNvSpPr/>
          <p:nvPr/>
        </p:nvSpPr>
        <p:spPr>
          <a:xfrm>
            <a:off x="2514600" y="2670048"/>
            <a:ext cx="4233672" cy="57607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ln364"/>
          <p:cNvSpPr/>
          <p:nvPr/>
        </p:nvSpPr>
        <p:spPr>
          <a:xfrm flipV="1">
            <a:off x="3931920" y="3611879"/>
            <a:ext cx="2926081" cy="1444753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ln365"/>
          <p:cNvSpPr/>
          <p:nvPr/>
        </p:nvSpPr>
        <p:spPr>
          <a:xfrm>
            <a:off x="8046719" y="3268979"/>
            <a:ext cx="1325881" cy="92"/>
          </a:xfrm>
          <a:prstGeom prst="line">
            <a:avLst/>
          </a:prstGeom>
          <a:ln w="38100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424" name="gql366" descr="gql36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75119" y="2606039"/>
            <a:ext cx="1325881" cy="1325881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tx367"/>
          <p:cNvSpPr txBox="1"/>
          <p:nvPr/>
        </p:nvSpPr>
        <p:spPr>
          <a:xfrm>
            <a:off x="6309359" y="4081201"/>
            <a:ext cx="20574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100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426" name="c1_red368"/>
          <p:cNvSpPr/>
          <p:nvPr/>
        </p:nvSpPr>
        <p:spPr>
          <a:xfrm>
            <a:off x="274319" y="530351"/>
            <a:ext cx="2011682" cy="2926082"/>
          </a:xfrm>
          <a:prstGeom prst="ellipse">
            <a:avLst/>
          </a:prstGeom>
          <a:ln w="5080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c2_red369"/>
          <p:cNvSpPr/>
          <p:nvPr/>
        </p:nvSpPr>
        <p:spPr>
          <a:xfrm>
            <a:off x="182879" y="3794759"/>
            <a:ext cx="4389122" cy="2377441"/>
          </a:xfrm>
          <a:prstGeom prst="ellipse">
            <a:avLst/>
          </a:prstGeom>
          <a:ln w="5080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5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6" grpId="1"/>
      <p:bldP build="whole" bldLvl="1" animBg="1" rev="0" advAuto="0" spid="42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2711" y="502919"/>
            <a:ext cx="8306273" cy="5349242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Text 0"/>
          <p:cNvSpPr txBox="1"/>
          <p:nvPr/>
        </p:nvSpPr>
        <p:spPr>
          <a:xfrm>
            <a:off x="-1" y="6121145"/>
            <a:ext cx="1219169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ea typeface="Arial"/>
                <a:cs typeface="Arial"/>
                <a:sym typeface="Arial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8A8A8A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youtube.com/watch?v=Wm2h0cbvsw8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x370"/>
          <p:cNvSpPr txBox="1"/>
          <p:nvPr/>
        </p:nvSpPr>
        <p:spPr>
          <a:xfrm>
            <a:off x="-1" y="1368479"/>
            <a:ext cx="12191697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ATQL</a:t>
            </a:r>
          </a:p>
        </p:txBody>
      </p:sp>
      <p:sp>
        <p:nvSpPr>
          <p:cNvPr id="433" name="c1_ln371"/>
          <p:cNvSpPr/>
          <p:nvPr/>
        </p:nvSpPr>
        <p:spPr>
          <a:xfrm>
            <a:off x="5349240" y="1645920"/>
            <a:ext cx="1508761" cy="92"/>
          </a:xfrm>
          <a:prstGeom prst="line">
            <a:avLst/>
          </a:prstGeom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c1_tx372"/>
          <p:cNvSpPr txBox="1"/>
          <p:nvPr/>
        </p:nvSpPr>
        <p:spPr>
          <a:xfrm>
            <a:off x="-1" y="2226073"/>
            <a:ext cx="12191697" cy="85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GATool</a:t>
            </a:r>
          </a:p>
        </p:txBody>
      </p:sp>
      <p:sp>
        <p:nvSpPr>
          <p:cNvPr id="435" name="c2_tx373"/>
          <p:cNvSpPr txBox="1"/>
          <p:nvPr/>
        </p:nvSpPr>
        <p:spPr>
          <a:xfrm>
            <a:off x="-1" y="3301905"/>
            <a:ext cx="12191697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rhymes with cool</a:t>
            </a:r>
          </a:p>
        </p:txBody>
      </p:sp>
      <p:sp>
        <p:nvSpPr>
          <p:cNvPr id="436" name="c3_tx374"/>
          <p:cNvSpPr txBox="1"/>
          <p:nvPr/>
        </p:nvSpPr>
        <p:spPr>
          <a:xfrm>
            <a:off x="-1" y="4320030"/>
            <a:ext cx="12191697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Generic API Tool  ·  GraphQL Agent Tool  ·  General Availability Tool</a:t>
            </a:r>
          </a:p>
        </p:txBody>
      </p:sp>
      <p:sp>
        <p:nvSpPr>
          <p:cNvPr id="437" name="c3_tx375"/>
          <p:cNvSpPr txBox="1"/>
          <p:nvPr/>
        </p:nvSpPr>
        <p:spPr>
          <a:xfrm>
            <a:off x="-1" y="4914390"/>
            <a:ext cx="12191697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Generic Agentic Tool  ·  Generic Algorithm Tool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35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35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5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7" grpId="5"/>
      <p:bldP build="whole" bldLvl="1" animBg="1" rev="0" advAuto="0" spid="435" grpId="3"/>
      <p:bldP build="whole" bldLvl="1" animBg="1" rev="0" advAuto="0" spid="434" grpId="2"/>
      <p:bldP build="whole" bldLvl="1" animBg="1" rev="0" advAuto="0" spid="436" grpId="4"/>
      <p:bldP build="whole" bldLvl="1" animBg="1" rev="0" advAuto="0" spid="43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x376"/>
          <p:cNvSpPr txBox="1"/>
          <p:nvPr/>
        </p:nvSpPr>
        <p:spPr>
          <a:xfrm>
            <a:off x="548640" y="1219129"/>
            <a:ext cx="36576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curated operations</a:t>
            </a:r>
          </a:p>
        </p:txBody>
      </p:sp>
      <p:sp>
        <p:nvSpPr>
          <p:cNvPr id="440" name="rc377"/>
          <p:cNvSpPr/>
          <p:nvPr/>
        </p:nvSpPr>
        <p:spPr>
          <a:xfrm>
            <a:off x="548640" y="1828799"/>
            <a:ext cx="3383280" cy="73152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ln378"/>
          <p:cNvSpPr/>
          <p:nvPr/>
        </p:nvSpPr>
        <p:spPr>
          <a:xfrm>
            <a:off x="3657599" y="1828799"/>
            <a:ext cx="274322" cy="27432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tx379"/>
          <p:cNvSpPr txBox="1"/>
          <p:nvPr/>
        </p:nvSpPr>
        <p:spPr>
          <a:xfrm>
            <a:off x="731519" y="2092960"/>
            <a:ext cx="30175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findPets.graphql</a:t>
            </a:r>
          </a:p>
        </p:txBody>
      </p:sp>
      <p:sp>
        <p:nvSpPr>
          <p:cNvPr id="443" name="rc380"/>
          <p:cNvSpPr/>
          <p:nvPr/>
        </p:nvSpPr>
        <p:spPr>
          <a:xfrm>
            <a:off x="548640" y="2788920"/>
            <a:ext cx="3383280" cy="73152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ln381"/>
          <p:cNvSpPr/>
          <p:nvPr/>
        </p:nvSpPr>
        <p:spPr>
          <a:xfrm>
            <a:off x="3657599" y="2788920"/>
            <a:ext cx="274322" cy="274321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x382"/>
          <p:cNvSpPr txBox="1"/>
          <p:nvPr/>
        </p:nvSpPr>
        <p:spPr>
          <a:xfrm>
            <a:off x="731519" y="3053080"/>
            <a:ext cx="30175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getOwnerDetails.graphql</a:t>
            </a:r>
          </a:p>
        </p:txBody>
      </p:sp>
      <p:sp>
        <p:nvSpPr>
          <p:cNvPr id="446" name="rc383"/>
          <p:cNvSpPr/>
          <p:nvPr/>
        </p:nvSpPr>
        <p:spPr>
          <a:xfrm>
            <a:off x="548640" y="3749040"/>
            <a:ext cx="3383280" cy="73152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ln384"/>
          <p:cNvSpPr/>
          <p:nvPr/>
        </p:nvSpPr>
        <p:spPr>
          <a:xfrm>
            <a:off x="3657599" y="3749040"/>
            <a:ext cx="274322" cy="274321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x385"/>
          <p:cNvSpPr txBox="1"/>
          <p:nvPr/>
        </p:nvSpPr>
        <p:spPr>
          <a:xfrm>
            <a:off x="731519" y="4013200"/>
            <a:ext cx="30175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listVets.graphql</a:t>
            </a:r>
          </a:p>
        </p:txBody>
      </p:sp>
      <p:sp>
        <p:nvSpPr>
          <p:cNvPr id="449" name="tx386"/>
          <p:cNvSpPr txBox="1"/>
          <p:nvPr/>
        </p:nvSpPr>
        <p:spPr>
          <a:xfrm>
            <a:off x="548639" y="4838699"/>
            <a:ext cx="4206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src/main/resources/gatool/mcp/queries</a:t>
            </a:r>
          </a:p>
        </p:txBody>
      </p:sp>
      <p:sp>
        <p:nvSpPr>
          <p:cNvPr id="450" name="c1_ln387"/>
          <p:cNvSpPr/>
          <p:nvPr/>
        </p:nvSpPr>
        <p:spPr>
          <a:xfrm>
            <a:off x="4160520" y="3108960"/>
            <a:ext cx="10972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c1_rc388"/>
          <p:cNvSpPr/>
          <p:nvPr/>
        </p:nvSpPr>
        <p:spPr>
          <a:xfrm>
            <a:off x="5349240" y="2606039"/>
            <a:ext cx="1737361" cy="1005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c1_tx389"/>
          <p:cNvSpPr txBox="1"/>
          <p:nvPr/>
        </p:nvSpPr>
        <p:spPr>
          <a:xfrm>
            <a:off x="5349240" y="2948429"/>
            <a:ext cx="173736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GATool</a:t>
            </a:r>
          </a:p>
        </p:txBody>
      </p:sp>
      <p:sp>
        <p:nvSpPr>
          <p:cNvPr id="453" name="c2_ln390"/>
          <p:cNvSpPr/>
          <p:nvPr/>
        </p:nvSpPr>
        <p:spPr>
          <a:xfrm flipV="1">
            <a:off x="7178040" y="1965960"/>
            <a:ext cx="1097281" cy="91440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c2_ln391"/>
          <p:cNvSpPr/>
          <p:nvPr/>
        </p:nvSpPr>
        <p:spPr>
          <a:xfrm>
            <a:off x="8846819" y="914399"/>
            <a:ext cx="92" cy="123446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c2_ov392"/>
          <p:cNvSpPr/>
          <p:nvPr/>
        </p:nvSpPr>
        <p:spPr>
          <a:xfrm>
            <a:off x="8812530" y="880110"/>
            <a:ext cx="68581" cy="68581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c2_rc393"/>
          <p:cNvSpPr/>
          <p:nvPr/>
        </p:nvSpPr>
        <p:spPr>
          <a:xfrm>
            <a:off x="8641080" y="1037844"/>
            <a:ext cx="411481" cy="308611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c2_ov394"/>
          <p:cNvSpPr/>
          <p:nvPr/>
        </p:nvSpPr>
        <p:spPr>
          <a:xfrm>
            <a:off x="8730233" y="1147572"/>
            <a:ext cx="54865" cy="5486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c2_ov395"/>
          <p:cNvSpPr/>
          <p:nvPr/>
        </p:nvSpPr>
        <p:spPr>
          <a:xfrm>
            <a:off x="8908542" y="1147572"/>
            <a:ext cx="54865" cy="5486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c2_ln396"/>
          <p:cNvSpPr/>
          <p:nvPr/>
        </p:nvSpPr>
        <p:spPr>
          <a:xfrm>
            <a:off x="8764523" y="1271016"/>
            <a:ext cx="164593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c2_rc397"/>
          <p:cNvSpPr/>
          <p:nvPr/>
        </p:nvSpPr>
        <p:spPr>
          <a:xfrm>
            <a:off x="8599931" y="1394460"/>
            <a:ext cx="493777" cy="425197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c2_ln398"/>
          <p:cNvSpPr/>
          <p:nvPr/>
        </p:nvSpPr>
        <p:spPr>
          <a:xfrm flipH="1">
            <a:off x="8421623" y="1476755"/>
            <a:ext cx="178309" cy="20574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c2_ln399"/>
          <p:cNvSpPr/>
          <p:nvPr/>
        </p:nvSpPr>
        <p:spPr>
          <a:xfrm>
            <a:off x="9093707" y="1476755"/>
            <a:ext cx="178309" cy="20574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c2_ln400"/>
          <p:cNvSpPr/>
          <p:nvPr/>
        </p:nvSpPr>
        <p:spPr>
          <a:xfrm>
            <a:off x="8723376" y="1819655"/>
            <a:ext cx="92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c2_ln401"/>
          <p:cNvSpPr/>
          <p:nvPr/>
        </p:nvSpPr>
        <p:spPr>
          <a:xfrm>
            <a:off x="8970264" y="1819655"/>
            <a:ext cx="92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5" name="c2_tx402"/>
          <p:cNvSpPr txBox="1"/>
          <p:nvPr/>
        </p:nvSpPr>
        <p:spPr>
          <a:xfrm>
            <a:off x="9418319" y="1211070"/>
            <a:ext cx="237744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tools</a:t>
            </a:r>
          </a:p>
        </p:txBody>
      </p:sp>
      <p:sp>
        <p:nvSpPr>
          <p:cNvPr id="466" name="c2_tx403"/>
          <p:cNvSpPr txBox="1"/>
          <p:nvPr/>
        </p:nvSpPr>
        <p:spPr>
          <a:xfrm>
            <a:off x="9418319" y="1684388"/>
            <a:ext cx="237744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 any MCP client</a:t>
            </a:r>
          </a:p>
        </p:txBody>
      </p:sp>
      <p:sp>
        <p:nvSpPr>
          <p:cNvPr id="467" name="c3_ln404"/>
          <p:cNvSpPr/>
          <p:nvPr/>
        </p:nvSpPr>
        <p:spPr>
          <a:xfrm>
            <a:off x="7178040" y="3337559"/>
            <a:ext cx="1097281" cy="91440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c3_rc405"/>
          <p:cNvSpPr/>
          <p:nvPr/>
        </p:nvSpPr>
        <p:spPr>
          <a:xfrm>
            <a:off x="8503919" y="3931920"/>
            <a:ext cx="868681" cy="82296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c3_ln406"/>
          <p:cNvSpPr/>
          <p:nvPr/>
        </p:nvSpPr>
        <p:spPr>
          <a:xfrm>
            <a:off x="8860535" y="4005071"/>
            <a:ext cx="92" cy="69130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c3_ov407"/>
          <p:cNvSpPr/>
          <p:nvPr/>
        </p:nvSpPr>
        <p:spPr>
          <a:xfrm>
            <a:off x="8841333" y="3985869"/>
            <a:ext cx="38407" cy="38407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1" name="c3_rc408"/>
          <p:cNvSpPr/>
          <p:nvPr/>
        </p:nvSpPr>
        <p:spPr>
          <a:xfrm>
            <a:off x="8745322" y="4074200"/>
            <a:ext cx="230430" cy="172823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c3_ov409"/>
          <p:cNvSpPr/>
          <p:nvPr/>
        </p:nvSpPr>
        <p:spPr>
          <a:xfrm>
            <a:off x="8795247" y="4135647"/>
            <a:ext cx="30725" cy="3072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3" name="c3_ov410"/>
          <p:cNvSpPr/>
          <p:nvPr/>
        </p:nvSpPr>
        <p:spPr>
          <a:xfrm>
            <a:off x="8895099" y="4135647"/>
            <a:ext cx="30725" cy="3072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c3_ln411"/>
          <p:cNvSpPr/>
          <p:nvPr/>
        </p:nvSpPr>
        <p:spPr>
          <a:xfrm>
            <a:off x="8814450" y="4204777"/>
            <a:ext cx="92173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5" name="c3_rc412"/>
          <p:cNvSpPr/>
          <p:nvPr/>
        </p:nvSpPr>
        <p:spPr>
          <a:xfrm>
            <a:off x="8722279" y="4273906"/>
            <a:ext cx="276516" cy="238111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c3_ln413"/>
          <p:cNvSpPr/>
          <p:nvPr/>
        </p:nvSpPr>
        <p:spPr>
          <a:xfrm flipH="1">
            <a:off x="8622425" y="4319990"/>
            <a:ext cx="99853" cy="115214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c3_ln414"/>
          <p:cNvSpPr/>
          <p:nvPr/>
        </p:nvSpPr>
        <p:spPr>
          <a:xfrm>
            <a:off x="8998793" y="4319990"/>
            <a:ext cx="99853" cy="115214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c3_ln415"/>
          <p:cNvSpPr/>
          <p:nvPr/>
        </p:nvSpPr>
        <p:spPr>
          <a:xfrm>
            <a:off x="8791406" y="4512014"/>
            <a:ext cx="92" cy="153620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c3_ln416"/>
          <p:cNvSpPr/>
          <p:nvPr/>
        </p:nvSpPr>
        <p:spPr>
          <a:xfrm>
            <a:off x="8929665" y="4512014"/>
            <a:ext cx="92" cy="153620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c3_tx417"/>
          <p:cNvSpPr txBox="1"/>
          <p:nvPr/>
        </p:nvSpPr>
        <p:spPr>
          <a:xfrm>
            <a:off x="9555480" y="4045710"/>
            <a:ext cx="256032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in-process tools</a:t>
            </a:r>
          </a:p>
        </p:txBody>
      </p:sp>
      <p:sp>
        <p:nvSpPr>
          <p:cNvPr id="481" name="c3_tx418"/>
          <p:cNvSpPr txBox="1"/>
          <p:nvPr/>
        </p:nvSpPr>
        <p:spPr>
          <a:xfrm>
            <a:off x="9555480" y="4434840"/>
            <a:ext cx="256032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 an agent in your app (Spring AI)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5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5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00"/>
                            </p:stCondLst>
                            <p:childTnLst>
                              <p:par>
                                <p:cTn id="50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35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150"/>
                            </p:stCondLst>
                            <p:childTnLst>
                              <p:par>
                                <p:cTn id="54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35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35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850"/>
                            </p:stCondLst>
                            <p:childTnLst>
                              <p:par>
                                <p:cTn id="62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35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00"/>
                            </p:stCondLst>
                            <p:childTnLst>
                              <p:par>
                                <p:cTn id="66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35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50"/>
                            </p:stCondLst>
                            <p:childTnLst>
                              <p:par>
                                <p:cTn id="70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35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7" dur="35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"/>
                            </p:stCondLst>
                            <p:childTnLst>
                              <p:par>
                                <p:cTn id="79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35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"/>
                            </p:stCondLst>
                            <p:childTnLst>
                              <p:par>
                                <p:cTn id="83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35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50"/>
                            </p:stCondLst>
                            <p:childTnLst>
                              <p:par>
                                <p:cTn id="87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35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400"/>
                            </p:stCondLst>
                            <p:childTnLst>
                              <p:par>
                                <p:cTn id="91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35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50"/>
                            </p:stCondLst>
                            <p:childTnLst>
                              <p:par>
                                <p:cTn id="95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7" dur="35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100"/>
                            </p:stCondLst>
                            <p:childTnLst>
                              <p:par>
                                <p:cTn id="99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1" dur="35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450"/>
                            </p:stCondLst>
                            <p:childTnLst>
                              <p:par>
                                <p:cTn id="103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5" dur="35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800"/>
                            </p:stCondLst>
                            <p:childTnLst>
                              <p:par>
                                <p:cTn id="107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9" dur="35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150"/>
                            </p:stCondLst>
                            <p:childTnLst>
                              <p:par>
                                <p:cTn id="111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3" dur="35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15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7" dur="35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50"/>
                            </p:stCondLst>
                            <p:childTnLst>
                              <p:par>
                                <p:cTn id="119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1" dur="35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200"/>
                            </p:stCondLst>
                            <p:childTnLst>
                              <p:par>
                                <p:cTn id="123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5" dur="35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550"/>
                            </p:stCondLst>
                            <p:childTnLst>
                              <p:par>
                                <p:cTn id="127" presetClass="entr" nodeType="after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9" dur="35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900"/>
                            </p:stCondLst>
                            <p:childTnLst>
                              <p:par>
                                <p:cTn id="131" presetClass="entr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3" dur="35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3" grpId="14"/>
      <p:bldP build="whole" bldLvl="1" animBg="1" rev="0" advAuto="0" spid="454" grpId="5"/>
      <p:bldP build="whole" bldLvl="1" animBg="1" rev="0" advAuto="0" spid="453" grpId="4"/>
      <p:bldP build="whole" bldLvl="1" animBg="1" rev="0" advAuto="0" spid="451" grpId="2"/>
      <p:bldP build="whole" bldLvl="1" animBg="1" rev="0" advAuto="0" spid="480" grpId="31"/>
      <p:bldP build="whole" bldLvl="1" animBg="1" rev="0" advAuto="0" spid="479" grpId="30"/>
      <p:bldP build="whole" bldLvl="1" animBg="1" rev="0" advAuto="0" spid="478" grpId="29"/>
      <p:bldP build="whole" bldLvl="1" animBg="1" rev="0" advAuto="0" spid="477" grpId="28"/>
      <p:bldP build="whole" bldLvl="1" animBg="1" rev="0" advAuto="0" spid="476" grpId="27"/>
      <p:bldP build="whole" bldLvl="1" animBg="1" rev="0" advAuto="0" spid="475" grpId="26"/>
      <p:bldP build="whole" bldLvl="1" animBg="1" rev="0" advAuto="0" spid="474" grpId="25"/>
      <p:bldP build="whole" bldLvl="1" animBg="1" rev="0" advAuto="0" spid="473" grpId="24"/>
      <p:bldP build="whole" bldLvl="1" animBg="1" rev="0" advAuto="0" spid="472" grpId="23"/>
      <p:bldP build="whole" bldLvl="1" animBg="1" rev="0" advAuto="0" spid="471" grpId="22"/>
      <p:bldP build="whole" bldLvl="1" animBg="1" rev="0" advAuto="0" spid="470" grpId="21"/>
      <p:bldP build="whole" bldLvl="1" animBg="1" rev="0" advAuto="0" spid="469" grpId="20"/>
      <p:bldP build="whole" bldLvl="1" animBg="1" rev="0" advAuto="0" spid="468" grpId="19"/>
      <p:bldP build="whole" bldLvl="1" animBg="1" rev="0" advAuto="0" spid="467" grpId="18"/>
      <p:bldP build="whole" bldLvl="1" animBg="1" rev="0" advAuto="0" spid="450" grpId="1"/>
      <p:bldP build="whole" bldLvl="1" animBg="1" rev="0" advAuto="0" spid="461" grpId="12"/>
      <p:bldP build="whole" bldLvl="1" animBg="1" rev="0" advAuto="0" spid="465" grpId="16"/>
      <p:bldP build="whole" bldLvl="1" animBg="1" rev="0" advAuto="0" spid="455" grpId="6"/>
      <p:bldP build="whole" bldLvl="1" animBg="1" rev="0" advAuto="0" spid="459" grpId="10"/>
      <p:bldP build="whole" bldLvl="1" animBg="1" rev="0" advAuto="0" spid="464" grpId="15"/>
      <p:bldP build="whole" bldLvl="1" animBg="1" rev="0" advAuto="0" spid="458" grpId="9"/>
      <p:bldP build="whole" bldLvl="1" animBg="1" rev="0" advAuto="0" spid="460" grpId="11"/>
      <p:bldP build="whole" bldLvl="1" animBg="1" rev="0" advAuto="0" spid="462" grpId="13"/>
      <p:bldP build="whole" bldLvl="1" animBg="1" rev="0" advAuto="0" spid="452" grpId="3"/>
      <p:bldP build="whole" bldLvl="1" animBg="1" rev="0" advAuto="0" spid="456" grpId="7"/>
      <p:bldP build="whole" bldLvl="1" animBg="1" rev="0" advAuto="0" spid="466" grpId="17"/>
      <p:bldP build="whole" bldLvl="1" animBg="1" rev="0" advAuto="0" spid="457" grpId="8"/>
      <p:bldP build="whole" bldLvl="1" animBg="1" rev="0" advAuto="0" spid="481" grpId="3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c419"/>
          <p:cNvSpPr/>
          <p:nvPr/>
        </p:nvSpPr>
        <p:spPr>
          <a:xfrm>
            <a:off x="1371599" y="914400"/>
            <a:ext cx="9448497" cy="5029200"/>
          </a:xfrm>
          <a:prstGeom prst="rect">
            <a:avLst/>
          </a:prstGeom>
          <a:ln w="19050">
            <a:solidFill>
              <a:srgbClr val="8A8A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tx420"/>
          <p:cNvSpPr txBox="1"/>
          <p:nvPr/>
        </p:nvSpPr>
        <p:spPr>
          <a:xfrm>
            <a:off x="1371599" y="2895458"/>
            <a:ext cx="9448497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485" name="tx421"/>
          <p:cNvSpPr txBox="1"/>
          <p:nvPr/>
        </p:nvSpPr>
        <p:spPr>
          <a:xfrm>
            <a:off x="1371599" y="3619429"/>
            <a:ext cx="944849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GATool: generated and curated tools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x422"/>
          <p:cNvSpPr txBox="1"/>
          <p:nvPr/>
        </p:nvSpPr>
        <p:spPr>
          <a:xfrm>
            <a:off x="548640" y="604425"/>
            <a:ext cx="1097280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a GraphQL API to MCP tools: the whole change</a:t>
            </a:r>
          </a:p>
        </p:txBody>
      </p:sp>
      <p:sp>
        <p:nvSpPr>
          <p:cNvPr id="488" name="c1_tx423"/>
          <p:cNvSpPr txBox="1"/>
          <p:nvPr/>
        </p:nvSpPr>
        <p:spPr>
          <a:xfrm>
            <a:off x="822960" y="1684020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pom.xml</a:t>
            </a:r>
          </a:p>
        </p:txBody>
      </p:sp>
      <p:sp>
        <p:nvSpPr>
          <p:cNvPr id="489" name="c1_tx424"/>
          <p:cNvSpPr txBox="1"/>
          <p:nvPr/>
        </p:nvSpPr>
        <p:spPr>
          <a:xfrm>
            <a:off x="5852159" y="1683071"/>
            <a:ext cx="54864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+ 1 dependency</a:t>
            </a:r>
          </a:p>
        </p:txBody>
      </p:sp>
      <p:sp>
        <p:nvSpPr>
          <p:cNvPr id="490" name="c2_tx425"/>
          <p:cNvSpPr txBox="1"/>
          <p:nvPr/>
        </p:nvSpPr>
        <p:spPr>
          <a:xfrm>
            <a:off x="822960" y="2644139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application.properties</a:t>
            </a:r>
          </a:p>
        </p:txBody>
      </p:sp>
      <p:sp>
        <p:nvSpPr>
          <p:cNvPr id="491" name="c2_tx426"/>
          <p:cNvSpPr txBox="1"/>
          <p:nvPr/>
        </p:nvSpPr>
        <p:spPr>
          <a:xfrm>
            <a:off x="5852159" y="2643191"/>
            <a:ext cx="54864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+ 1 property</a:t>
            </a:r>
          </a:p>
        </p:txBody>
      </p:sp>
      <p:sp>
        <p:nvSpPr>
          <p:cNvPr id="492" name="c3_tx427"/>
          <p:cNvSpPr txBox="1"/>
          <p:nvPr/>
        </p:nvSpPr>
        <p:spPr>
          <a:xfrm>
            <a:off x="822960" y="3604259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 × .graphql</a:t>
            </a:r>
          </a:p>
        </p:txBody>
      </p:sp>
      <p:sp>
        <p:nvSpPr>
          <p:cNvPr id="493" name="c3_tx428"/>
          <p:cNvSpPr txBox="1"/>
          <p:nvPr/>
        </p:nvSpPr>
        <p:spPr>
          <a:xfrm>
            <a:off x="5852159" y="3603311"/>
            <a:ext cx="54864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queries, 5 mutations</a:t>
            </a:r>
          </a:p>
        </p:txBody>
      </p:sp>
      <p:sp>
        <p:nvSpPr>
          <p:cNvPr id="494" name="c4_ln429"/>
          <p:cNvSpPr/>
          <p:nvPr/>
        </p:nvSpPr>
        <p:spPr>
          <a:xfrm>
            <a:off x="822960" y="4526279"/>
            <a:ext cx="10515601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c4_tx430"/>
          <p:cNvSpPr txBox="1"/>
          <p:nvPr/>
        </p:nvSpPr>
        <p:spPr>
          <a:xfrm>
            <a:off x="822960" y="4644499"/>
            <a:ext cx="1280161" cy="113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96" name="c4_tx431"/>
          <p:cNvSpPr txBox="1"/>
          <p:nvPr/>
        </p:nvSpPr>
        <p:spPr>
          <a:xfrm>
            <a:off x="2103120" y="4983777"/>
            <a:ext cx="548640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lines of Java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35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5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5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35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35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"/>
                            </p:stCondLst>
                            <p:childTnLst>
                              <p:par>
                                <p:cTn id="36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35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35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4" grpId="7"/>
      <p:bldP build="whole" bldLvl="1" animBg="1" rev="0" advAuto="0" spid="490" grpId="3"/>
      <p:bldP build="whole" bldLvl="1" animBg="1" rev="0" advAuto="0" spid="495" grpId="8"/>
      <p:bldP build="whole" bldLvl="1" animBg="1" rev="0" advAuto="0" spid="491" grpId="4"/>
      <p:bldP build="whole" bldLvl="1" animBg="1" rev="0" advAuto="0" spid="496" grpId="9"/>
      <p:bldP build="whole" bldLvl="1" animBg="1" rev="0" advAuto="0" spid="492" grpId="5"/>
      <p:bldP build="whole" bldLvl="1" animBg="1" rev="0" advAuto="0" spid="488" grpId="1"/>
      <p:bldP build="whole" bldLvl="1" animBg="1" rev="0" advAuto="0" spid="493" grpId="6"/>
      <p:bldP build="whole" bldLvl="1" animBg="1" rev="0" advAuto="0" spid="489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c432"/>
          <p:cNvSpPr/>
          <p:nvPr/>
        </p:nvSpPr>
        <p:spPr>
          <a:xfrm>
            <a:off x="457200" y="2331720"/>
            <a:ext cx="2377440" cy="118872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x433"/>
          <p:cNvSpPr txBox="1"/>
          <p:nvPr/>
        </p:nvSpPr>
        <p:spPr>
          <a:xfrm>
            <a:off x="530352" y="2675611"/>
            <a:ext cx="2231136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“Which vets work</a:t>
            </a:r>
          </a:p>
          <a:p>
            <a:pPr algn="ctr"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at the clinic?”</a:t>
            </a:r>
          </a:p>
        </p:txBody>
      </p:sp>
      <p:sp>
        <p:nvSpPr>
          <p:cNvPr id="500" name="c1_ln434"/>
          <p:cNvSpPr/>
          <p:nvPr/>
        </p:nvSpPr>
        <p:spPr>
          <a:xfrm>
            <a:off x="2926079" y="2926079"/>
            <a:ext cx="9144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c1_ln435"/>
          <p:cNvSpPr/>
          <p:nvPr/>
        </p:nvSpPr>
        <p:spPr>
          <a:xfrm>
            <a:off x="4434840" y="2011679"/>
            <a:ext cx="92" cy="16459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c1_ov436"/>
          <p:cNvSpPr/>
          <p:nvPr/>
        </p:nvSpPr>
        <p:spPr>
          <a:xfrm>
            <a:off x="4389120" y="1965960"/>
            <a:ext cx="91441" cy="91441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c1_rc437"/>
          <p:cNvSpPr/>
          <p:nvPr/>
        </p:nvSpPr>
        <p:spPr>
          <a:xfrm>
            <a:off x="4160520" y="2176271"/>
            <a:ext cx="548641" cy="411482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c1_ov438"/>
          <p:cNvSpPr/>
          <p:nvPr/>
        </p:nvSpPr>
        <p:spPr>
          <a:xfrm>
            <a:off x="4279391" y="2322576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c1_ov439"/>
          <p:cNvSpPr/>
          <p:nvPr/>
        </p:nvSpPr>
        <p:spPr>
          <a:xfrm>
            <a:off x="4517135" y="2322576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6" name="c1_ln440"/>
          <p:cNvSpPr/>
          <p:nvPr/>
        </p:nvSpPr>
        <p:spPr>
          <a:xfrm>
            <a:off x="4325111" y="2487167"/>
            <a:ext cx="219457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c1_rc441"/>
          <p:cNvSpPr/>
          <p:nvPr/>
        </p:nvSpPr>
        <p:spPr>
          <a:xfrm>
            <a:off x="4105655" y="2651760"/>
            <a:ext cx="658369" cy="56692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c1_ln442"/>
          <p:cNvSpPr/>
          <p:nvPr/>
        </p:nvSpPr>
        <p:spPr>
          <a:xfrm flipH="1">
            <a:off x="3867912" y="2761488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c1_ln443"/>
          <p:cNvSpPr/>
          <p:nvPr/>
        </p:nvSpPr>
        <p:spPr>
          <a:xfrm>
            <a:off x="4764023" y="2761488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c1_ln444"/>
          <p:cNvSpPr/>
          <p:nvPr/>
        </p:nvSpPr>
        <p:spPr>
          <a:xfrm>
            <a:off x="4270247" y="3218688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c1_ln445"/>
          <p:cNvSpPr/>
          <p:nvPr/>
        </p:nvSpPr>
        <p:spPr>
          <a:xfrm>
            <a:off x="4599432" y="3218688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c1_tx446"/>
          <p:cNvSpPr txBox="1"/>
          <p:nvPr/>
        </p:nvSpPr>
        <p:spPr>
          <a:xfrm>
            <a:off x="3520440" y="3823068"/>
            <a:ext cx="182880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12 local models</a:t>
            </a:r>
          </a:p>
          <a:p>
            <a: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(Ollama)</a:t>
            </a:r>
          </a:p>
        </p:txBody>
      </p:sp>
      <p:sp>
        <p:nvSpPr>
          <p:cNvPr id="513" name="c2_ln447"/>
          <p:cNvSpPr/>
          <p:nvPr/>
        </p:nvSpPr>
        <p:spPr>
          <a:xfrm>
            <a:off x="5120640" y="2926079"/>
            <a:ext cx="9144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c2_rc448"/>
          <p:cNvSpPr/>
          <p:nvPr/>
        </p:nvSpPr>
        <p:spPr>
          <a:xfrm>
            <a:off x="6126479" y="2578607"/>
            <a:ext cx="1143001" cy="694945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c2_tx449"/>
          <p:cNvSpPr txBox="1"/>
          <p:nvPr/>
        </p:nvSpPr>
        <p:spPr>
          <a:xfrm>
            <a:off x="6199632" y="2784184"/>
            <a:ext cx="99669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516" name="c2_ln450"/>
          <p:cNvSpPr/>
          <p:nvPr/>
        </p:nvSpPr>
        <p:spPr>
          <a:xfrm>
            <a:off x="7269480" y="2926079"/>
            <a:ext cx="59436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c2_rc451"/>
          <p:cNvSpPr/>
          <p:nvPr/>
        </p:nvSpPr>
        <p:spPr>
          <a:xfrm>
            <a:off x="7955280" y="2606039"/>
            <a:ext cx="137160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c2_tx452"/>
          <p:cNvSpPr txBox="1"/>
          <p:nvPr/>
        </p:nvSpPr>
        <p:spPr>
          <a:xfrm>
            <a:off x="8028431" y="2824479"/>
            <a:ext cx="122529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listVets</a:t>
            </a:r>
          </a:p>
        </p:txBody>
      </p:sp>
      <p:sp>
        <p:nvSpPr>
          <p:cNvPr id="519" name="c3_tx453"/>
          <p:cNvSpPr txBox="1"/>
          <p:nvPr/>
        </p:nvSpPr>
        <p:spPr>
          <a:xfrm>
            <a:off x="9829799" y="1492037"/>
            <a:ext cx="731522" cy="764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520" name="c3_tx454"/>
          <p:cNvSpPr txBox="1"/>
          <p:nvPr/>
        </p:nvSpPr>
        <p:spPr>
          <a:xfrm>
            <a:off x="9829799" y="2240279"/>
            <a:ext cx="2103122" cy="42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right tools,</a:t>
            </a:r>
          </a:p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right arguments</a:t>
            </a:r>
          </a:p>
        </p:txBody>
      </p:sp>
      <p:sp>
        <p:nvSpPr>
          <p:cNvPr id="521" name="c4_tx455"/>
          <p:cNvSpPr txBox="1"/>
          <p:nvPr/>
        </p:nvSpPr>
        <p:spPr>
          <a:xfrm>
            <a:off x="9829799" y="3320838"/>
            <a:ext cx="731522" cy="76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22" name="c4_tx456"/>
          <p:cNvSpPr txBox="1"/>
          <p:nvPr/>
        </p:nvSpPr>
        <p:spPr>
          <a:xfrm>
            <a:off x="9829799" y="4069079"/>
            <a:ext cx="2103122" cy="42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right facts,</a:t>
            </a:r>
          </a:p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nothing invented</a:t>
            </a:r>
          </a:p>
        </p:txBody>
      </p:sp>
      <p:sp>
        <p:nvSpPr>
          <p:cNvPr id="523" name="tx457"/>
          <p:cNvSpPr txBox="1"/>
          <p:nvPr/>
        </p:nvSpPr>
        <p:spPr>
          <a:xfrm>
            <a:off x="457200" y="5752151"/>
            <a:ext cx="3657600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promptfoo</a:t>
            </a:r>
          </a:p>
        </p:txBody>
      </p:sp>
      <p:sp>
        <p:nvSpPr>
          <p:cNvPr id="524" name="tx458"/>
          <p:cNvSpPr txBox="1"/>
          <p:nvPr/>
        </p:nvSpPr>
        <p:spPr>
          <a:xfrm>
            <a:off x="457200" y="6256388"/>
            <a:ext cx="73152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 read questions · write questions · 12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5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35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35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35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"/>
                            </p:stCondLst>
                            <p:childTnLst>
                              <p:par>
                                <p:cTn id="62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4" dur="35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"/>
                            </p:stCondLst>
                            <p:childTnLst>
                              <p:par>
                                <p:cTn id="66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8" dur="35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50"/>
                            </p:stCondLst>
                            <p:childTnLst>
                              <p:par>
                                <p:cTn id="70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35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400"/>
                            </p:stCondLst>
                            <p:childTnLst>
                              <p:par>
                                <p:cTn id="74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6" dur="35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50"/>
                            </p:stCondLst>
                            <p:childTnLst>
                              <p:par>
                                <p:cTn id="78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35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Class="entr" nodeType="click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35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"/>
                            </p:stCondLst>
                            <p:childTnLst>
                              <p:par>
                                <p:cTn id="87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35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Class="entr" nodeType="click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4" dur="35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50"/>
                            </p:stCondLst>
                            <p:childTnLst>
                              <p:par>
                                <p:cTn id="96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8" dur="35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6" grpId="7"/>
      <p:bldP build="whole" bldLvl="1" animBg="1" rev="0" advAuto="0" spid="509" grpId="10"/>
      <p:bldP build="whole" bldLvl="1" animBg="1" rev="0" advAuto="0" spid="500" grpId="1"/>
      <p:bldP build="whole" bldLvl="1" animBg="1" rev="0" advAuto="0" spid="513" grpId="14"/>
      <p:bldP build="whole" bldLvl="1" animBg="1" rev="0" advAuto="0" spid="516" grpId="17"/>
      <p:bldP build="whole" bldLvl="1" animBg="1" rev="0" advAuto="0" spid="512" grpId="13"/>
      <p:bldP build="whole" bldLvl="1" animBg="1" rev="0" advAuto="0" spid="505" grpId="6"/>
      <p:bldP build="whole" bldLvl="1" animBg="1" rev="0" advAuto="0" spid="519" grpId="20"/>
      <p:bldP build="whole" bldLvl="1" animBg="1" rev="0" advAuto="0" spid="507" grpId="8"/>
      <p:bldP build="whole" bldLvl="1" animBg="1" rev="0" advAuto="0" spid="510" grpId="11"/>
      <p:bldP build="whole" bldLvl="1" animBg="1" rev="0" advAuto="0" spid="503" grpId="4"/>
      <p:bldP build="whole" bldLvl="1" animBg="1" rev="0" advAuto="0" spid="508" grpId="9"/>
      <p:bldP build="whole" bldLvl="1" animBg="1" rev="0" advAuto="0" spid="511" grpId="12"/>
      <p:bldP build="whole" bldLvl="1" animBg="1" rev="0" advAuto="0" spid="514" grpId="15"/>
      <p:bldP build="whole" bldLvl="1" animBg="1" rev="0" advAuto="0" spid="515" grpId="16"/>
      <p:bldP build="whole" bldLvl="1" animBg="1" rev="0" advAuto="0" spid="517" grpId="18"/>
      <p:bldP build="whole" bldLvl="1" animBg="1" rev="0" advAuto="0" spid="504" grpId="5"/>
      <p:bldP build="whole" bldLvl="1" animBg="1" rev="0" advAuto="0" spid="502" grpId="3"/>
      <p:bldP build="whole" bldLvl="1" animBg="1" rev="0" advAuto="0" spid="518" grpId="19"/>
      <p:bldP build="whole" bldLvl="1" animBg="1" rev="0" advAuto="0" spid="522" grpId="23"/>
      <p:bldP build="whole" bldLvl="1" animBg="1" rev="0" advAuto="0" spid="520" grpId="21"/>
      <p:bldP build="whole" bldLvl="1" animBg="1" rev="0" advAuto="0" spid="521" grpId="22"/>
      <p:bldP build="whole" bldLvl="1" animBg="1" rev="0" advAuto="0" spid="501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rc459"/>
          <p:cNvSpPr/>
          <p:nvPr/>
        </p:nvSpPr>
        <p:spPr>
          <a:xfrm>
            <a:off x="457199" y="731519"/>
            <a:ext cx="4023361" cy="118872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x460"/>
          <p:cNvSpPr txBox="1"/>
          <p:nvPr/>
        </p:nvSpPr>
        <p:spPr>
          <a:xfrm>
            <a:off x="530351" y="1062919"/>
            <a:ext cx="3877057" cy="5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“Which pets have not visited</a:t>
            </a:r>
          </a:p>
          <a:p>
            <a:pPr algn="ctr"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clinic yet?”</a:t>
            </a:r>
          </a:p>
        </p:txBody>
      </p:sp>
      <p:sp>
        <p:nvSpPr>
          <p:cNvPr id="528" name="ln461"/>
          <p:cNvSpPr/>
          <p:nvPr/>
        </p:nvSpPr>
        <p:spPr>
          <a:xfrm>
            <a:off x="2468879" y="1965960"/>
            <a:ext cx="92" cy="54864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9" name="ln462"/>
          <p:cNvSpPr/>
          <p:nvPr/>
        </p:nvSpPr>
        <p:spPr>
          <a:xfrm>
            <a:off x="2446020" y="2606039"/>
            <a:ext cx="92" cy="15636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ov463"/>
          <p:cNvSpPr/>
          <p:nvPr/>
        </p:nvSpPr>
        <p:spPr>
          <a:xfrm>
            <a:off x="2402585" y="2562605"/>
            <a:ext cx="86869" cy="86869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1" name="rc464"/>
          <p:cNvSpPr/>
          <p:nvPr/>
        </p:nvSpPr>
        <p:spPr>
          <a:xfrm>
            <a:off x="2185416" y="2762401"/>
            <a:ext cx="521209" cy="390907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2" name="ov465"/>
          <p:cNvSpPr/>
          <p:nvPr/>
        </p:nvSpPr>
        <p:spPr>
          <a:xfrm>
            <a:off x="2298344" y="2901390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ov466"/>
          <p:cNvSpPr/>
          <p:nvPr/>
        </p:nvSpPr>
        <p:spPr>
          <a:xfrm>
            <a:off x="2524200" y="2901390"/>
            <a:ext cx="69495" cy="69495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ln467"/>
          <p:cNvSpPr/>
          <p:nvPr/>
        </p:nvSpPr>
        <p:spPr>
          <a:xfrm>
            <a:off x="2341777" y="3057754"/>
            <a:ext cx="208484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5" name="rc468"/>
          <p:cNvSpPr/>
          <p:nvPr/>
        </p:nvSpPr>
        <p:spPr>
          <a:xfrm>
            <a:off x="2133294" y="3214116"/>
            <a:ext cx="625451" cy="538583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ln469"/>
          <p:cNvSpPr/>
          <p:nvPr/>
        </p:nvSpPr>
        <p:spPr>
          <a:xfrm flipH="1">
            <a:off x="1907438" y="3318357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7" name="ln470"/>
          <p:cNvSpPr/>
          <p:nvPr/>
        </p:nvSpPr>
        <p:spPr>
          <a:xfrm>
            <a:off x="2758744" y="3318357"/>
            <a:ext cx="225858" cy="26060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8" name="ln471"/>
          <p:cNvSpPr/>
          <p:nvPr/>
        </p:nvSpPr>
        <p:spPr>
          <a:xfrm>
            <a:off x="2289657" y="3752698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ln472"/>
          <p:cNvSpPr/>
          <p:nvPr/>
        </p:nvSpPr>
        <p:spPr>
          <a:xfrm>
            <a:off x="2602382" y="3752698"/>
            <a:ext cx="92" cy="3474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x473"/>
          <p:cNvSpPr txBox="1"/>
          <p:nvPr/>
        </p:nvSpPr>
        <p:spPr>
          <a:xfrm>
            <a:off x="1280160" y="4287520"/>
            <a:ext cx="23774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qwen3.5:0.8b</a:t>
            </a:r>
          </a:p>
        </p:txBody>
      </p:sp>
      <p:sp>
        <p:nvSpPr>
          <p:cNvPr id="541" name="c1_ln474"/>
          <p:cNvSpPr/>
          <p:nvPr/>
        </p:nvSpPr>
        <p:spPr>
          <a:xfrm>
            <a:off x="3246120" y="3429000"/>
            <a:ext cx="123444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c1_rc475"/>
          <p:cNvSpPr/>
          <p:nvPr/>
        </p:nvSpPr>
        <p:spPr>
          <a:xfrm>
            <a:off x="4617720" y="2834639"/>
            <a:ext cx="1737361" cy="566929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3" name="c1_tx476"/>
          <p:cNvSpPr txBox="1"/>
          <p:nvPr/>
        </p:nvSpPr>
        <p:spPr>
          <a:xfrm>
            <a:off x="4690871" y="3010153"/>
            <a:ext cx="15910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updatePet</a:t>
            </a:r>
          </a:p>
        </p:txBody>
      </p:sp>
      <p:sp>
        <p:nvSpPr>
          <p:cNvPr id="544" name="c1_rc477"/>
          <p:cNvSpPr/>
          <p:nvPr/>
        </p:nvSpPr>
        <p:spPr>
          <a:xfrm>
            <a:off x="4818888" y="3035807"/>
            <a:ext cx="1737361" cy="566929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c1_tx478"/>
          <p:cNvSpPr txBox="1"/>
          <p:nvPr/>
        </p:nvSpPr>
        <p:spPr>
          <a:xfrm>
            <a:off x="4892040" y="3211321"/>
            <a:ext cx="15910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updatePet</a:t>
            </a:r>
          </a:p>
        </p:txBody>
      </p:sp>
      <p:sp>
        <p:nvSpPr>
          <p:cNvPr id="546" name="c1_rc479"/>
          <p:cNvSpPr/>
          <p:nvPr/>
        </p:nvSpPr>
        <p:spPr>
          <a:xfrm>
            <a:off x="5020055" y="3236976"/>
            <a:ext cx="1737362" cy="566929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7" name="c1_tx480"/>
          <p:cNvSpPr txBox="1"/>
          <p:nvPr/>
        </p:nvSpPr>
        <p:spPr>
          <a:xfrm>
            <a:off x="5093208" y="3412490"/>
            <a:ext cx="15910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updatePet</a:t>
            </a:r>
          </a:p>
        </p:txBody>
      </p:sp>
      <p:sp>
        <p:nvSpPr>
          <p:cNvPr id="548" name="c1_ln481"/>
          <p:cNvSpPr/>
          <p:nvPr/>
        </p:nvSpPr>
        <p:spPr>
          <a:xfrm>
            <a:off x="6949440" y="3429000"/>
            <a:ext cx="73152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c1_tx482"/>
          <p:cNvSpPr txBox="1"/>
          <p:nvPr/>
        </p:nvSpPr>
        <p:spPr>
          <a:xfrm>
            <a:off x="7772400" y="2852764"/>
            <a:ext cx="411480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Orphan Pet No-Visit</a:t>
            </a:r>
          </a:p>
        </p:txBody>
      </p:sp>
      <p:sp>
        <p:nvSpPr>
          <p:cNvPr id="550" name="c1_tx483"/>
          <p:cNvSpPr txBox="1"/>
          <p:nvPr/>
        </p:nvSpPr>
        <p:spPr>
          <a:xfrm>
            <a:off x="7772400" y="3309964"/>
            <a:ext cx="411480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Orphan Pet No-Visit</a:t>
            </a:r>
          </a:p>
        </p:txBody>
      </p:sp>
      <p:sp>
        <p:nvSpPr>
          <p:cNvPr id="551" name="c1_tx484"/>
          <p:cNvSpPr txBox="1"/>
          <p:nvPr/>
        </p:nvSpPr>
        <p:spPr>
          <a:xfrm>
            <a:off x="7772400" y="3767164"/>
            <a:ext cx="411480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Orphan Pet No-Visit</a:t>
            </a:r>
          </a:p>
        </p:txBody>
      </p:sp>
      <p:sp>
        <p:nvSpPr>
          <p:cNvPr id="552" name="c2_ln485"/>
          <p:cNvSpPr/>
          <p:nvPr/>
        </p:nvSpPr>
        <p:spPr>
          <a:xfrm>
            <a:off x="548639" y="5212079"/>
            <a:ext cx="11064242" cy="92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" name="c2_tx486"/>
          <p:cNvSpPr txBox="1"/>
          <p:nvPr/>
        </p:nvSpPr>
        <p:spPr>
          <a:xfrm>
            <a:off x="457199" y="5496465"/>
            <a:ext cx="11247122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Now: on a read question, every write call is declined.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35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"/>
                            </p:stCondLst>
                            <p:childTnLst>
                              <p:par>
                                <p:cTn id="54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6" dur="35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5" grpId="5"/>
      <p:bldP build="whole" bldLvl="1" animBg="1" rev="0" advAuto="0" spid="542" grpId="2"/>
      <p:bldP build="whole" bldLvl="1" animBg="1" rev="0" advAuto="0" spid="552" grpId="12"/>
      <p:bldP build="whole" bldLvl="1" animBg="1" rev="0" advAuto="0" spid="541" grpId="1"/>
      <p:bldP build="whole" bldLvl="1" animBg="1" rev="0" advAuto="0" spid="546" grpId="6"/>
      <p:bldP build="whole" bldLvl="1" animBg="1" rev="0" advAuto="0" spid="550" grpId="10"/>
      <p:bldP build="whole" bldLvl="1" animBg="1" rev="0" advAuto="0" spid="549" grpId="9"/>
      <p:bldP build="whole" bldLvl="1" animBg="1" rev="0" advAuto="0" spid="543" grpId="3"/>
      <p:bldP build="whole" bldLvl="1" animBg="1" rev="0" advAuto="0" spid="553" grpId="13"/>
      <p:bldP build="whole" bldLvl="1" animBg="1" rev="0" advAuto="0" spid="551" grpId="11"/>
      <p:bldP build="whole" bldLvl="1" animBg="1" rev="0" advAuto="0" spid="547" grpId="7"/>
      <p:bldP build="whole" bldLvl="1" animBg="1" rev="0" advAuto="0" spid="548" grpId="8"/>
      <p:bldP build="whole" bldLvl="1" animBg="1" rev="0" advAuto="0" spid="544" grpId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ov487"/>
          <p:cNvSpPr/>
          <p:nvPr/>
        </p:nvSpPr>
        <p:spPr>
          <a:xfrm>
            <a:off x="648309" y="2394814"/>
            <a:ext cx="399595" cy="399595"/>
          </a:xfrm>
          <a:prstGeom prst="ellips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ln488"/>
          <p:cNvSpPr/>
          <p:nvPr/>
        </p:nvSpPr>
        <p:spPr>
          <a:xfrm>
            <a:off x="848105" y="2794405"/>
            <a:ext cx="92" cy="53858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7" name="ln489"/>
          <p:cNvSpPr/>
          <p:nvPr/>
        </p:nvSpPr>
        <p:spPr>
          <a:xfrm>
            <a:off x="535380" y="3002889"/>
            <a:ext cx="625451" cy="92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ln490"/>
          <p:cNvSpPr/>
          <p:nvPr/>
        </p:nvSpPr>
        <p:spPr>
          <a:xfrm flipH="1">
            <a:off x="604876" y="3332988"/>
            <a:ext cx="243231" cy="47777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ln491"/>
          <p:cNvSpPr/>
          <p:nvPr/>
        </p:nvSpPr>
        <p:spPr>
          <a:xfrm>
            <a:off x="848105" y="3332988"/>
            <a:ext cx="243231" cy="477775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rc492"/>
          <p:cNvSpPr/>
          <p:nvPr/>
        </p:nvSpPr>
        <p:spPr>
          <a:xfrm>
            <a:off x="1417319" y="2697479"/>
            <a:ext cx="1828801" cy="7772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tx493"/>
          <p:cNvSpPr txBox="1"/>
          <p:nvPr/>
        </p:nvSpPr>
        <p:spPr>
          <a:xfrm>
            <a:off x="1490472" y="2975123"/>
            <a:ext cx="16824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 client</a:t>
            </a:r>
          </a:p>
        </p:txBody>
      </p:sp>
      <p:sp>
        <p:nvSpPr>
          <p:cNvPr id="562" name="rc494"/>
          <p:cNvSpPr/>
          <p:nvPr/>
        </p:nvSpPr>
        <p:spPr>
          <a:xfrm>
            <a:off x="7589519" y="2606039"/>
            <a:ext cx="2194561" cy="96012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tx495"/>
          <p:cNvSpPr txBox="1"/>
          <p:nvPr/>
        </p:nvSpPr>
        <p:spPr>
          <a:xfrm>
            <a:off x="7662671" y="2860823"/>
            <a:ext cx="2048257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MCP endpoint</a:t>
            </a:r>
          </a:p>
          <a:p>
            <a: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(GATool)</a:t>
            </a:r>
          </a:p>
        </p:txBody>
      </p:sp>
      <p:sp>
        <p:nvSpPr>
          <p:cNvPr id="564" name="rc496"/>
          <p:cNvSpPr/>
          <p:nvPr/>
        </p:nvSpPr>
        <p:spPr>
          <a:xfrm>
            <a:off x="4206240" y="548640"/>
            <a:ext cx="2194561" cy="7772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5" name="tx497"/>
          <p:cNvSpPr txBox="1"/>
          <p:nvPr/>
        </p:nvSpPr>
        <p:spPr>
          <a:xfrm>
            <a:off x="4279391" y="807649"/>
            <a:ext cx="204825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Keycloak</a:t>
            </a:r>
          </a:p>
        </p:txBody>
      </p:sp>
      <p:sp>
        <p:nvSpPr>
          <p:cNvPr id="566" name="c1_ln498"/>
          <p:cNvSpPr/>
          <p:nvPr/>
        </p:nvSpPr>
        <p:spPr>
          <a:xfrm>
            <a:off x="3337559" y="2926079"/>
            <a:ext cx="416052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c1_ln499"/>
          <p:cNvSpPr/>
          <p:nvPr/>
        </p:nvSpPr>
        <p:spPr>
          <a:xfrm flipH="1">
            <a:off x="3337559" y="3291840"/>
            <a:ext cx="4160521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c1_tx500"/>
          <p:cNvSpPr txBox="1"/>
          <p:nvPr/>
        </p:nvSpPr>
        <p:spPr>
          <a:xfrm>
            <a:off x="4206240" y="2626220"/>
            <a:ext cx="29260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token</a:t>
            </a:r>
          </a:p>
        </p:txBody>
      </p:sp>
      <p:sp>
        <p:nvSpPr>
          <p:cNvPr id="569" name="c1_tx501"/>
          <p:cNvSpPr txBox="1"/>
          <p:nvPr/>
        </p:nvSpPr>
        <p:spPr>
          <a:xfrm>
            <a:off x="3749040" y="3394316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401: sign in there, for these scopes</a:t>
            </a:r>
          </a:p>
        </p:txBody>
      </p:sp>
      <p:sp>
        <p:nvSpPr>
          <p:cNvPr id="570" name="c2_ln502"/>
          <p:cNvSpPr/>
          <p:nvPr/>
        </p:nvSpPr>
        <p:spPr>
          <a:xfrm flipV="1">
            <a:off x="2331720" y="1051560"/>
            <a:ext cx="1783080" cy="155448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71" name="c2_ln503"/>
          <p:cNvSpPr/>
          <p:nvPr/>
        </p:nvSpPr>
        <p:spPr>
          <a:xfrm flipH="1">
            <a:off x="2697479" y="1325879"/>
            <a:ext cx="1508761" cy="128016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c2_tx504"/>
          <p:cNvSpPr txBox="1"/>
          <p:nvPr/>
        </p:nvSpPr>
        <p:spPr>
          <a:xfrm>
            <a:off x="1554480" y="1455788"/>
            <a:ext cx="13716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 in</a:t>
            </a:r>
          </a:p>
        </p:txBody>
      </p:sp>
      <p:sp>
        <p:nvSpPr>
          <p:cNvPr id="573" name="c2_tx505"/>
          <p:cNvSpPr txBox="1"/>
          <p:nvPr/>
        </p:nvSpPr>
        <p:spPr>
          <a:xfrm>
            <a:off x="3383279" y="1958708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token</a:t>
            </a:r>
          </a:p>
        </p:txBody>
      </p:sp>
      <p:sp>
        <p:nvSpPr>
          <p:cNvPr id="574" name="c3_ln506"/>
          <p:cNvSpPr/>
          <p:nvPr/>
        </p:nvSpPr>
        <p:spPr>
          <a:xfrm>
            <a:off x="3337559" y="4160520"/>
            <a:ext cx="4160521" cy="92"/>
          </a:xfrm>
          <a:prstGeom prst="line">
            <a:avLst/>
          </a:prstGeom>
          <a:ln w="38100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c3_tx507"/>
          <p:cNvSpPr txBox="1"/>
          <p:nvPr/>
        </p:nvSpPr>
        <p:spPr>
          <a:xfrm>
            <a:off x="3749040" y="4308716"/>
            <a:ext cx="3840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call carries the token</a:t>
            </a:r>
          </a:p>
        </p:txBody>
      </p:sp>
      <p:sp>
        <p:nvSpPr>
          <p:cNvPr id="576" name="c4_ln508"/>
          <p:cNvSpPr/>
          <p:nvPr/>
        </p:nvSpPr>
        <p:spPr>
          <a:xfrm>
            <a:off x="9875519" y="3108960"/>
            <a:ext cx="4572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77" name="c4_tx509"/>
          <p:cNvSpPr txBox="1"/>
          <p:nvPr/>
        </p:nvSpPr>
        <p:spPr>
          <a:xfrm>
            <a:off x="10424159" y="2318326"/>
            <a:ext cx="16459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 tools</a:t>
            </a:r>
          </a:p>
        </p:txBody>
      </p:sp>
      <p:sp>
        <p:nvSpPr>
          <p:cNvPr id="578" name="c4_tx510"/>
          <p:cNvSpPr txBox="1"/>
          <p:nvPr/>
        </p:nvSpPr>
        <p:spPr>
          <a:xfrm>
            <a:off x="10424159" y="2670809"/>
            <a:ext cx="1645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mcp:tools</a:t>
            </a:r>
          </a:p>
        </p:txBody>
      </p:sp>
      <p:sp>
        <p:nvSpPr>
          <p:cNvPr id="579" name="c4_tx511"/>
          <p:cNvSpPr txBox="1"/>
          <p:nvPr/>
        </p:nvSpPr>
        <p:spPr>
          <a:xfrm>
            <a:off x="10424159" y="3324166"/>
            <a:ext cx="16459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tools</a:t>
            </a:r>
          </a:p>
        </p:txBody>
      </p:sp>
      <p:sp>
        <p:nvSpPr>
          <p:cNvPr id="580" name="c4_tx512"/>
          <p:cNvSpPr txBox="1"/>
          <p:nvPr/>
        </p:nvSpPr>
        <p:spPr>
          <a:xfrm>
            <a:off x="10424159" y="3611879"/>
            <a:ext cx="17373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mcp:tools</a:t>
            </a:r>
          </a:p>
          <a:p>
            <a:pPr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petclinic:write</a:t>
            </a:r>
          </a:p>
        </p:txBody>
      </p:sp>
      <p:sp>
        <p:nvSpPr>
          <p:cNvPr id="581" name="tx513"/>
          <p:cNvSpPr txBox="1"/>
          <p:nvPr/>
        </p:nvSpPr>
        <p:spPr>
          <a:xfrm>
            <a:off x="457199" y="5951149"/>
            <a:ext cx="1124712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OAuth 2.1 · scopes per tool · rate limit per caller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35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"/>
                            </p:stCondLst>
                            <p:childTnLst>
                              <p:par>
                                <p:cTn id="43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5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35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35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"/>
                            </p:stCondLst>
                            <p:childTnLst>
                              <p:par>
                                <p:cTn id="56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8" dur="35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50"/>
                            </p:stCondLst>
                            <p:childTnLst>
                              <p:par>
                                <p:cTn id="60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2" dur="35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00"/>
                            </p:stCondLst>
                            <p:childTnLst>
                              <p:par>
                                <p:cTn id="64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35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1" grpId="6"/>
      <p:bldP build="whole" bldLvl="1" animBg="1" rev="0" advAuto="0" spid="572" grpId="7"/>
      <p:bldP build="whole" bldLvl="1" animBg="1" rev="0" advAuto="0" spid="578" grpId="13"/>
      <p:bldP build="whole" bldLvl="1" animBg="1" rev="0" advAuto="0" spid="570" grpId="5"/>
      <p:bldP build="whole" bldLvl="1" animBg="1" rev="0" advAuto="0" spid="574" grpId="9"/>
      <p:bldP build="whole" bldLvl="1" animBg="1" rev="0" advAuto="0" spid="568" grpId="3"/>
      <p:bldP build="whole" bldLvl="1" animBg="1" rev="0" advAuto="0" spid="573" grpId="8"/>
      <p:bldP build="whole" bldLvl="1" animBg="1" rev="0" advAuto="0" spid="566" grpId="1"/>
      <p:bldP build="whole" bldLvl="1" animBg="1" rev="0" advAuto="0" spid="580" grpId="15"/>
      <p:bldP build="whole" bldLvl="1" animBg="1" rev="0" advAuto="0" spid="569" grpId="4"/>
      <p:bldP build="whole" bldLvl="1" animBg="1" rev="0" advAuto="0" spid="575" grpId="10"/>
      <p:bldP build="whole" bldLvl="1" animBg="1" rev="0" advAuto="0" spid="577" grpId="12"/>
      <p:bldP build="whole" bldLvl="1" animBg="1" rev="0" advAuto="0" spid="567" grpId="2"/>
      <p:bldP build="whole" bldLvl="1" animBg="1" rev="0" advAuto="0" spid="576" grpId="11"/>
      <p:bldP build="whole" bldLvl="1" animBg="1" rev="0" advAuto="0" spid="579" grpId="14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x514"/>
          <p:cNvSpPr txBox="1"/>
          <p:nvPr/>
        </p:nvSpPr>
        <p:spPr>
          <a:xfrm>
            <a:off x="365759" y="498184"/>
            <a:ext cx="7315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application.properties</a:t>
            </a:r>
          </a:p>
        </p:txBody>
      </p:sp>
      <p:sp>
        <p:nvSpPr>
          <p:cNvPr id="584" name="rc515"/>
          <p:cNvSpPr/>
          <p:nvPr/>
        </p:nvSpPr>
        <p:spPr>
          <a:xfrm>
            <a:off x="365759" y="914400"/>
            <a:ext cx="11430001" cy="1291337"/>
          </a:xfrm>
          <a:prstGeom prst="roundRect">
            <a:avLst>
              <a:gd name="adj" fmla="val 4249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code516"/>
          <p:cNvSpPr txBox="1"/>
          <p:nvPr/>
        </p:nvSpPr>
        <p:spPr>
          <a:xfrm>
            <a:off x="566927" y="1115567"/>
            <a:ext cx="11027666" cy="873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spring.security.oauth2.resourceserver.jwt.issuer-uri=http://localhost:8180/realms/petclinic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spring.security.oauth2.resourceserver.jwt.audiences=http://localhost:8080/mcp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gatool.mcp.security.resource=http://localhost:8080/mcp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gatool.mcp.security.baseline-scopes=mcp:tools</a:t>
            </a:r>
          </a:p>
        </p:txBody>
      </p:sp>
      <p:sp>
        <p:nvSpPr>
          <p:cNvPr id="586" name="c1_tx517"/>
          <p:cNvSpPr txBox="1"/>
          <p:nvPr/>
        </p:nvSpPr>
        <p:spPr>
          <a:xfrm>
            <a:off x="365759" y="2829904"/>
            <a:ext cx="7315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addPet.graphql</a:t>
            </a:r>
          </a:p>
        </p:txBody>
      </p:sp>
      <p:sp>
        <p:nvSpPr>
          <p:cNvPr id="587" name="c1_rc518"/>
          <p:cNvSpPr/>
          <p:nvPr/>
        </p:nvSpPr>
        <p:spPr>
          <a:xfrm>
            <a:off x="365759" y="3246120"/>
            <a:ext cx="11430001" cy="1958086"/>
          </a:xfrm>
          <a:prstGeom prst="roundRect">
            <a:avLst>
              <a:gd name="adj" fmla="val 280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c1_hl519"/>
          <p:cNvSpPr/>
          <p:nvPr/>
        </p:nvSpPr>
        <p:spPr>
          <a:xfrm>
            <a:off x="438911" y="3882644"/>
            <a:ext cx="11283698" cy="240539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c1_code520"/>
          <p:cNvSpPr txBox="1"/>
          <p:nvPr/>
        </p:nvSpPr>
        <p:spPr>
          <a:xfrm>
            <a:off x="566927" y="3447288"/>
            <a:ext cx="11027666" cy="1521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Registers a new pet for an owner and returns the id of the pet.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mutation AddPet($ownerId: ID!, $name: String!, $birthDate: Date!, $typeId: ID!)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@gatool(scopes: ["petclinic:write"])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addPet(input: {ownerId: $ownerId, name: $name, birthDate: $birthDate, typeId: $typeId})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id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6" grpId="1"/>
      <p:bldP build="whole" bldLvl="1" animBg="1" rev="0" advAuto="0" spid="588" grpId="3"/>
      <p:bldP build="whole" bldLvl="1" animBg="1" rev="0" advAuto="0" spid="587" grpId="2"/>
      <p:bldP build="whole" bldLvl="1" animBg="1" rev="0" advAuto="0" spid="589" grpId="4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rc521"/>
          <p:cNvSpPr/>
          <p:nvPr/>
        </p:nvSpPr>
        <p:spPr>
          <a:xfrm>
            <a:off x="1371599" y="914400"/>
            <a:ext cx="9448497" cy="5029200"/>
          </a:xfrm>
          <a:prstGeom prst="rect">
            <a:avLst/>
          </a:prstGeom>
          <a:ln w="19050">
            <a:solidFill>
              <a:srgbClr val="8A8A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592" name="tx522"/>
          <p:cNvSpPr txBox="1"/>
          <p:nvPr/>
        </p:nvSpPr>
        <p:spPr>
          <a:xfrm>
            <a:off x="1371599" y="2895458"/>
            <a:ext cx="9448497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593" name="tx523"/>
          <p:cNvSpPr txBox="1"/>
          <p:nvPr/>
        </p:nvSpPr>
        <p:spPr>
          <a:xfrm>
            <a:off x="1371599" y="3619429"/>
            <a:ext cx="944849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signing in from the MCP Inspector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x524"/>
          <p:cNvSpPr txBox="1"/>
          <p:nvPr/>
        </p:nvSpPr>
        <p:spPr>
          <a:xfrm>
            <a:off x="457199" y="2665980"/>
            <a:ext cx="11277297" cy="125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OK… but my API has more than 10 operations.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ql525" descr="gql5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40679" y="2423160"/>
            <a:ext cx="1325881" cy="1325881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tx526"/>
          <p:cNvSpPr txBox="1"/>
          <p:nvPr/>
        </p:nvSpPr>
        <p:spPr>
          <a:xfrm>
            <a:off x="5074920" y="3866663"/>
            <a:ext cx="2057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1009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</a:t>
            </a:r>
          </a:p>
        </p:txBody>
      </p:sp>
      <p:sp>
        <p:nvSpPr>
          <p:cNvPr id="599" name="c1_rc527"/>
          <p:cNvSpPr/>
          <p:nvPr/>
        </p:nvSpPr>
        <p:spPr>
          <a:xfrm>
            <a:off x="365759" y="658367"/>
            <a:ext cx="3657601" cy="64008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0" name="c1_tx528"/>
          <p:cNvSpPr txBox="1"/>
          <p:nvPr/>
        </p:nvSpPr>
        <p:spPr>
          <a:xfrm>
            <a:off x="502920" y="760844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Denver open data</a:t>
            </a:r>
          </a:p>
        </p:txBody>
      </p:sp>
      <p:sp>
        <p:nvSpPr>
          <p:cNvPr id="601" name="c1_tx529"/>
          <p:cNvSpPr txBox="1"/>
          <p:nvPr/>
        </p:nvSpPr>
        <p:spPr>
          <a:xfrm>
            <a:off x="502920" y="1048511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ArcGIS REST</a:t>
            </a:r>
          </a:p>
        </p:txBody>
      </p:sp>
      <p:sp>
        <p:nvSpPr>
          <p:cNvPr id="602" name="c1_ln530"/>
          <p:cNvSpPr/>
          <p:nvPr/>
        </p:nvSpPr>
        <p:spPr>
          <a:xfrm>
            <a:off x="4069079" y="978407"/>
            <a:ext cx="1280161" cy="2107694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3" name="c1_rc531"/>
          <p:cNvSpPr/>
          <p:nvPr/>
        </p:nvSpPr>
        <p:spPr>
          <a:xfrm>
            <a:off x="365759" y="1444752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c1_tx532"/>
          <p:cNvSpPr txBox="1"/>
          <p:nvPr/>
        </p:nvSpPr>
        <p:spPr>
          <a:xfrm>
            <a:off x="502920" y="1547228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Colorado vet licenses, shelters</a:t>
            </a:r>
          </a:p>
        </p:txBody>
      </p:sp>
      <p:sp>
        <p:nvSpPr>
          <p:cNvPr id="605" name="c1_tx533"/>
          <p:cNvSpPr txBox="1"/>
          <p:nvPr/>
        </p:nvSpPr>
        <p:spPr>
          <a:xfrm>
            <a:off x="502920" y="1834895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Socrata</a:t>
            </a:r>
          </a:p>
        </p:txBody>
      </p:sp>
      <p:sp>
        <p:nvSpPr>
          <p:cNvPr id="606" name="c1_ln534"/>
          <p:cNvSpPr/>
          <p:nvPr/>
        </p:nvSpPr>
        <p:spPr>
          <a:xfrm>
            <a:off x="4069079" y="1764792"/>
            <a:ext cx="1280161" cy="1321309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7" name="c1_rc535"/>
          <p:cNvSpPr/>
          <p:nvPr/>
        </p:nvSpPr>
        <p:spPr>
          <a:xfrm>
            <a:off x="365759" y="2231135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c1_tx536"/>
          <p:cNvSpPr txBox="1"/>
          <p:nvPr/>
        </p:nvSpPr>
        <p:spPr>
          <a:xfrm>
            <a:off x="502920" y="2333612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CDPHE animal disease</a:t>
            </a:r>
          </a:p>
        </p:txBody>
      </p:sp>
      <p:sp>
        <p:nvSpPr>
          <p:cNvPr id="609" name="c1_tx537"/>
          <p:cNvSpPr txBox="1"/>
          <p:nvPr/>
        </p:nvSpPr>
        <p:spPr>
          <a:xfrm>
            <a:off x="502920" y="2621279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D6282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SOAP</a:t>
            </a:r>
          </a:p>
        </p:txBody>
      </p:sp>
      <p:sp>
        <p:nvSpPr>
          <p:cNvPr id="610" name="c1_ln538"/>
          <p:cNvSpPr/>
          <p:nvPr/>
        </p:nvSpPr>
        <p:spPr>
          <a:xfrm>
            <a:off x="4069079" y="2551176"/>
            <a:ext cx="1280161" cy="53492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1" name="c1_rc539"/>
          <p:cNvSpPr/>
          <p:nvPr/>
        </p:nvSpPr>
        <p:spPr>
          <a:xfrm>
            <a:off x="365759" y="3017520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c1_tx540"/>
          <p:cNvSpPr txBox="1"/>
          <p:nvPr/>
        </p:nvSpPr>
        <p:spPr>
          <a:xfrm>
            <a:off x="502920" y="3119996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Parks and Wildlife ranges</a:t>
            </a:r>
          </a:p>
        </p:txBody>
      </p:sp>
      <p:sp>
        <p:nvSpPr>
          <p:cNvPr id="613" name="c1_tx541"/>
          <p:cNvSpPr txBox="1"/>
          <p:nvPr/>
        </p:nvSpPr>
        <p:spPr>
          <a:xfrm>
            <a:off x="502920" y="3407663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ArcGIS REST</a:t>
            </a:r>
          </a:p>
        </p:txBody>
      </p:sp>
      <p:sp>
        <p:nvSpPr>
          <p:cNvPr id="614" name="c1_ln542"/>
          <p:cNvSpPr/>
          <p:nvPr/>
        </p:nvSpPr>
        <p:spPr>
          <a:xfrm flipV="1">
            <a:off x="4069079" y="3086100"/>
            <a:ext cx="1280161" cy="251460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5" name="c1_rc543"/>
          <p:cNvSpPr/>
          <p:nvPr/>
        </p:nvSpPr>
        <p:spPr>
          <a:xfrm>
            <a:off x="365759" y="3803903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c1_tx544"/>
          <p:cNvSpPr txBox="1"/>
          <p:nvPr/>
        </p:nvSpPr>
        <p:spPr>
          <a:xfrm>
            <a:off x="502920" y="3906380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openFDA animal drug events</a:t>
            </a:r>
          </a:p>
        </p:txBody>
      </p:sp>
      <p:sp>
        <p:nvSpPr>
          <p:cNvPr id="617" name="c1_tx545"/>
          <p:cNvSpPr txBox="1"/>
          <p:nvPr/>
        </p:nvSpPr>
        <p:spPr>
          <a:xfrm>
            <a:off x="502920" y="4194047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18" name="c1_ln546"/>
          <p:cNvSpPr/>
          <p:nvPr/>
        </p:nvSpPr>
        <p:spPr>
          <a:xfrm flipV="1">
            <a:off x="4069079" y="3086100"/>
            <a:ext cx="1280161" cy="103784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9" name="c1_rc547"/>
          <p:cNvSpPr/>
          <p:nvPr/>
        </p:nvSpPr>
        <p:spPr>
          <a:xfrm>
            <a:off x="365759" y="4590288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c1_tx548"/>
          <p:cNvSpPr txBox="1"/>
          <p:nvPr/>
        </p:nvSpPr>
        <p:spPr>
          <a:xfrm>
            <a:off x="502920" y="4692764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iNaturalist sightings</a:t>
            </a:r>
          </a:p>
        </p:txBody>
      </p:sp>
      <p:sp>
        <p:nvSpPr>
          <p:cNvPr id="621" name="c1_tx549"/>
          <p:cNvSpPr txBox="1"/>
          <p:nvPr/>
        </p:nvSpPr>
        <p:spPr>
          <a:xfrm>
            <a:off x="502920" y="4980431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22" name="c1_ln550"/>
          <p:cNvSpPr/>
          <p:nvPr/>
        </p:nvSpPr>
        <p:spPr>
          <a:xfrm flipV="1">
            <a:off x="4069079" y="3086099"/>
            <a:ext cx="1280161" cy="1824229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3" name="c1_rc551"/>
          <p:cNvSpPr/>
          <p:nvPr/>
        </p:nvSpPr>
        <p:spPr>
          <a:xfrm>
            <a:off x="365759" y="5376671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c1_tx552"/>
          <p:cNvSpPr txBox="1"/>
          <p:nvPr/>
        </p:nvSpPr>
        <p:spPr>
          <a:xfrm>
            <a:off x="502920" y="5479148"/>
            <a:ext cx="33832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Census geocoder</a:t>
            </a:r>
          </a:p>
        </p:txBody>
      </p:sp>
      <p:sp>
        <p:nvSpPr>
          <p:cNvPr id="625" name="c1_tx553"/>
          <p:cNvSpPr txBox="1"/>
          <p:nvPr/>
        </p:nvSpPr>
        <p:spPr>
          <a:xfrm>
            <a:off x="502920" y="5766815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26" name="c1_ln554"/>
          <p:cNvSpPr/>
          <p:nvPr/>
        </p:nvSpPr>
        <p:spPr>
          <a:xfrm flipV="1">
            <a:off x="4069079" y="3086099"/>
            <a:ext cx="1280161" cy="2610613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7" name="c2_rc555"/>
          <p:cNvSpPr/>
          <p:nvPr/>
        </p:nvSpPr>
        <p:spPr>
          <a:xfrm>
            <a:off x="8168334" y="1051560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c2_tx556"/>
          <p:cNvSpPr txBox="1"/>
          <p:nvPr/>
        </p:nvSpPr>
        <p:spPr>
          <a:xfrm>
            <a:off x="8305495" y="1154036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National Weather Service</a:t>
            </a:r>
          </a:p>
        </p:txBody>
      </p:sp>
      <p:sp>
        <p:nvSpPr>
          <p:cNvPr id="629" name="c2_tx557"/>
          <p:cNvSpPr txBox="1"/>
          <p:nvPr/>
        </p:nvSpPr>
        <p:spPr>
          <a:xfrm>
            <a:off x="8305495" y="1441703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30" name="c2_ln558"/>
          <p:cNvSpPr/>
          <p:nvPr/>
        </p:nvSpPr>
        <p:spPr>
          <a:xfrm flipH="1">
            <a:off x="6857999" y="1371600"/>
            <a:ext cx="1264616" cy="1714501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1" name="c2_rc559"/>
          <p:cNvSpPr/>
          <p:nvPr/>
        </p:nvSpPr>
        <p:spPr>
          <a:xfrm>
            <a:off x="8168334" y="1837944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2" name="c2_tx560"/>
          <p:cNvSpPr txBox="1"/>
          <p:nvPr/>
        </p:nvSpPr>
        <p:spPr>
          <a:xfrm>
            <a:off x="8305495" y="1940420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NRCS snowpack</a:t>
            </a:r>
          </a:p>
        </p:txBody>
      </p:sp>
      <p:sp>
        <p:nvSpPr>
          <p:cNvPr id="633" name="c2_tx561"/>
          <p:cNvSpPr txBox="1"/>
          <p:nvPr/>
        </p:nvSpPr>
        <p:spPr>
          <a:xfrm>
            <a:off x="8305495" y="2228087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34" name="c2_ln562"/>
          <p:cNvSpPr/>
          <p:nvPr/>
        </p:nvSpPr>
        <p:spPr>
          <a:xfrm flipH="1">
            <a:off x="6857999" y="2157983"/>
            <a:ext cx="1264616" cy="928117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5" name="c2_rc563"/>
          <p:cNvSpPr/>
          <p:nvPr/>
        </p:nvSpPr>
        <p:spPr>
          <a:xfrm>
            <a:off x="8168334" y="2624327"/>
            <a:ext cx="3657601" cy="64008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6" name="c2_tx564"/>
          <p:cNvSpPr txBox="1"/>
          <p:nvPr/>
        </p:nvSpPr>
        <p:spPr>
          <a:xfrm>
            <a:off x="8305495" y="2726804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Colorado water (DWR)</a:t>
            </a:r>
          </a:p>
        </p:txBody>
      </p:sp>
      <p:sp>
        <p:nvSpPr>
          <p:cNvPr id="637" name="c2_tx565"/>
          <p:cNvSpPr txBox="1"/>
          <p:nvPr/>
        </p:nvSpPr>
        <p:spPr>
          <a:xfrm>
            <a:off x="8305495" y="3014471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38" name="c2_ln566"/>
          <p:cNvSpPr/>
          <p:nvPr/>
        </p:nvSpPr>
        <p:spPr>
          <a:xfrm flipH="1">
            <a:off x="6857999" y="2944367"/>
            <a:ext cx="1264616" cy="141733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c2_rc567"/>
          <p:cNvSpPr/>
          <p:nvPr/>
        </p:nvSpPr>
        <p:spPr>
          <a:xfrm>
            <a:off x="8168334" y="3410711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0" name="c2_tx568"/>
          <p:cNvSpPr txBox="1"/>
          <p:nvPr/>
        </p:nvSpPr>
        <p:spPr>
          <a:xfrm>
            <a:off x="8305495" y="3513188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USGS earthquakes</a:t>
            </a:r>
          </a:p>
        </p:txBody>
      </p:sp>
      <p:sp>
        <p:nvSpPr>
          <p:cNvPr id="641" name="c2_tx569"/>
          <p:cNvSpPr txBox="1"/>
          <p:nvPr/>
        </p:nvSpPr>
        <p:spPr>
          <a:xfrm>
            <a:off x="8305495" y="3800855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42" name="c2_ln570"/>
          <p:cNvSpPr/>
          <p:nvPr/>
        </p:nvSpPr>
        <p:spPr>
          <a:xfrm flipH="1" flipV="1">
            <a:off x="6857999" y="3086099"/>
            <a:ext cx="1264616" cy="644653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3" name="c2_rc571"/>
          <p:cNvSpPr/>
          <p:nvPr/>
        </p:nvSpPr>
        <p:spPr>
          <a:xfrm>
            <a:off x="8168334" y="4197096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4" name="c2_tx572"/>
          <p:cNvSpPr txBox="1"/>
          <p:nvPr/>
        </p:nvSpPr>
        <p:spPr>
          <a:xfrm>
            <a:off x="8305495" y="4299572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National Park Service</a:t>
            </a:r>
          </a:p>
        </p:txBody>
      </p:sp>
      <p:sp>
        <p:nvSpPr>
          <p:cNvPr id="645" name="c2_tx573"/>
          <p:cNvSpPr txBox="1"/>
          <p:nvPr/>
        </p:nvSpPr>
        <p:spPr>
          <a:xfrm>
            <a:off x="8305495" y="4587239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46" name="c2_ln574"/>
          <p:cNvSpPr/>
          <p:nvPr/>
        </p:nvSpPr>
        <p:spPr>
          <a:xfrm flipH="1" flipV="1">
            <a:off x="6857999" y="3086099"/>
            <a:ext cx="1264616" cy="1431038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c2_rc575"/>
          <p:cNvSpPr/>
          <p:nvPr/>
        </p:nvSpPr>
        <p:spPr>
          <a:xfrm>
            <a:off x="8168334" y="4983479"/>
            <a:ext cx="3657601" cy="640081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c2_tx576"/>
          <p:cNvSpPr txBox="1"/>
          <p:nvPr/>
        </p:nvSpPr>
        <p:spPr>
          <a:xfrm>
            <a:off x="8305495" y="5085956"/>
            <a:ext cx="3383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NLR fuel stations</a:t>
            </a:r>
          </a:p>
        </p:txBody>
      </p:sp>
      <p:sp>
        <p:nvSpPr>
          <p:cNvPr id="649" name="c2_tx577"/>
          <p:cNvSpPr txBox="1"/>
          <p:nvPr/>
        </p:nvSpPr>
        <p:spPr>
          <a:xfrm>
            <a:off x="8305495" y="5373623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REST</a:t>
            </a:r>
          </a:p>
        </p:txBody>
      </p:sp>
      <p:sp>
        <p:nvSpPr>
          <p:cNvPr id="650" name="c2_ln578"/>
          <p:cNvSpPr/>
          <p:nvPr/>
        </p:nvSpPr>
        <p:spPr>
          <a:xfrm flipH="1" flipV="1">
            <a:off x="6857999" y="3086100"/>
            <a:ext cx="1264616" cy="2217421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5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35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35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5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35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9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35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25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35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60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35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950"/>
                            </p:stCondLst>
                            <p:childTnLst>
                              <p:par>
                                <p:cTn id="73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35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300"/>
                            </p:stCondLst>
                            <p:childTnLst>
                              <p:par>
                                <p:cTn id="77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35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650"/>
                            </p:stCondLst>
                            <p:childTnLst>
                              <p:par>
                                <p:cTn id="81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35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35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350"/>
                            </p:stCondLst>
                            <p:childTnLst>
                              <p:par>
                                <p:cTn id="89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35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700"/>
                            </p:stCondLst>
                            <p:childTnLst>
                              <p:par>
                                <p:cTn id="93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35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50"/>
                            </p:stCondLst>
                            <p:childTnLst>
                              <p:par>
                                <p:cTn id="97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35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400"/>
                            </p:stCondLst>
                            <p:childTnLst>
                              <p:par>
                                <p:cTn id="101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35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750"/>
                            </p:stCondLst>
                            <p:childTnLst>
                              <p:par>
                                <p:cTn id="105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35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100"/>
                            </p:stCondLst>
                            <p:childTnLst>
                              <p:par>
                                <p:cTn id="109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1" dur="35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450"/>
                            </p:stCondLst>
                            <p:childTnLst>
                              <p:par>
                                <p:cTn id="113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5" dur="35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Class="entr" nodeType="click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0" dur="35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50"/>
                            </p:stCondLst>
                            <p:childTnLst>
                              <p:par>
                                <p:cTn id="122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4" dur="35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700"/>
                            </p:stCondLst>
                            <p:childTnLst>
                              <p:par>
                                <p:cTn id="126" presetClass="entr" nodeType="after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8" dur="35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50"/>
                            </p:stCondLst>
                            <p:childTnLst>
                              <p:par>
                                <p:cTn id="130" presetClass="entr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2" dur="35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00"/>
                            </p:stCondLst>
                            <p:childTnLst>
                              <p:par>
                                <p:cTn id="134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6" dur="35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750"/>
                            </p:stCondLst>
                            <p:childTnLst>
                              <p:par>
                                <p:cTn id="138" presetClass="entr" nodeType="afterEffect" presetID="10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0" dur="35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100"/>
                            </p:stCondLst>
                            <p:childTnLst>
                              <p:par>
                                <p:cTn id="142" presetClass="entr" nodeType="afterEffect" presetID="10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4" dur="35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50"/>
                            </p:stCondLst>
                            <p:childTnLst>
                              <p:par>
                                <p:cTn id="146" presetClass="entr" nodeType="afterEffect" presetID="10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8" dur="35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800"/>
                            </p:stCondLst>
                            <p:childTnLst>
                              <p:par>
                                <p:cTn id="150" presetClass="entr" nodeType="afterEffect" presetID="10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2" dur="35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150"/>
                            </p:stCondLst>
                            <p:childTnLst>
                              <p:par>
                                <p:cTn id="154" presetClass="entr" nodeType="afterEffect" presetID="10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6" dur="35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500"/>
                            </p:stCondLst>
                            <p:childTnLst>
                              <p:par>
                                <p:cTn id="158" presetClass="entr" nodeType="afterEffect" presetID="10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9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0" dur="35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850"/>
                            </p:stCondLst>
                            <p:childTnLst>
                              <p:par>
                                <p:cTn id="162" presetClass="entr" nodeType="afterEffect" presetID="10" grpId="4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4" dur="35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200"/>
                            </p:stCondLst>
                            <p:childTnLst>
                              <p:par>
                                <p:cTn id="166" presetClass="entr" nodeType="afterEffect" presetID="10" grpId="4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8" dur="35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550"/>
                            </p:stCondLst>
                            <p:childTnLst>
                              <p:par>
                                <p:cTn id="170" presetClass="entr" nodeType="afterEffect" presetID="10" grpId="4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2" dur="35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900"/>
                            </p:stCondLst>
                            <p:childTnLst>
                              <p:par>
                                <p:cTn id="174" presetClass="entr" nodeType="afterEffect" presetID="10" grpId="4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6" dur="35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250"/>
                            </p:stCondLst>
                            <p:childTnLst>
                              <p:par>
                                <p:cTn id="178" presetClass="entr" nodeType="afterEffect" presetID="10" grpId="4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0" dur="35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600"/>
                            </p:stCondLst>
                            <p:childTnLst>
                              <p:par>
                                <p:cTn id="182" presetClass="entr" nodeType="afterEffect" presetID="10" grpId="4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4" dur="35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950"/>
                            </p:stCondLst>
                            <p:childTnLst>
                              <p:par>
                                <p:cTn id="186" presetClass="entr" nodeType="afterEffect" presetID="10" grpId="4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7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8" dur="35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6300"/>
                            </p:stCondLst>
                            <p:childTnLst>
                              <p:par>
                                <p:cTn id="190" presetClass="entr" nodeType="afterEffect" presetID="10" grpId="4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1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2" dur="35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650"/>
                            </p:stCondLst>
                            <p:childTnLst>
                              <p:par>
                                <p:cTn id="194" presetClass="entr" nodeType="afterEffect" presetID="10" grpId="4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5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6" dur="35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7000"/>
                            </p:stCondLst>
                            <p:childTnLst>
                              <p:par>
                                <p:cTn id="198" presetClass="entr" nodeType="afterEffect" presetID="10" grpId="4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9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0" dur="35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7350"/>
                            </p:stCondLst>
                            <p:childTnLst>
                              <p:par>
                                <p:cTn id="202" presetClass="entr" nodeType="afterEffect" presetID="10" grpId="5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3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4" dur="35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7700"/>
                            </p:stCondLst>
                            <p:childTnLst>
                              <p:par>
                                <p:cTn id="206" presetClass="entr" nodeType="afterEffect" presetID="10" grpId="5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7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8" dur="35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050"/>
                            </p:stCondLst>
                            <p:childTnLst>
                              <p:par>
                                <p:cTn id="210" presetClass="entr" nodeType="afterEffect" presetID="10" grpId="5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1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2" dur="35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40" grpId="42"/>
      <p:bldP build="whole" bldLvl="1" animBg="1" rev="0" advAuto="0" spid="601" grpId="3"/>
      <p:bldP build="whole" bldLvl="1" animBg="1" rev="0" advAuto="0" spid="626" grpId="28"/>
      <p:bldP build="whole" bldLvl="1" animBg="1" rev="0" advAuto="0" spid="619" grpId="21"/>
      <p:bldP build="whole" bldLvl="1" animBg="1" rev="0" advAuto="0" spid="612" grpId="14"/>
      <p:bldP build="whole" bldLvl="1" animBg="1" rev="0" advAuto="0" spid="633" grpId="35"/>
      <p:bldP build="whole" bldLvl="1" animBg="1" rev="0" advAuto="0" spid="600" grpId="2"/>
      <p:bldP build="whole" bldLvl="1" animBg="1" rev="0" advAuto="0" spid="607" grpId="9"/>
      <p:bldP build="whole" bldLvl="1" animBg="1" rev="0" advAuto="0" spid="648" grpId="50"/>
      <p:bldP build="whole" bldLvl="1" animBg="1" rev="0" advAuto="0" spid="641" grpId="43"/>
      <p:bldP build="whole" bldLvl="1" animBg="1" rev="0" advAuto="0" spid="634" grpId="36"/>
      <p:bldP build="whole" bldLvl="1" animBg="1" rev="0" advAuto="0" spid="627" grpId="29"/>
      <p:bldP build="whole" bldLvl="1" animBg="1" rev="0" advAuto="0" spid="620" grpId="22"/>
      <p:bldP build="whole" bldLvl="1" animBg="1" rev="0" advAuto="0" spid="615" grpId="17"/>
      <p:bldP build="whole" bldLvl="1" animBg="1" rev="0" advAuto="0" spid="649" grpId="51"/>
      <p:bldP build="whole" bldLvl="1" animBg="1" rev="0" advAuto="0" spid="642" grpId="44"/>
      <p:bldP build="whole" bldLvl="1" animBg="1" rev="0" advAuto="0" spid="635" grpId="37"/>
      <p:bldP build="whole" bldLvl="1" animBg="1" rev="0" advAuto="0" spid="628" grpId="30"/>
      <p:bldP build="whole" bldLvl="1" animBg="1" rev="0" advAuto="0" spid="614" grpId="16"/>
      <p:bldP build="whole" bldLvl="1" animBg="1" rev="0" advAuto="0" spid="616" grpId="18"/>
      <p:bldP build="whole" bldLvl="1" animBg="1" rev="0" advAuto="0" spid="650" grpId="52"/>
      <p:bldP build="whole" bldLvl="1" animBg="1" rev="0" advAuto="0" spid="622" grpId="24"/>
      <p:bldP build="whole" bldLvl="1" animBg="1" rev="0" advAuto="0" spid="636" grpId="38"/>
      <p:bldP build="whole" bldLvl="1" animBg="1" rev="0" advAuto="0" spid="629" grpId="31"/>
      <p:bldP build="whole" bldLvl="1" animBg="1" rev="0" advAuto="0" spid="599" grpId="1"/>
      <p:bldP build="whole" bldLvl="1" animBg="1" rev="0" advAuto="0" spid="606" grpId="8"/>
      <p:bldP build="whole" bldLvl="1" animBg="1" rev="0" advAuto="0" spid="603" grpId="5"/>
      <p:bldP build="whole" bldLvl="1" animBg="1" rev="0" advAuto="0" spid="617" grpId="19"/>
      <p:bldP build="whole" bldLvl="1" animBg="1" rev="0" advAuto="0" spid="643" grpId="45"/>
      <p:bldP build="whole" bldLvl="1" animBg="1" rev="0" advAuto="0" spid="621" grpId="23"/>
      <p:bldP build="whole" bldLvl="1" animBg="1" rev="0" advAuto="0" spid="644" grpId="46"/>
      <p:bldP build="whole" bldLvl="1" animBg="1" rev="0" advAuto="0" spid="605" grpId="7"/>
      <p:bldP build="whole" bldLvl="1" animBg="1" rev="0" advAuto="0" spid="630" grpId="32"/>
      <p:bldP build="whole" bldLvl="1" animBg="1" rev="0" advAuto="0" spid="623" grpId="25"/>
      <p:bldP build="whole" bldLvl="1" animBg="1" rev="0" advAuto="0" spid="637" grpId="39"/>
      <p:bldP build="whole" bldLvl="1" animBg="1" rev="0" advAuto="0" spid="611" grpId="13"/>
      <p:bldP build="whole" bldLvl="1" animBg="1" rev="0" advAuto="0" spid="613" grpId="15"/>
      <p:bldP build="whole" bldLvl="1" animBg="1" rev="0" advAuto="0" spid="645" grpId="47"/>
      <p:bldP build="whole" bldLvl="1" animBg="1" rev="0" advAuto="0" spid="638" grpId="40"/>
      <p:bldP build="whole" bldLvl="1" animBg="1" rev="0" advAuto="0" spid="631" grpId="33"/>
      <p:bldP build="whole" bldLvl="1" animBg="1" rev="0" advAuto="0" spid="624" grpId="26"/>
      <p:bldP build="whole" bldLvl="1" animBg="1" rev="0" advAuto="0" spid="608" grpId="10"/>
      <p:bldP build="whole" bldLvl="1" animBg="1" rev="0" advAuto="0" spid="610" grpId="12"/>
      <p:bldP build="whole" bldLvl="1" animBg="1" rev="0" advAuto="0" spid="646" grpId="48"/>
      <p:bldP build="whole" bldLvl="1" animBg="1" rev="0" advAuto="0" spid="618" grpId="20"/>
      <p:bldP build="whole" bldLvl="1" animBg="1" rev="0" advAuto="0" spid="609" grpId="11"/>
      <p:bldP build="whole" bldLvl="1" animBg="1" rev="0" advAuto="0" spid="625" grpId="27"/>
      <p:bldP build="whole" bldLvl="1" animBg="1" rev="0" advAuto="0" spid="602" grpId="4"/>
      <p:bldP build="whole" bldLvl="1" animBg="1" rev="0" advAuto="0" spid="604" grpId="6"/>
      <p:bldP build="whole" bldLvl="1" animBg="1" rev="0" advAuto="0" spid="632" grpId="34"/>
      <p:bldP build="whole" bldLvl="1" animBg="1" rev="0" advAuto="0" spid="639" grpId="41"/>
      <p:bldP build="whole" bldLvl="1" animBg="1" rev="0" advAuto="0" spid="647" grpId="49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x579"/>
          <p:cNvSpPr txBox="1"/>
          <p:nvPr/>
        </p:nvSpPr>
        <p:spPr>
          <a:xfrm>
            <a:off x="-1" y="1001104"/>
            <a:ext cx="1219169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query fields</a:t>
            </a:r>
          </a:p>
        </p:txBody>
      </p:sp>
      <p:sp>
        <p:nvSpPr>
          <p:cNvPr id="653" name="tx580"/>
          <p:cNvSpPr txBox="1"/>
          <p:nvPr/>
        </p:nvSpPr>
        <p:spPr>
          <a:xfrm>
            <a:off x="2194560" y="1410961"/>
            <a:ext cx="3200401" cy="1567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4" name="c1_tx581"/>
          <p:cNvSpPr txBox="1"/>
          <p:nvPr/>
        </p:nvSpPr>
        <p:spPr>
          <a:xfrm>
            <a:off x="5394959" y="1626979"/>
            <a:ext cx="1371601" cy="113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55" name="c1_tx582"/>
          <p:cNvSpPr txBox="1"/>
          <p:nvPr/>
        </p:nvSpPr>
        <p:spPr>
          <a:xfrm>
            <a:off x="6766559" y="1410961"/>
            <a:ext cx="3291841" cy="1567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185</a:t>
            </a:r>
          </a:p>
        </p:txBody>
      </p:sp>
      <p:sp>
        <p:nvSpPr>
          <p:cNvPr id="656" name="tx583"/>
          <p:cNvSpPr txBox="1"/>
          <p:nvPr/>
        </p:nvSpPr>
        <p:spPr>
          <a:xfrm>
            <a:off x="-1" y="3515704"/>
            <a:ext cx="1219169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types</a:t>
            </a:r>
          </a:p>
        </p:txBody>
      </p:sp>
      <p:sp>
        <p:nvSpPr>
          <p:cNvPr id="657" name="tx584"/>
          <p:cNvSpPr txBox="1"/>
          <p:nvPr/>
        </p:nvSpPr>
        <p:spPr>
          <a:xfrm>
            <a:off x="2194560" y="3958699"/>
            <a:ext cx="3200401" cy="113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658" name="c1_tx585"/>
          <p:cNvSpPr txBox="1"/>
          <p:nvPr/>
        </p:nvSpPr>
        <p:spPr>
          <a:xfrm>
            <a:off x="5394959" y="4069675"/>
            <a:ext cx="1371601" cy="91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59" name="c1_tx586"/>
          <p:cNvSpPr txBox="1"/>
          <p:nvPr/>
        </p:nvSpPr>
        <p:spPr>
          <a:xfrm>
            <a:off x="6766559" y="3958699"/>
            <a:ext cx="3291841" cy="113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469</a:t>
            </a:r>
          </a:p>
        </p:txBody>
      </p:sp>
      <p:sp>
        <p:nvSpPr>
          <p:cNvPr id="660" name="c1_tx587"/>
          <p:cNvSpPr txBox="1"/>
          <p:nvPr/>
        </p:nvSpPr>
        <p:spPr>
          <a:xfrm>
            <a:off x="-1" y="5755984"/>
            <a:ext cx="1219169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15,925 lines of schema (about 136,000 tokens)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54" grpId="1"/>
      <p:bldP build="whole" bldLvl="1" animBg="1" rev="0" advAuto="0" spid="658" grpId="3"/>
      <p:bldP build="whole" bldLvl="1" animBg="1" rev="0" advAuto="0" spid="655" grpId="2"/>
      <p:bldP build="whole" bldLvl="1" animBg="1" rev="0" advAuto="0" spid="659" grpId="4"/>
      <p:bldP build="whole" bldLvl="1" animBg="1" rev="0" advAuto="0" spid="660" grpId="5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roots588"/>
          <p:cNvSpPr txBox="1"/>
          <p:nvPr/>
        </p:nvSpPr>
        <p:spPr>
          <a:xfrm>
            <a:off x="320039" y="365759"/>
            <a:ext cx="2926082" cy="537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owners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owner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petTypes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awdbStations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awdbData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awdbForecasts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awdbReferenceData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cdpheAnimalsTestedPositive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cdpheAnimalDiseaseCases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censusGeocodeAddress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coloradoVeterinaryLicenses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coloradoShelterReports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coloradoShelterTotals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cpwWildlifeAt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cpwWildlifeLayers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denverDogParks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denverAnimalServiceRequests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denverAnimalServiceRequestCounts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denverKennelLicenses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dwrTelemetryStationDataTypes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dwrTelemetryReadings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dwrTelemetryHourlyReadings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dwrTelemetryDailyReadings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dwrTelemetryDischargeMeasurements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dwrTelemetryDecodeSettings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dwrTelemetryRatingTables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dwrTelemetryShiftAdjustedRatingTable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dwrTelemetryShiftCurves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dwrSurfaceWaterStations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dwrSurfaceWaterStationDataTypes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dwrSurfaceWaterDailyValues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dwrSurfaceWaterMonthlyValues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dwrSurfaceWaterWaterYearValues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dwrActiveAdministrativeCalls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dwrHistoricalAdministrativeCalls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dwrCallAnalysisByStructure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dwrCallAnalysisByStreamLocation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dwrWaterSourceRouteAnalysis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dwrWaterSourceRouteFramework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dwrWaterRightNetAmounts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dwrWaterRightTransactions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dwrStructures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dwrDailyDiversionRecords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dwrMonthlyDiversionRecords</a:t>
            </a:r>
          </a:p>
        </p:txBody>
      </p:sp>
      <p:sp>
        <p:nvSpPr>
          <p:cNvPr id="663" name="roots589"/>
          <p:cNvSpPr txBox="1"/>
          <p:nvPr/>
        </p:nvSpPr>
        <p:spPr>
          <a:xfrm>
            <a:off x="3246120" y="365759"/>
            <a:ext cx="2926081" cy="537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dwrYearlyDiversionRecords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dwrDiversionRecordComments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dwrReservoirStageVolumes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dwrWaterClasses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dwrParcelUseTimeSeries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dwrWellPermits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dwrWellPermitActions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dwrGroundwaterLevelWells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dwrGroundwaterLevelMeasurements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dwrGeophysicalLogWells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dwrGeophysicalLogPicks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dwrMeterReadings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dwrJurisdictionalDams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dwrNonJurisdictionalDams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dwrLivestockAndErosionControlDams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dwrClimateStationDataTypes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dwrClimateStationDailyValues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dwrClimateStationMonthlyValues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dwrClimateStationFrostDates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dwrCounties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dwrWaterDivisions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dwrWaterDistricts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dwrDesignatedBasins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dwrManagementDistricts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dwrGroundwaterPublications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dwrPermitActionNames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dwrTelemetryParameters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dwrClimateStationMeasurementTypes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dwrCurrentInUseCodes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dwrDiversionRecordObservationCodes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dwrDiversionRecordTypes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dwrDiversionNotUsedCodes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dwrStationFlags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dwrMeterReadingSubmissionTypes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inatObservationTaxonSummary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inatObservationSpeciesCounts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inatObservationHistogram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inatObservationObservers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inatObservationIdentifiers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inatObservationPopularFieldValues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inatIdentificationCategories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inatIdentificationSpeciesCounts</a:t>
            </a:r>
          </a:p>
        </p:txBody>
      </p:sp>
      <p:sp>
        <p:nvSpPr>
          <p:cNvPr id="664" name="roots590"/>
          <p:cNvSpPr txBox="1"/>
          <p:nvPr/>
        </p:nvSpPr>
        <p:spPr>
          <a:xfrm>
            <a:off x="6172199" y="365759"/>
            <a:ext cx="2926082" cy="537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inatIdentificationIdentifiers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inatIdentificationObservers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inatIdentificationRecentTaxa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inatSimilarSpecies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inatTaxa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inatTaxon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inatTaxonAutocomplete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inatControlledTerms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inatControlledTermsForTaxon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inatPlace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inatPlaceAutocomplete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inatPlacesNearby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inatProjects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inatProject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inatProjectMembers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inatProjectAutocomplete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inatSearch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inatUser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inatUserProjects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inatUserAutocomplete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inatPosts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nlrFuelStationsNear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npsParks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npsAlerts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npsRoadEvents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npsWebcams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npsThingsToDo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npsCampgrounds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npsVisitorCenters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npsFeesAndPasses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npsEvents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npsActivities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npsActivityParks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nwsActiveAlerts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nwsActiveAlertsForArea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nwsActiveAlertsForZone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nwsActiveAlertCounts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nwsAlerts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nwsAlert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nwsAlertTypes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nwsActiveAlertsForMarineRegion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nwsPoint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nwsGridpointForecast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nwsGridpointHourlyForecast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nwsGridpointRawForecastData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nwsZoneForecast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nwsIconConditions</a:t>
            </a:r>
          </a:p>
        </p:txBody>
      </p:sp>
      <p:sp>
        <p:nvSpPr>
          <p:cNvPr id="665" name="roots591"/>
          <p:cNvSpPr txBox="1"/>
          <p:nvPr/>
        </p:nvSpPr>
        <p:spPr>
          <a:xfrm>
            <a:off x="9098280" y="365759"/>
            <a:ext cx="2926081" cy="5033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nwsGlossary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nwsLatestStationObservation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nwsStationObservations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nwsStationObservationAtTime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nwsObservationStation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nwsObservationStations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nwsGridpointObservationStations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nwsZoneObservations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nwsZoneObservationStations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nwsTerminalAerodromeForecasts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nwsOffice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nwsOfficeHeadlines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nwsOfficeHeadline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nwsOfficeWeatherStories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nwsOfficeBriefing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nwsLatestTextProduct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nwsTextProductsOfTypeAtLocation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nwsTextProductsOfType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nwsTextProductTypes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nwsTextProductTypesAtLocation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nwsTextProductLocations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nwsTextProductTypeLocations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nwsZonesOfType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nwsRadarStation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nwsRadarStations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nwsRadarStationAlarms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nwsRadarQueue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nwsWeatherRadioTransmitter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nwsCountyWeatherRadioTransmitters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nwsWeatherRadioTransmitters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nwsCenterWeatherServiceUnit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nwsCenterWeatherAdvisories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nwsSigmetsOfAirTrafficServiceUnitOnDate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nwsSigmets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nwsSigmetsOfAirTrafficServiceUnit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nwsSigmet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openFdaAnimalAdverseEvents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openFdaAnimalAdverseEventCounts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usgsEarthquakes</a:t>
            </a:r>
          </a:p>
          <a:p>
            <a:pPr>
              <a:lnSpc>
                <a:spcPts val="900"/>
              </a:lnSpc>
              <a:defRPr sz="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usgsEarthquakeCount</a:t>
            </a:r>
          </a:p>
        </p:txBody>
      </p:sp>
      <p:sp>
        <p:nvSpPr>
          <p:cNvPr id="666" name="c1_ov592"/>
          <p:cNvSpPr/>
          <p:nvPr/>
        </p:nvSpPr>
        <p:spPr>
          <a:xfrm>
            <a:off x="3108960" y="2240279"/>
            <a:ext cx="5943601" cy="192024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7" name="c1_tx593"/>
          <p:cNvSpPr txBox="1"/>
          <p:nvPr/>
        </p:nvSpPr>
        <p:spPr>
          <a:xfrm>
            <a:off x="3108960" y="2694657"/>
            <a:ext cx="5943601" cy="101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185 tools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67" grpId="2"/>
      <p:bldP build="whole" bldLvl="1" animBg="1" rev="0" advAuto="0" spid="666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tx594"/>
          <p:cNvSpPr txBox="1"/>
          <p:nvPr/>
        </p:nvSpPr>
        <p:spPr>
          <a:xfrm>
            <a:off x="548639" y="536653"/>
            <a:ext cx="11155682" cy="481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Tool search: load tools only when needed</a:t>
            </a:r>
          </a:p>
        </p:txBody>
      </p:sp>
      <p:sp>
        <p:nvSpPr>
          <p:cNvPr id="670" name="ln595"/>
          <p:cNvSpPr/>
          <p:nvPr/>
        </p:nvSpPr>
        <p:spPr>
          <a:xfrm>
            <a:off x="1074419" y="2011679"/>
            <a:ext cx="92" cy="139904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1" name="ov596"/>
          <p:cNvSpPr/>
          <p:nvPr/>
        </p:nvSpPr>
        <p:spPr>
          <a:xfrm>
            <a:off x="1035558" y="1972817"/>
            <a:ext cx="77725" cy="77725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2" name="rc597"/>
          <p:cNvSpPr/>
          <p:nvPr/>
        </p:nvSpPr>
        <p:spPr>
          <a:xfrm>
            <a:off x="841247" y="2151583"/>
            <a:ext cx="466345" cy="34975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3" name="ov598"/>
          <p:cNvSpPr/>
          <p:nvPr/>
        </p:nvSpPr>
        <p:spPr>
          <a:xfrm>
            <a:off x="942288" y="2275942"/>
            <a:ext cx="62181" cy="62181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ov599"/>
          <p:cNvSpPr/>
          <p:nvPr/>
        </p:nvSpPr>
        <p:spPr>
          <a:xfrm>
            <a:off x="1144372" y="2275942"/>
            <a:ext cx="62181" cy="62181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5" name="ln600"/>
          <p:cNvSpPr/>
          <p:nvPr/>
        </p:nvSpPr>
        <p:spPr>
          <a:xfrm>
            <a:off x="981150" y="2415844"/>
            <a:ext cx="186539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rc601"/>
          <p:cNvSpPr/>
          <p:nvPr/>
        </p:nvSpPr>
        <p:spPr>
          <a:xfrm>
            <a:off x="794613" y="2555748"/>
            <a:ext cx="559615" cy="481890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7" name="ln602"/>
          <p:cNvSpPr/>
          <p:nvPr/>
        </p:nvSpPr>
        <p:spPr>
          <a:xfrm flipH="1">
            <a:off x="592530" y="2649016"/>
            <a:ext cx="202083" cy="2331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ln603"/>
          <p:cNvSpPr/>
          <p:nvPr/>
        </p:nvSpPr>
        <p:spPr>
          <a:xfrm>
            <a:off x="1354225" y="2649016"/>
            <a:ext cx="202083" cy="23317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9" name="ln604"/>
          <p:cNvSpPr/>
          <p:nvPr/>
        </p:nvSpPr>
        <p:spPr>
          <a:xfrm>
            <a:off x="934516" y="3037637"/>
            <a:ext cx="92" cy="31089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0" name="ln605"/>
          <p:cNvSpPr/>
          <p:nvPr/>
        </p:nvSpPr>
        <p:spPr>
          <a:xfrm>
            <a:off x="1214322" y="3037637"/>
            <a:ext cx="92" cy="31089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tx606"/>
          <p:cNvSpPr txBox="1"/>
          <p:nvPr/>
        </p:nvSpPr>
        <p:spPr>
          <a:xfrm>
            <a:off x="411480" y="3513188"/>
            <a:ext cx="15544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682" name="rc607"/>
          <p:cNvSpPr/>
          <p:nvPr/>
        </p:nvSpPr>
        <p:spPr>
          <a:xfrm>
            <a:off x="2103120" y="1417319"/>
            <a:ext cx="2926081" cy="3200401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3" name="tx608"/>
          <p:cNvSpPr txBox="1"/>
          <p:nvPr/>
        </p:nvSpPr>
        <p:spPr>
          <a:xfrm>
            <a:off x="2103120" y="1141890"/>
            <a:ext cx="292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the model sees</a:t>
            </a:r>
          </a:p>
        </p:txBody>
      </p:sp>
      <p:sp>
        <p:nvSpPr>
          <p:cNvPr id="684" name="rc609"/>
          <p:cNvSpPr/>
          <p:nvPr/>
        </p:nvSpPr>
        <p:spPr>
          <a:xfrm>
            <a:off x="2285999" y="1600199"/>
            <a:ext cx="2560322" cy="502921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tx610"/>
          <p:cNvSpPr txBox="1"/>
          <p:nvPr/>
        </p:nvSpPr>
        <p:spPr>
          <a:xfrm>
            <a:off x="2359151" y="1743709"/>
            <a:ext cx="24140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toolSearch</a:t>
            </a:r>
          </a:p>
        </p:txBody>
      </p:sp>
      <p:sp>
        <p:nvSpPr>
          <p:cNvPr id="686" name="rc611"/>
          <p:cNvSpPr/>
          <p:nvPr/>
        </p:nvSpPr>
        <p:spPr>
          <a:xfrm>
            <a:off x="7863840" y="1417319"/>
            <a:ext cx="3749041" cy="3931922"/>
          </a:xfrm>
          <a:prstGeom prst="rect">
            <a:avLst/>
          </a:prstGeom>
          <a:solidFill>
            <a:srgbClr val="FFFFFF"/>
          </a:solidFill>
          <a:ln w="25400">
            <a:solidFill>
              <a:srgbClr val="8A8A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tx612"/>
          <p:cNvSpPr txBox="1"/>
          <p:nvPr/>
        </p:nvSpPr>
        <p:spPr>
          <a:xfrm>
            <a:off x="7863840" y="1141890"/>
            <a:ext cx="37490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185 tools, waiting</a:t>
            </a:r>
          </a:p>
        </p:txBody>
      </p:sp>
      <p:sp>
        <p:nvSpPr>
          <p:cNvPr id="688" name="tx613"/>
          <p:cNvSpPr txBox="1"/>
          <p:nvPr/>
        </p:nvSpPr>
        <p:spPr>
          <a:xfrm>
            <a:off x="8046719" y="1593596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awdbForecasts</a:t>
            </a:r>
          </a:p>
        </p:txBody>
      </p:sp>
      <p:sp>
        <p:nvSpPr>
          <p:cNvPr id="689" name="tx614"/>
          <p:cNvSpPr txBox="1"/>
          <p:nvPr/>
        </p:nvSpPr>
        <p:spPr>
          <a:xfrm>
            <a:off x="8046719" y="1858771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censusGeocodeAddress</a:t>
            </a:r>
          </a:p>
        </p:txBody>
      </p:sp>
      <p:sp>
        <p:nvSpPr>
          <p:cNvPr id="690" name="tx615"/>
          <p:cNvSpPr txBox="1"/>
          <p:nvPr/>
        </p:nvSpPr>
        <p:spPr>
          <a:xfrm>
            <a:off x="8046719" y="2123948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coloradoVeterinaryLicenses</a:t>
            </a:r>
          </a:p>
        </p:txBody>
      </p:sp>
      <p:sp>
        <p:nvSpPr>
          <p:cNvPr id="691" name="tx616"/>
          <p:cNvSpPr txBox="1"/>
          <p:nvPr/>
        </p:nvSpPr>
        <p:spPr>
          <a:xfrm>
            <a:off x="8046719" y="2389123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cpwWildlifeAt</a:t>
            </a:r>
          </a:p>
        </p:txBody>
      </p:sp>
      <p:sp>
        <p:nvSpPr>
          <p:cNvPr id="692" name="tx617"/>
          <p:cNvSpPr txBox="1"/>
          <p:nvPr/>
        </p:nvSpPr>
        <p:spPr>
          <a:xfrm>
            <a:off x="8046719" y="2654299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denverAnimalServiceRequestCounts</a:t>
            </a:r>
          </a:p>
        </p:txBody>
      </p:sp>
      <p:sp>
        <p:nvSpPr>
          <p:cNvPr id="693" name="c1_hit618"/>
          <p:cNvSpPr/>
          <p:nvPr/>
        </p:nvSpPr>
        <p:spPr>
          <a:xfrm>
            <a:off x="7973568" y="2606039"/>
            <a:ext cx="3474721" cy="274321"/>
          </a:xfrm>
          <a:prstGeom prst="rect">
            <a:avLst/>
          </a:prstGeom>
          <a:ln w="2540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tx619"/>
          <p:cNvSpPr txBox="1"/>
          <p:nvPr/>
        </p:nvSpPr>
        <p:spPr>
          <a:xfrm>
            <a:off x="8046719" y="2919476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denverAnimalServiceRequests</a:t>
            </a:r>
          </a:p>
        </p:txBody>
      </p:sp>
      <p:sp>
        <p:nvSpPr>
          <p:cNvPr id="695" name="c1_hit620"/>
          <p:cNvSpPr/>
          <p:nvPr/>
        </p:nvSpPr>
        <p:spPr>
          <a:xfrm>
            <a:off x="7973568" y="2871216"/>
            <a:ext cx="3474721" cy="274321"/>
          </a:xfrm>
          <a:prstGeom prst="rect">
            <a:avLst/>
          </a:prstGeom>
          <a:ln w="2540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tx621"/>
          <p:cNvSpPr txBox="1"/>
          <p:nvPr/>
        </p:nvSpPr>
        <p:spPr>
          <a:xfrm>
            <a:off x="8046719" y="3184651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denverDogParks</a:t>
            </a:r>
          </a:p>
        </p:txBody>
      </p:sp>
      <p:sp>
        <p:nvSpPr>
          <p:cNvPr id="697" name="tx622"/>
          <p:cNvSpPr txBox="1"/>
          <p:nvPr/>
        </p:nvSpPr>
        <p:spPr>
          <a:xfrm>
            <a:off x="8046719" y="3449827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dwrSurfaceWaterStations</a:t>
            </a:r>
          </a:p>
        </p:txBody>
      </p:sp>
      <p:sp>
        <p:nvSpPr>
          <p:cNvPr id="698" name="tx623"/>
          <p:cNvSpPr txBox="1"/>
          <p:nvPr/>
        </p:nvSpPr>
        <p:spPr>
          <a:xfrm>
            <a:off x="8046719" y="3715004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inatObservations</a:t>
            </a:r>
          </a:p>
        </p:txBody>
      </p:sp>
      <p:sp>
        <p:nvSpPr>
          <p:cNvPr id="699" name="tx624"/>
          <p:cNvSpPr txBox="1"/>
          <p:nvPr/>
        </p:nvSpPr>
        <p:spPr>
          <a:xfrm>
            <a:off x="8046719" y="3980180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nlrFuelStationsNear</a:t>
            </a:r>
          </a:p>
        </p:txBody>
      </p:sp>
      <p:sp>
        <p:nvSpPr>
          <p:cNvPr id="700" name="tx625"/>
          <p:cNvSpPr txBox="1"/>
          <p:nvPr/>
        </p:nvSpPr>
        <p:spPr>
          <a:xfrm>
            <a:off x="8046719" y="4245356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npsParks</a:t>
            </a:r>
          </a:p>
        </p:txBody>
      </p:sp>
      <p:sp>
        <p:nvSpPr>
          <p:cNvPr id="701" name="tx626"/>
          <p:cNvSpPr txBox="1"/>
          <p:nvPr/>
        </p:nvSpPr>
        <p:spPr>
          <a:xfrm>
            <a:off x="8046719" y="4510531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nwsActiveAlerts</a:t>
            </a:r>
          </a:p>
        </p:txBody>
      </p:sp>
      <p:sp>
        <p:nvSpPr>
          <p:cNvPr id="702" name="tx627"/>
          <p:cNvSpPr txBox="1"/>
          <p:nvPr/>
        </p:nvSpPr>
        <p:spPr>
          <a:xfrm>
            <a:off x="8046719" y="4775707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usgsEarthquakes</a:t>
            </a:r>
          </a:p>
        </p:txBody>
      </p:sp>
      <p:sp>
        <p:nvSpPr>
          <p:cNvPr id="703" name="tx628"/>
          <p:cNvSpPr txBox="1"/>
          <p:nvPr/>
        </p:nvSpPr>
        <p:spPr>
          <a:xfrm>
            <a:off x="8046719" y="5040883"/>
            <a:ext cx="3383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 172 more</a:t>
            </a:r>
          </a:p>
        </p:txBody>
      </p:sp>
      <p:sp>
        <p:nvSpPr>
          <p:cNvPr id="704" name="c1_ln629"/>
          <p:cNvSpPr/>
          <p:nvPr/>
        </p:nvSpPr>
        <p:spPr>
          <a:xfrm>
            <a:off x="5120640" y="1874520"/>
            <a:ext cx="265176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c1_tx630"/>
          <p:cNvSpPr txBox="1"/>
          <p:nvPr/>
        </p:nvSpPr>
        <p:spPr>
          <a:xfrm>
            <a:off x="5074920" y="1550669"/>
            <a:ext cx="28346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toolSearch(“lost pet”)</a:t>
            </a:r>
          </a:p>
        </p:txBody>
      </p:sp>
      <p:sp>
        <p:nvSpPr>
          <p:cNvPr id="706" name="c1_tx631"/>
          <p:cNvSpPr txBox="1"/>
          <p:nvPr/>
        </p:nvSpPr>
        <p:spPr>
          <a:xfrm>
            <a:off x="5074920" y="2056290"/>
            <a:ext cx="28346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BM25 · embeddings · regex</a:t>
            </a:r>
          </a:p>
        </p:txBody>
      </p:sp>
      <p:sp>
        <p:nvSpPr>
          <p:cNvPr id="707" name="c2_ln632"/>
          <p:cNvSpPr/>
          <p:nvPr/>
        </p:nvSpPr>
        <p:spPr>
          <a:xfrm flipH="1">
            <a:off x="5120640" y="3017520"/>
            <a:ext cx="2651761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08" name="c2_tx633"/>
          <p:cNvSpPr txBox="1"/>
          <p:nvPr/>
        </p:nvSpPr>
        <p:spPr>
          <a:xfrm>
            <a:off x="5074920" y="3153570"/>
            <a:ext cx="28346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definitions, not 185</a:t>
            </a:r>
          </a:p>
        </p:txBody>
      </p:sp>
      <p:sp>
        <p:nvSpPr>
          <p:cNvPr id="709" name="c2_rc634"/>
          <p:cNvSpPr/>
          <p:nvPr/>
        </p:nvSpPr>
        <p:spPr>
          <a:xfrm>
            <a:off x="2194560" y="2286000"/>
            <a:ext cx="2743201" cy="457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c2_tx635"/>
          <p:cNvSpPr txBox="1"/>
          <p:nvPr/>
        </p:nvSpPr>
        <p:spPr>
          <a:xfrm>
            <a:off x="2267711" y="2444750"/>
            <a:ext cx="259689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denverAnimalServiceRequests</a:t>
            </a:r>
          </a:p>
        </p:txBody>
      </p:sp>
      <p:sp>
        <p:nvSpPr>
          <p:cNvPr id="711" name="c2_rc636"/>
          <p:cNvSpPr/>
          <p:nvPr/>
        </p:nvSpPr>
        <p:spPr>
          <a:xfrm>
            <a:off x="2194560" y="2852927"/>
            <a:ext cx="2743201" cy="45720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2" name="c2_tx637"/>
          <p:cNvSpPr txBox="1"/>
          <p:nvPr/>
        </p:nvSpPr>
        <p:spPr>
          <a:xfrm>
            <a:off x="2267711" y="3011677"/>
            <a:ext cx="259689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denverAnimalServiceRequestCounts</a:t>
            </a:r>
          </a:p>
        </p:txBody>
      </p:sp>
      <p:sp>
        <p:nvSpPr>
          <p:cNvPr id="713" name="c3_ln638"/>
          <p:cNvSpPr/>
          <p:nvPr/>
        </p:nvSpPr>
        <p:spPr>
          <a:xfrm>
            <a:off x="1600200" y="3886200"/>
            <a:ext cx="92" cy="1188721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" name="c3_ln639"/>
          <p:cNvSpPr/>
          <p:nvPr/>
        </p:nvSpPr>
        <p:spPr>
          <a:xfrm>
            <a:off x="1600200" y="5074920"/>
            <a:ext cx="59436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c3_tx640"/>
          <p:cNvSpPr txBox="1"/>
          <p:nvPr/>
        </p:nvSpPr>
        <p:spPr>
          <a:xfrm>
            <a:off x="2286000" y="4966970"/>
            <a:ext cx="4114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denverAnimalServiceRequests(…)</a:t>
            </a:r>
          </a:p>
        </p:txBody>
      </p:sp>
      <p:sp>
        <p:nvSpPr>
          <p:cNvPr id="716" name="tx641"/>
          <p:cNvSpPr txBox="1"/>
          <p:nvPr/>
        </p:nvSpPr>
        <p:spPr>
          <a:xfrm>
            <a:off x="548639" y="6085792"/>
            <a:ext cx="111556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Anthropic tool search (Nov 2025): regex, BM25 · Spring AI Tool Search Tool: Lucene, vector, regex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35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"/>
                            </p:stCondLst>
                            <p:childTnLst>
                              <p:par>
                                <p:cTn id="55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35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35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15" grpId="14"/>
      <p:bldP build="whole" bldLvl="1" animBg="1" rev="0" advAuto="0" spid="693" grpId="1"/>
      <p:bldP build="whole" bldLvl="1" animBg="1" rev="0" advAuto="0" spid="711" grpId="10"/>
      <p:bldP build="whole" bldLvl="1" animBg="1" rev="0" advAuto="0" spid="704" grpId="3"/>
      <p:bldP build="whole" bldLvl="1" animBg="1" rev="0" advAuto="0" spid="709" grpId="8"/>
      <p:bldP build="whole" bldLvl="1" animBg="1" rev="0" advAuto="0" spid="707" grpId="6"/>
      <p:bldP build="whole" bldLvl="1" animBg="1" rev="0" advAuto="0" spid="695" grpId="2"/>
      <p:bldP build="whole" bldLvl="1" animBg="1" rev="0" advAuto="0" spid="706" grpId="5"/>
      <p:bldP build="whole" bldLvl="1" animBg="1" rev="0" advAuto="0" spid="713" grpId="12"/>
      <p:bldP build="whole" bldLvl="1" animBg="1" rev="0" advAuto="0" spid="714" grpId="13"/>
      <p:bldP build="whole" bldLvl="1" animBg="1" rev="0" advAuto="0" spid="710" grpId="9"/>
      <p:bldP build="whole" bldLvl="1" animBg="1" rev="0" advAuto="0" spid="705" grpId="4"/>
      <p:bldP build="whole" bldLvl="1" animBg="1" rev="0" advAuto="0" spid="708" grpId="7"/>
      <p:bldP build="whole" bldLvl="1" animBg="1" rev="0" advAuto="0" spid="712" grpId="1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ln642"/>
          <p:cNvSpPr/>
          <p:nvPr/>
        </p:nvSpPr>
        <p:spPr>
          <a:xfrm>
            <a:off x="1188719" y="2194560"/>
            <a:ext cx="92" cy="16459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9" name="ov643"/>
          <p:cNvSpPr/>
          <p:nvPr/>
        </p:nvSpPr>
        <p:spPr>
          <a:xfrm>
            <a:off x="1142999" y="2148839"/>
            <a:ext cx="91442" cy="91441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0" name="rc644"/>
          <p:cNvSpPr/>
          <p:nvPr/>
        </p:nvSpPr>
        <p:spPr>
          <a:xfrm>
            <a:off x="914399" y="2359151"/>
            <a:ext cx="548642" cy="411481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1" name="ov645"/>
          <p:cNvSpPr/>
          <p:nvPr/>
        </p:nvSpPr>
        <p:spPr>
          <a:xfrm>
            <a:off x="1033272" y="2505455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2" name="ov646"/>
          <p:cNvSpPr/>
          <p:nvPr/>
        </p:nvSpPr>
        <p:spPr>
          <a:xfrm>
            <a:off x="1271016" y="2505455"/>
            <a:ext cx="73153" cy="7315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ln647"/>
          <p:cNvSpPr/>
          <p:nvPr/>
        </p:nvSpPr>
        <p:spPr>
          <a:xfrm>
            <a:off x="1078991" y="2670048"/>
            <a:ext cx="219457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rc648"/>
          <p:cNvSpPr/>
          <p:nvPr/>
        </p:nvSpPr>
        <p:spPr>
          <a:xfrm>
            <a:off x="859536" y="2834639"/>
            <a:ext cx="658369" cy="56692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5" name="ln649"/>
          <p:cNvSpPr/>
          <p:nvPr/>
        </p:nvSpPr>
        <p:spPr>
          <a:xfrm flipH="1">
            <a:off x="621792" y="2944367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6" name="ln650"/>
          <p:cNvSpPr/>
          <p:nvPr/>
        </p:nvSpPr>
        <p:spPr>
          <a:xfrm>
            <a:off x="1517903" y="2944367"/>
            <a:ext cx="237744" cy="27432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ln651"/>
          <p:cNvSpPr/>
          <p:nvPr/>
        </p:nvSpPr>
        <p:spPr>
          <a:xfrm>
            <a:off x="1024127" y="3401567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8" name="ln652"/>
          <p:cNvSpPr/>
          <p:nvPr/>
        </p:nvSpPr>
        <p:spPr>
          <a:xfrm>
            <a:off x="1353311" y="3401567"/>
            <a:ext cx="92" cy="365761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9" name="tx653"/>
          <p:cNvSpPr txBox="1"/>
          <p:nvPr/>
        </p:nvSpPr>
        <p:spPr>
          <a:xfrm>
            <a:off x="182880" y="4016108"/>
            <a:ext cx="201167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curated files</a:t>
            </a:r>
          </a:p>
        </p:txBody>
      </p:sp>
      <p:sp>
        <p:nvSpPr>
          <p:cNvPr id="730" name="c1_ln654"/>
          <p:cNvSpPr/>
          <p:nvPr/>
        </p:nvSpPr>
        <p:spPr>
          <a:xfrm flipV="1">
            <a:off x="2011679" y="1325880"/>
            <a:ext cx="1097281" cy="164592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31" name="c1_tx655"/>
          <p:cNvSpPr txBox="1"/>
          <p:nvPr/>
        </p:nvSpPr>
        <p:spPr>
          <a:xfrm>
            <a:off x="3154679" y="1066658"/>
            <a:ext cx="54864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2" name="c1_rc656"/>
          <p:cNvSpPr/>
          <p:nvPr/>
        </p:nvSpPr>
        <p:spPr>
          <a:xfrm>
            <a:off x="3749040" y="914399"/>
            <a:ext cx="3291841" cy="82296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3" name="c1_tx657"/>
          <p:cNvSpPr txBox="1"/>
          <p:nvPr/>
        </p:nvSpPr>
        <p:spPr>
          <a:xfrm>
            <a:off x="3822191" y="1179829"/>
            <a:ext cx="314553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searchSchema</a:t>
            </a:r>
          </a:p>
        </p:txBody>
      </p:sp>
      <p:sp>
        <p:nvSpPr>
          <p:cNvPr id="734" name="c1_tx658"/>
          <p:cNvSpPr txBox="1"/>
          <p:nvPr/>
        </p:nvSpPr>
        <p:spPr>
          <a:xfrm>
            <a:off x="7269480" y="1196269"/>
            <a:ext cx="4389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find fields by meaning</a:t>
            </a:r>
          </a:p>
        </p:txBody>
      </p:sp>
      <p:sp>
        <p:nvSpPr>
          <p:cNvPr id="735" name="c2_ln659"/>
          <p:cNvSpPr/>
          <p:nvPr/>
        </p:nvSpPr>
        <p:spPr>
          <a:xfrm flipV="1">
            <a:off x="2011679" y="2926079"/>
            <a:ext cx="1097281" cy="4572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36" name="c2_tx660"/>
          <p:cNvSpPr txBox="1"/>
          <p:nvPr/>
        </p:nvSpPr>
        <p:spPr>
          <a:xfrm>
            <a:off x="3154679" y="2666858"/>
            <a:ext cx="54864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7" name="c2_rc661"/>
          <p:cNvSpPr/>
          <p:nvPr/>
        </p:nvSpPr>
        <p:spPr>
          <a:xfrm>
            <a:off x="3749040" y="2514599"/>
            <a:ext cx="3291841" cy="82296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8" name="c2_tx662"/>
          <p:cNvSpPr txBox="1"/>
          <p:nvPr/>
        </p:nvSpPr>
        <p:spPr>
          <a:xfrm>
            <a:off x="3822191" y="2780029"/>
            <a:ext cx="314553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introspectType</a:t>
            </a:r>
          </a:p>
        </p:txBody>
      </p:sp>
      <p:sp>
        <p:nvSpPr>
          <p:cNvPr id="739" name="c2_tx663"/>
          <p:cNvSpPr txBox="1"/>
          <p:nvPr/>
        </p:nvSpPr>
        <p:spPr>
          <a:xfrm>
            <a:off x="7269480" y="2796469"/>
            <a:ext cx="4389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 one type</a:t>
            </a:r>
          </a:p>
        </p:txBody>
      </p:sp>
      <p:sp>
        <p:nvSpPr>
          <p:cNvPr id="740" name="c3_ln664"/>
          <p:cNvSpPr/>
          <p:nvPr/>
        </p:nvSpPr>
        <p:spPr>
          <a:xfrm>
            <a:off x="2011679" y="2971799"/>
            <a:ext cx="1097281" cy="155448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41" name="c3_tx665"/>
          <p:cNvSpPr txBox="1"/>
          <p:nvPr/>
        </p:nvSpPr>
        <p:spPr>
          <a:xfrm>
            <a:off x="3154679" y="4267058"/>
            <a:ext cx="54864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42" name="c3_rc666"/>
          <p:cNvSpPr/>
          <p:nvPr/>
        </p:nvSpPr>
        <p:spPr>
          <a:xfrm>
            <a:off x="3749040" y="4114799"/>
            <a:ext cx="3291841" cy="82296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c3_tx667"/>
          <p:cNvSpPr txBox="1"/>
          <p:nvPr/>
        </p:nvSpPr>
        <p:spPr>
          <a:xfrm>
            <a:off x="3822191" y="4380229"/>
            <a:ext cx="314553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executeGraphql</a:t>
            </a:r>
          </a:p>
        </p:txBody>
      </p:sp>
      <p:sp>
        <p:nvSpPr>
          <p:cNvPr id="744" name="c3_tx668"/>
          <p:cNvSpPr txBox="1"/>
          <p:nvPr/>
        </p:nvSpPr>
        <p:spPr>
          <a:xfrm>
            <a:off x="7269480" y="4396669"/>
            <a:ext cx="4389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run the query it wrote</a:t>
            </a:r>
          </a:p>
        </p:txBody>
      </p:sp>
      <p:sp>
        <p:nvSpPr>
          <p:cNvPr id="745" name="tx669"/>
          <p:cNvSpPr txBox="1"/>
          <p:nvPr/>
        </p:nvSpPr>
        <p:spPr>
          <a:xfrm>
            <a:off x="457199" y="6088309"/>
            <a:ext cx="1124712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experimental · the model writes the query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35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"/>
                            </p:stCondLst>
                            <p:childTnLst>
                              <p:par>
                                <p:cTn id="51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35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35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35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35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37" grpId="8"/>
      <p:bldP build="whole" bldLvl="1" animBg="1" rev="0" advAuto="0" spid="735" grpId="6"/>
      <p:bldP build="whole" bldLvl="1" animBg="1" rev="0" advAuto="0" spid="732" grpId="3"/>
      <p:bldP build="whole" bldLvl="1" animBg="1" rev="0" advAuto="0" spid="742" grpId="13"/>
      <p:bldP build="whole" bldLvl="1" animBg="1" rev="0" advAuto="0" spid="743" grpId="14"/>
      <p:bldP build="whole" bldLvl="1" animBg="1" rev="0" advAuto="0" spid="741" grpId="12"/>
      <p:bldP build="whole" bldLvl="1" animBg="1" rev="0" advAuto="0" spid="738" grpId="9"/>
      <p:bldP build="whole" bldLvl="1" animBg="1" rev="0" advAuto="0" spid="731" grpId="2"/>
      <p:bldP build="whole" bldLvl="1" animBg="1" rev="0" advAuto="0" spid="730" grpId="1"/>
      <p:bldP build="whole" bldLvl="1" animBg="1" rev="0" advAuto="0" spid="734" grpId="5"/>
      <p:bldP build="whole" bldLvl="1" animBg="1" rev="0" advAuto="0" spid="740" grpId="11"/>
      <p:bldP build="whole" bldLvl="1" animBg="1" rev="0" advAuto="0" spid="733" grpId="4"/>
      <p:bldP build="whole" bldLvl="1" animBg="1" rev="0" advAuto="0" spid="739" grpId="10"/>
      <p:bldP build="whole" bldLvl="1" animBg="1" rev="0" advAuto="0" spid="736" grpId="7"/>
      <p:bldP build="whole" bldLvl="1" animBg="1" rev="0" advAuto="0" spid="744" grpId="15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x670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an embedding?</a:t>
            </a:r>
          </a:p>
        </p:txBody>
      </p:sp>
      <p:sp>
        <p:nvSpPr>
          <p:cNvPr id="748" name="rc671"/>
          <p:cNvSpPr/>
          <p:nvPr/>
        </p:nvSpPr>
        <p:spPr>
          <a:xfrm>
            <a:off x="548639" y="1508760"/>
            <a:ext cx="3108962" cy="73152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9" name="tx672"/>
          <p:cNvSpPr txBox="1"/>
          <p:nvPr/>
        </p:nvSpPr>
        <p:spPr>
          <a:xfrm>
            <a:off x="621791" y="1744909"/>
            <a:ext cx="296265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“off-leash dog park”</a:t>
            </a:r>
          </a:p>
        </p:txBody>
      </p:sp>
      <p:sp>
        <p:nvSpPr>
          <p:cNvPr id="750" name="ln673"/>
          <p:cNvSpPr/>
          <p:nvPr/>
        </p:nvSpPr>
        <p:spPr>
          <a:xfrm>
            <a:off x="3749040" y="1874520"/>
            <a:ext cx="73152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rc674"/>
          <p:cNvSpPr/>
          <p:nvPr/>
        </p:nvSpPr>
        <p:spPr>
          <a:xfrm>
            <a:off x="4571999" y="1417319"/>
            <a:ext cx="2194562" cy="91440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" name="tx675"/>
          <p:cNvSpPr txBox="1"/>
          <p:nvPr/>
        </p:nvSpPr>
        <p:spPr>
          <a:xfrm>
            <a:off x="4571999" y="1649243"/>
            <a:ext cx="2194562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embedding</a:t>
            </a:r>
          </a:p>
          <a:p>
            <a:pPr algn="ctr">
              <a:defRPr b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</a:t>
            </a:r>
          </a:p>
        </p:txBody>
      </p:sp>
      <p:sp>
        <p:nvSpPr>
          <p:cNvPr id="753" name="ln676"/>
          <p:cNvSpPr/>
          <p:nvPr/>
        </p:nvSpPr>
        <p:spPr>
          <a:xfrm>
            <a:off x="6857999" y="1874520"/>
            <a:ext cx="73152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tx677"/>
          <p:cNvSpPr txBox="1"/>
          <p:nvPr/>
        </p:nvSpPr>
        <p:spPr>
          <a:xfrm>
            <a:off x="7680959" y="1753870"/>
            <a:ext cx="42062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[ 0.12, -0.80, 0.33, 0.05, … ]</a:t>
            </a:r>
          </a:p>
        </p:txBody>
      </p:sp>
      <p:sp>
        <p:nvSpPr>
          <p:cNvPr id="755" name="tx678"/>
          <p:cNvSpPr txBox="1"/>
          <p:nvPr/>
        </p:nvSpPr>
        <p:spPr>
          <a:xfrm>
            <a:off x="7680959" y="2239170"/>
            <a:ext cx="42062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1,024 numbers</a:t>
            </a:r>
          </a:p>
        </p:txBody>
      </p:sp>
      <p:sp>
        <p:nvSpPr>
          <p:cNvPr id="756" name="c1_rc679"/>
          <p:cNvSpPr/>
          <p:nvPr/>
        </p:nvSpPr>
        <p:spPr>
          <a:xfrm>
            <a:off x="2926079" y="2971799"/>
            <a:ext cx="6309362" cy="3291842"/>
          </a:xfrm>
          <a:prstGeom prst="rect">
            <a:avLst/>
          </a:prstGeom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c1_ov680"/>
          <p:cNvSpPr/>
          <p:nvPr/>
        </p:nvSpPr>
        <p:spPr>
          <a:xfrm>
            <a:off x="3493008" y="3538728"/>
            <a:ext cx="146305" cy="146305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8" name="c1_tx681"/>
          <p:cNvSpPr txBox="1"/>
          <p:nvPr/>
        </p:nvSpPr>
        <p:spPr>
          <a:xfrm>
            <a:off x="3703320" y="351933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off-leash dog park</a:t>
            </a:r>
          </a:p>
        </p:txBody>
      </p:sp>
      <p:sp>
        <p:nvSpPr>
          <p:cNvPr id="759" name="c1_ov682"/>
          <p:cNvSpPr/>
          <p:nvPr/>
        </p:nvSpPr>
        <p:spPr>
          <a:xfrm>
            <a:off x="3767328" y="4133088"/>
            <a:ext cx="146305" cy="146305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c1_tx683"/>
          <p:cNvSpPr txBox="1"/>
          <p:nvPr/>
        </p:nvSpPr>
        <p:spPr>
          <a:xfrm>
            <a:off x="3977640" y="411369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place where my dog can run free</a:t>
            </a:r>
          </a:p>
        </p:txBody>
      </p:sp>
      <p:sp>
        <p:nvSpPr>
          <p:cNvPr id="761" name="c1_ov684"/>
          <p:cNvSpPr/>
          <p:nvPr/>
        </p:nvSpPr>
        <p:spPr>
          <a:xfrm>
            <a:off x="3355847" y="4727447"/>
            <a:ext cx="146305" cy="146305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c1_tx685"/>
          <p:cNvSpPr txBox="1"/>
          <p:nvPr/>
        </p:nvSpPr>
        <p:spPr>
          <a:xfrm>
            <a:off x="3566159" y="470805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dog park near me</a:t>
            </a:r>
          </a:p>
        </p:txBody>
      </p:sp>
      <p:sp>
        <p:nvSpPr>
          <p:cNvPr id="763" name="c1_ov686"/>
          <p:cNvSpPr/>
          <p:nvPr/>
        </p:nvSpPr>
        <p:spPr>
          <a:xfrm>
            <a:off x="7150607" y="5596128"/>
            <a:ext cx="146305" cy="14630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4" name="c1_tx687"/>
          <p:cNvSpPr txBox="1"/>
          <p:nvPr/>
        </p:nvSpPr>
        <p:spPr>
          <a:xfrm>
            <a:off x="7360919" y="557673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earthquake</a:t>
            </a:r>
          </a:p>
        </p:txBody>
      </p:sp>
      <p:sp>
        <p:nvSpPr>
          <p:cNvPr id="765" name="c1_ov688"/>
          <p:cNvSpPr/>
          <p:nvPr/>
        </p:nvSpPr>
        <p:spPr>
          <a:xfrm>
            <a:off x="7516368" y="5001767"/>
            <a:ext cx="146305" cy="14630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6" name="c1_tx689"/>
          <p:cNvSpPr txBox="1"/>
          <p:nvPr/>
        </p:nvSpPr>
        <p:spPr>
          <a:xfrm>
            <a:off x="7726680" y="498237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ground shaking</a:t>
            </a:r>
          </a:p>
        </p:txBody>
      </p:sp>
      <p:sp>
        <p:nvSpPr>
          <p:cNvPr id="767" name="c1_ov690"/>
          <p:cNvSpPr/>
          <p:nvPr/>
        </p:nvSpPr>
        <p:spPr>
          <a:xfrm>
            <a:off x="7059168" y="3538728"/>
            <a:ext cx="146305" cy="14630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8" name="c1_tx691"/>
          <p:cNvSpPr txBox="1"/>
          <p:nvPr/>
        </p:nvSpPr>
        <p:spPr>
          <a:xfrm>
            <a:off x="7269480" y="3519330"/>
            <a:ext cx="2743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snow forecast</a:t>
            </a:r>
          </a:p>
        </p:txBody>
      </p:sp>
      <p:sp>
        <p:nvSpPr>
          <p:cNvPr id="769" name="c1_near692"/>
          <p:cNvSpPr/>
          <p:nvPr/>
        </p:nvSpPr>
        <p:spPr>
          <a:xfrm>
            <a:off x="3200399" y="3291840"/>
            <a:ext cx="3566162" cy="1828801"/>
          </a:xfrm>
          <a:prstGeom prst="ellipse">
            <a:avLst/>
          </a:prstGeom>
          <a:ln w="25400">
            <a:solidFill>
              <a:srgbClr val="D62828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770" name="c1_tx693"/>
          <p:cNvSpPr txBox="1"/>
          <p:nvPr/>
        </p:nvSpPr>
        <p:spPr>
          <a:xfrm>
            <a:off x="2926079" y="6387405"/>
            <a:ext cx="630936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close = similar meaning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5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35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35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5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35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9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35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64" grpId="9"/>
      <p:bldP build="whole" bldLvl="1" animBg="1" rev="0" advAuto="0" spid="768" grpId="13"/>
      <p:bldP build="whole" bldLvl="1" animBg="1" rev="0" advAuto="0" spid="756" grpId="1"/>
      <p:bldP build="whole" bldLvl="1" animBg="1" rev="0" advAuto="0" spid="767" grpId="12"/>
      <p:bldP build="whole" bldLvl="1" animBg="1" rev="0" advAuto="0" spid="762" grpId="7"/>
      <p:bldP build="whole" bldLvl="1" animBg="1" rev="0" advAuto="0" spid="760" grpId="5"/>
      <p:bldP build="whole" bldLvl="1" animBg="1" rev="0" advAuto="0" spid="769" grpId="14"/>
      <p:bldP build="whole" bldLvl="1" animBg="1" rev="0" advAuto="0" spid="765" grpId="10"/>
      <p:bldP build="whole" bldLvl="1" animBg="1" rev="0" advAuto="0" spid="766" grpId="11"/>
      <p:bldP build="whole" bldLvl="1" animBg="1" rev="0" advAuto="0" spid="770" grpId="15"/>
      <p:bldP build="whole" bldLvl="1" animBg="1" rev="0" advAuto="0" spid="761" grpId="6"/>
      <p:bldP build="whole" bldLvl="1" animBg="1" rev="0" advAuto="0" spid="759" grpId="4"/>
      <p:bldP build="whole" bldLvl="1" animBg="1" rev="0" advAuto="0" spid="758" grpId="3"/>
      <p:bldP build="whole" bldLvl="1" animBg="1" rev="0" advAuto="0" spid="757" grpId="2"/>
      <p:bldP build="whole" bldLvl="1" animBg="1" rev="0" advAuto="0" spid="763" grpId="8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tx694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Search by meaning, not by words</a:t>
            </a:r>
          </a:p>
        </p:txBody>
      </p:sp>
      <p:sp>
        <p:nvSpPr>
          <p:cNvPr id="773" name="rc695"/>
          <p:cNvSpPr/>
          <p:nvPr/>
        </p:nvSpPr>
        <p:spPr>
          <a:xfrm>
            <a:off x="2743200" y="1417319"/>
            <a:ext cx="6675119" cy="7772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4" name="tx696"/>
          <p:cNvSpPr txBox="1"/>
          <p:nvPr/>
        </p:nvSpPr>
        <p:spPr>
          <a:xfrm>
            <a:off x="2816351" y="1664044"/>
            <a:ext cx="6528818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“Where can my pup run without a lead?”</a:t>
            </a:r>
          </a:p>
        </p:txBody>
      </p:sp>
      <p:sp>
        <p:nvSpPr>
          <p:cNvPr id="775" name="tx697"/>
          <p:cNvSpPr txBox="1"/>
          <p:nvPr/>
        </p:nvSpPr>
        <p:spPr>
          <a:xfrm>
            <a:off x="822960" y="2784184"/>
            <a:ext cx="475488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by words</a:t>
            </a:r>
          </a:p>
        </p:txBody>
      </p:sp>
      <p:sp>
        <p:nvSpPr>
          <p:cNvPr id="776" name="ln698"/>
          <p:cNvSpPr/>
          <p:nvPr/>
        </p:nvSpPr>
        <p:spPr>
          <a:xfrm flipH="1">
            <a:off x="3291840" y="2240279"/>
            <a:ext cx="1188721" cy="365761"/>
          </a:xfrm>
          <a:prstGeom prst="line">
            <a:avLst/>
          </a:prstGeom>
          <a:ln w="28575">
            <a:solidFill>
              <a:srgbClr val="8A8A8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77" name="rc699"/>
          <p:cNvSpPr/>
          <p:nvPr/>
        </p:nvSpPr>
        <p:spPr>
          <a:xfrm>
            <a:off x="822960" y="3246120"/>
            <a:ext cx="4754881" cy="2377441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778" name="tx700"/>
          <p:cNvSpPr txBox="1"/>
          <p:nvPr/>
        </p:nvSpPr>
        <p:spPr>
          <a:xfrm>
            <a:off x="822960" y="3582670"/>
            <a:ext cx="4754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pup   run   without   lead</a:t>
            </a:r>
          </a:p>
        </p:txBody>
      </p:sp>
      <p:sp>
        <p:nvSpPr>
          <p:cNvPr id="779" name="tx701"/>
          <p:cNvSpPr txBox="1"/>
          <p:nvPr/>
        </p:nvSpPr>
        <p:spPr>
          <a:xfrm>
            <a:off x="822960" y="4230091"/>
            <a:ext cx="4754881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7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 word in common</a:t>
            </a:r>
          </a:p>
          <a:p>
            <a:pPr algn="ctr">
              <a:defRPr sz="17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with dog, park, off-leash</a:t>
            </a:r>
          </a:p>
        </p:txBody>
      </p:sp>
      <p:sp>
        <p:nvSpPr>
          <p:cNvPr id="780" name="tx702"/>
          <p:cNvSpPr txBox="1"/>
          <p:nvPr/>
        </p:nvSpPr>
        <p:spPr>
          <a:xfrm>
            <a:off x="822960" y="4982210"/>
            <a:ext cx="47548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781" name="c1_tx703"/>
          <p:cNvSpPr txBox="1"/>
          <p:nvPr/>
        </p:nvSpPr>
        <p:spPr>
          <a:xfrm>
            <a:off x="6583680" y="2784184"/>
            <a:ext cx="475488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by meaning</a:t>
            </a:r>
          </a:p>
        </p:txBody>
      </p:sp>
      <p:sp>
        <p:nvSpPr>
          <p:cNvPr id="782" name="c1_ln704"/>
          <p:cNvSpPr/>
          <p:nvPr/>
        </p:nvSpPr>
        <p:spPr>
          <a:xfrm>
            <a:off x="7680959" y="2240279"/>
            <a:ext cx="1188721" cy="365761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83" name="c1_rc705"/>
          <p:cNvSpPr/>
          <p:nvPr/>
        </p:nvSpPr>
        <p:spPr>
          <a:xfrm>
            <a:off x="6583680" y="3246120"/>
            <a:ext cx="4754881" cy="237744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4" name="c1_tx706"/>
          <p:cNvSpPr txBox="1"/>
          <p:nvPr/>
        </p:nvSpPr>
        <p:spPr>
          <a:xfrm>
            <a:off x="6583680" y="3576320"/>
            <a:ext cx="47548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Query.denverDogParks</a:t>
            </a:r>
          </a:p>
        </p:txBody>
      </p:sp>
      <p:sp>
        <p:nvSpPr>
          <p:cNvPr id="785" name="c1_tx707"/>
          <p:cNvSpPr txBox="1"/>
          <p:nvPr/>
        </p:nvSpPr>
        <p:spPr>
          <a:xfrm>
            <a:off x="6583680" y="4255283"/>
            <a:ext cx="4754881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“The off-leash dog parks of</a:t>
            </a:r>
          </a:p>
          <a:p>
            <a:pPr algn="ctr">
              <a:defRPr i="1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City and County of Denver …”</a:t>
            </a:r>
          </a:p>
        </p:txBody>
      </p:sp>
      <p:sp>
        <p:nvSpPr>
          <p:cNvPr id="786" name="c1_tx708"/>
          <p:cNvSpPr txBox="1"/>
          <p:nvPr/>
        </p:nvSpPr>
        <p:spPr>
          <a:xfrm>
            <a:off x="6583680" y="4944110"/>
            <a:ext cx="47548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82" grpId="2"/>
      <p:bldP build="whole" bldLvl="1" animBg="1" rev="0" advAuto="0" spid="781" grpId="1"/>
      <p:bldP build="whole" bldLvl="1" animBg="1" rev="0" advAuto="0" spid="785" grpId="5"/>
      <p:bldP build="whole" bldLvl="1" animBg="1" rev="0" advAuto="0" spid="783" grpId="3"/>
      <p:bldP build="whole" bldLvl="1" animBg="1" rev="0" advAuto="0" spid="786" grpId="6"/>
      <p:bldP build="whole" bldLvl="1" animBg="1" rev="0" advAuto="0" spid="784" grpId="4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x709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searchSchema, step by step</a:t>
            </a:r>
          </a:p>
        </p:txBody>
      </p:sp>
      <p:sp>
        <p:nvSpPr>
          <p:cNvPr id="789" name="tx710"/>
          <p:cNvSpPr txBox="1"/>
          <p:nvPr/>
        </p:nvSpPr>
        <p:spPr>
          <a:xfrm>
            <a:off x="548640" y="1358206"/>
            <a:ext cx="3657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once, at startup</a:t>
            </a:r>
          </a:p>
        </p:txBody>
      </p:sp>
      <p:sp>
        <p:nvSpPr>
          <p:cNvPr id="790" name="rc711"/>
          <p:cNvSpPr/>
          <p:nvPr/>
        </p:nvSpPr>
        <p:spPr>
          <a:xfrm>
            <a:off x="548639" y="1691639"/>
            <a:ext cx="2651762" cy="91440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1" name="tx712"/>
          <p:cNvSpPr txBox="1"/>
          <p:nvPr/>
        </p:nvSpPr>
        <p:spPr>
          <a:xfrm>
            <a:off x="621791" y="1936056"/>
            <a:ext cx="2505457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every field of</a:t>
            </a:r>
          </a:p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schema (SDL)</a:t>
            </a:r>
          </a:p>
        </p:txBody>
      </p:sp>
      <p:sp>
        <p:nvSpPr>
          <p:cNvPr id="792" name="ln713"/>
          <p:cNvSpPr/>
          <p:nvPr/>
        </p:nvSpPr>
        <p:spPr>
          <a:xfrm>
            <a:off x="3291840" y="2148839"/>
            <a:ext cx="6400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93" name="rc714"/>
          <p:cNvSpPr/>
          <p:nvPr/>
        </p:nvSpPr>
        <p:spPr>
          <a:xfrm>
            <a:off x="4023359" y="1691639"/>
            <a:ext cx="2011680" cy="91440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" name="tx715"/>
          <p:cNvSpPr txBox="1"/>
          <p:nvPr/>
        </p:nvSpPr>
        <p:spPr>
          <a:xfrm>
            <a:off x="4096511" y="1936056"/>
            <a:ext cx="1865377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embedding</a:t>
            </a:r>
          </a:p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</a:t>
            </a:r>
          </a:p>
        </p:txBody>
      </p:sp>
      <p:sp>
        <p:nvSpPr>
          <p:cNvPr id="795" name="ln716"/>
          <p:cNvSpPr/>
          <p:nvPr/>
        </p:nvSpPr>
        <p:spPr>
          <a:xfrm>
            <a:off x="6126479" y="2148839"/>
            <a:ext cx="6400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799" name="db717"/>
          <p:cNvGrpSpPr/>
          <p:nvPr/>
        </p:nvGrpSpPr>
        <p:grpSpPr>
          <a:xfrm>
            <a:off x="6857998" y="1554480"/>
            <a:ext cx="1005843" cy="1188721"/>
            <a:chOff x="-1" y="0"/>
            <a:chExt cx="1005841" cy="1188720"/>
          </a:xfrm>
        </p:grpSpPr>
        <p:sp>
          <p:nvSpPr>
            <p:cNvPr id="796" name="Shape"/>
            <p:cNvSpPr/>
            <p:nvPr/>
          </p:nvSpPr>
          <p:spPr>
            <a:xfrm>
              <a:off x="-2" y="0"/>
              <a:ext cx="1005843" cy="1188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285"/>
                  </a:moveTo>
                  <a:cubicBezTo>
                    <a:pt x="0" y="1023"/>
                    <a:pt x="4835" y="0"/>
                    <a:pt x="10800" y="0"/>
                  </a:cubicBezTo>
                  <a:cubicBezTo>
                    <a:pt x="16765" y="0"/>
                    <a:pt x="21600" y="1023"/>
                    <a:pt x="21600" y="2285"/>
                  </a:cubicBezTo>
                  <a:lnTo>
                    <a:pt x="21600" y="19315"/>
                  </a:lnTo>
                  <a:cubicBezTo>
                    <a:pt x="21600" y="20577"/>
                    <a:pt x="16765" y="21600"/>
                    <a:pt x="10800" y="21600"/>
                  </a:cubicBezTo>
                  <a:cubicBezTo>
                    <a:pt x="4835" y="21600"/>
                    <a:pt x="0" y="20577"/>
                    <a:pt x="0" y="1931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7" name="Oval"/>
            <p:cNvSpPr/>
            <p:nvPr/>
          </p:nvSpPr>
          <p:spPr>
            <a:xfrm>
              <a:off x="-1" y="-1"/>
              <a:ext cx="1005842" cy="251462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8" name="Line"/>
            <p:cNvSpPr/>
            <p:nvPr/>
          </p:nvSpPr>
          <p:spPr>
            <a:xfrm>
              <a:off x="-2" y="0"/>
              <a:ext cx="1005841" cy="1188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285"/>
                  </a:moveTo>
                  <a:cubicBezTo>
                    <a:pt x="21600" y="3546"/>
                    <a:pt x="16765" y="4569"/>
                    <a:pt x="10800" y="4569"/>
                  </a:cubicBezTo>
                  <a:cubicBezTo>
                    <a:pt x="4835" y="4569"/>
                    <a:pt x="0" y="3546"/>
                    <a:pt x="0" y="2285"/>
                  </a:cubicBezTo>
                  <a:cubicBezTo>
                    <a:pt x="0" y="1023"/>
                    <a:pt x="4835" y="0"/>
                    <a:pt x="10800" y="0"/>
                  </a:cubicBezTo>
                  <a:cubicBezTo>
                    <a:pt x="16765" y="0"/>
                    <a:pt x="21600" y="1023"/>
                    <a:pt x="21600" y="2285"/>
                  </a:cubicBezTo>
                  <a:lnTo>
                    <a:pt x="21600" y="19315"/>
                  </a:lnTo>
                  <a:cubicBezTo>
                    <a:pt x="21600" y="20577"/>
                    <a:pt x="16765" y="21600"/>
                    <a:pt x="10800" y="21600"/>
                  </a:cubicBezTo>
                  <a:cubicBezTo>
                    <a:pt x="4835" y="21600"/>
                    <a:pt x="0" y="20577"/>
                    <a:pt x="0" y="19315"/>
                  </a:cubicBezTo>
                  <a:lnTo>
                    <a:pt x="0" y="2285"/>
                  </a:lnTo>
                </a:path>
              </a:pathLst>
            </a:custGeom>
            <a:noFill/>
            <a:ln w="28575" cap="flat">
              <a:solidFill>
                <a:srgbClr val="11111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00" name="tx718"/>
          <p:cNvSpPr txBox="1"/>
          <p:nvPr/>
        </p:nvSpPr>
        <p:spPr>
          <a:xfrm>
            <a:off x="8001000" y="1936056"/>
            <a:ext cx="3657600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vector per field,</a:t>
            </a:r>
          </a:p>
          <a:p>
            <a:pPr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cached on disk</a:t>
            </a:r>
          </a:p>
        </p:txBody>
      </p:sp>
      <p:sp>
        <p:nvSpPr>
          <p:cNvPr id="801" name="ln719"/>
          <p:cNvSpPr/>
          <p:nvPr/>
        </p:nvSpPr>
        <p:spPr>
          <a:xfrm>
            <a:off x="548639" y="3017520"/>
            <a:ext cx="11064242" cy="92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2" name="c1_tx720"/>
          <p:cNvSpPr txBox="1"/>
          <p:nvPr/>
        </p:nvSpPr>
        <p:spPr>
          <a:xfrm>
            <a:off x="548640" y="3232726"/>
            <a:ext cx="3657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question</a:t>
            </a:r>
          </a:p>
        </p:txBody>
      </p:sp>
      <p:sp>
        <p:nvSpPr>
          <p:cNvPr id="803" name="c1_rc721"/>
          <p:cNvSpPr/>
          <p:nvPr/>
        </p:nvSpPr>
        <p:spPr>
          <a:xfrm>
            <a:off x="548639" y="3566159"/>
            <a:ext cx="2651762" cy="91440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4" name="c1_tx722"/>
          <p:cNvSpPr txBox="1"/>
          <p:nvPr/>
        </p:nvSpPr>
        <p:spPr>
          <a:xfrm>
            <a:off x="621791" y="3810575"/>
            <a:ext cx="2505457" cy="42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“Where can my pup</a:t>
            </a:r>
          </a:p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run without a lead?”</a:t>
            </a:r>
          </a:p>
        </p:txBody>
      </p:sp>
      <p:sp>
        <p:nvSpPr>
          <p:cNvPr id="805" name="c1_ln723"/>
          <p:cNvSpPr/>
          <p:nvPr/>
        </p:nvSpPr>
        <p:spPr>
          <a:xfrm>
            <a:off x="3291840" y="4023359"/>
            <a:ext cx="6400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06" name="c1_rc724"/>
          <p:cNvSpPr/>
          <p:nvPr/>
        </p:nvSpPr>
        <p:spPr>
          <a:xfrm>
            <a:off x="4023359" y="3566159"/>
            <a:ext cx="2011680" cy="91440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7" name="c1_tx725"/>
          <p:cNvSpPr txBox="1"/>
          <p:nvPr/>
        </p:nvSpPr>
        <p:spPr>
          <a:xfrm>
            <a:off x="4096511" y="3810575"/>
            <a:ext cx="1865377" cy="42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embedding</a:t>
            </a:r>
          </a:p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model</a:t>
            </a:r>
          </a:p>
        </p:txBody>
      </p:sp>
      <p:sp>
        <p:nvSpPr>
          <p:cNvPr id="808" name="c2_ln726"/>
          <p:cNvSpPr/>
          <p:nvPr/>
        </p:nvSpPr>
        <p:spPr>
          <a:xfrm>
            <a:off x="6126479" y="4023359"/>
            <a:ext cx="6400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09" name="c2_rc727"/>
          <p:cNvSpPr/>
          <p:nvPr/>
        </p:nvSpPr>
        <p:spPr>
          <a:xfrm>
            <a:off x="6858000" y="3429000"/>
            <a:ext cx="2011679" cy="118872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0" name="c2_tx728"/>
          <p:cNvSpPr txBox="1"/>
          <p:nvPr/>
        </p:nvSpPr>
        <p:spPr>
          <a:xfrm>
            <a:off x="6931152" y="3702626"/>
            <a:ext cx="1865377" cy="6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compare with</a:t>
            </a:r>
          </a:p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every field</a:t>
            </a:r>
          </a:p>
          <a:p>
            <a:pPr algn="ctr"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(cosine)</a:t>
            </a:r>
          </a:p>
        </p:txBody>
      </p:sp>
      <p:sp>
        <p:nvSpPr>
          <p:cNvPr id="811" name="c2_ln729"/>
          <p:cNvSpPr/>
          <p:nvPr/>
        </p:nvSpPr>
        <p:spPr>
          <a:xfrm>
            <a:off x="7360919" y="2788920"/>
            <a:ext cx="92" cy="594361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12" name="c3_ln730"/>
          <p:cNvSpPr/>
          <p:nvPr/>
        </p:nvSpPr>
        <p:spPr>
          <a:xfrm>
            <a:off x="8961119" y="4023359"/>
            <a:ext cx="64008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13" name="c3_rc731"/>
          <p:cNvSpPr/>
          <p:nvPr/>
        </p:nvSpPr>
        <p:spPr>
          <a:xfrm>
            <a:off x="9692640" y="3429000"/>
            <a:ext cx="1920241" cy="118872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4" name="c3_tx732"/>
          <p:cNvSpPr txBox="1"/>
          <p:nvPr/>
        </p:nvSpPr>
        <p:spPr>
          <a:xfrm>
            <a:off x="9765792" y="3702626"/>
            <a:ext cx="1773936" cy="6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best first,</a:t>
            </a:r>
          </a:p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up to 5,000</a:t>
            </a:r>
          </a:p>
          <a:p>
            <a:pPr algn="ctr"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tokens</a:t>
            </a:r>
          </a:p>
        </p:txBody>
      </p:sp>
      <p:sp>
        <p:nvSpPr>
          <p:cNvPr id="815" name="c1_tx733"/>
          <p:cNvSpPr txBox="1"/>
          <p:nvPr/>
        </p:nvSpPr>
        <p:spPr>
          <a:xfrm>
            <a:off x="548639" y="4986020"/>
            <a:ext cx="110642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Instruct: Given a question, retrieve the GraphQL schema field that answers it</a:t>
            </a:r>
          </a:p>
        </p:txBody>
      </p:sp>
      <p:sp>
        <p:nvSpPr>
          <p:cNvPr id="816" name="c1_tx734"/>
          <p:cNvSpPr txBox="1"/>
          <p:nvPr/>
        </p:nvSpPr>
        <p:spPr>
          <a:xfrm>
            <a:off x="548639" y="5348130"/>
            <a:ext cx="110642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instruction the question is sent with, the format Qwen3 embedding models are trained 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50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35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35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35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35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11" grpId="12"/>
      <p:bldP build="whole" bldLvl="1" animBg="1" rev="0" advAuto="0" spid="815" grpId="7"/>
      <p:bldP build="whole" bldLvl="1" animBg="1" rev="0" advAuto="0" spid="808" grpId="9"/>
      <p:bldP build="whole" bldLvl="1" animBg="1" rev="0" advAuto="0" spid="802" grpId="1"/>
      <p:bldP build="whole" bldLvl="1" animBg="1" rev="0" advAuto="0" spid="805" grpId="4"/>
      <p:bldP build="whole" bldLvl="1" animBg="1" rev="0" advAuto="0" spid="806" grpId="5"/>
      <p:bldP build="whole" bldLvl="1" animBg="1" rev="0" advAuto="0" spid="804" grpId="3"/>
      <p:bldP build="whole" bldLvl="1" animBg="1" rev="0" advAuto="0" spid="810" grpId="11"/>
      <p:bldP build="whole" bldLvl="1" animBg="1" rev="0" advAuto="0" spid="813" grpId="14"/>
      <p:bldP build="whole" bldLvl="1" animBg="1" rev="0" advAuto="0" spid="812" grpId="13"/>
      <p:bldP build="whole" bldLvl="1" animBg="1" rev="0" advAuto="0" spid="814" grpId="15"/>
      <p:bldP build="whole" bldLvl="1" animBg="1" rev="0" advAuto="0" spid="809" grpId="10"/>
      <p:bldP build="whole" bldLvl="1" animBg="1" rev="0" advAuto="0" spid="816" grpId="8"/>
      <p:bldP build="whole" bldLvl="1" animBg="1" rev="0" advAuto="0" spid="807" grpId="6"/>
      <p:bldP build="whole" bldLvl="1" animBg="1" rev="0" advAuto="0" spid="803" grpId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x735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model that reads GraphQL</a:t>
            </a:r>
          </a:p>
        </p:txBody>
      </p:sp>
      <p:sp>
        <p:nvSpPr>
          <p:cNvPr id="819" name="tx736"/>
          <p:cNvSpPr txBox="1"/>
          <p:nvPr/>
        </p:nvSpPr>
        <p:spPr>
          <a:xfrm>
            <a:off x="548640" y="1362710"/>
            <a:ext cx="56692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Qwen3-Embedding-0.6B-GraphQL</a:t>
            </a:r>
          </a:p>
        </p:txBody>
      </p:sp>
      <p:sp>
        <p:nvSpPr>
          <p:cNvPr id="820" name="Text 2"/>
          <p:cNvSpPr txBox="1"/>
          <p:nvPr/>
        </p:nvSpPr>
        <p:spPr>
          <a:xfrm>
            <a:off x="548639" y="1874520"/>
            <a:ext cx="5394962" cy="164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79400" indent="-279400">
              <a:spcBef>
                <a:spcPts val="1000"/>
              </a:spcBef>
              <a:buSzPct val="100000"/>
              <a:buChar char="•"/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Qwen3-Embedding-0.6B, fine-tuned on 4,788 question → Type.field pairs</a:t>
            </a:r>
          </a:p>
          <a:p>
            <a:pPr marL="279400" indent="-279400">
              <a:spcBef>
                <a:spcPts val="1000"/>
              </a:spcBef>
              <a:buSzPct val="100000"/>
              <a:buChar char="•"/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1,024 numbers per text</a:t>
            </a:r>
          </a:p>
          <a:p>
            <a:pPr marL="279400" indent="-279400">
              <a:spcBef>
                <a:spcPts val="1000"/>
              </a:spcBef>
              <a:buSzPct val="100000"/>
              <a:buChar char="•"/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Runs locally in Ollama, 8-bit</a:t>
            </a:r>
          </a:p>
          <a:p>
            <a:pPr marL="279400" indent="-279400">
              <a:spcBef>
                <a:spcPts val="1000"/>
              </a:spcBef>
              <a:buSzPct val="100000"/>
              <a:buChar char="•"/>
              <a:defRPr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Apache 2.0</a:t>
            </a:r>
          </a:p>
        </p:txBody>
      </p:sp>
      <p:sp>
        <p:nvSpPr>
          <p:cNvPr id="821" name="tx737"/>
          <p:cNvSpPr txBox="1"/>
          <p:nvPr/>
        </p:nvSpPr>
        <p:spPr>
          <a:xfrm>
            <a:off x="548639" y="4425671"/>
            <a:ext cx="5394962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custom: a schema is not prose.</a:t>
            </a:r>
          </a:p>
        </p:txBody>
      </p:sp>
      <p:sp>
        <p:nvSpPr>
          <p:cNvPr id="822" name="tx738"/>
          <p:cNvSpPr txBox="1"/>
          <p:nvPr/>
        </p:nvSpPr>
        <p:spPr>
          <a:xfrm>
            <a:off x="548639" y="4855786"/>
            <a:ext cx="539496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camelCase names, type signatures, short descriptions</a:t>
            </a:r>
          </a:p>
        </p:txBody>
      </p:sp>
      <p:sp>
        <p:nvSpPr>
          <p:cNvPr id="823" name="c1_tx739"/>
          <p:cNvSpPr txBox="1"/>
          <p:nvPr/>
        </p:nvSpPr>
        <p:spPr>
          <a:xfrm>
            <a:off x="6583680" y="1455788"/>
            <a:ext cx="4937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right field in the top 50 (recall@50)</a:t>
            </a:r>
          </a:p>
        </p:txBody>
      </p:sp>
      <p:sp>
        <p:nvSpPr>
          <p:cNvPr id="824" name="c1_tx740"/>
          <p:cNvSpPr txBox="1"/>
          <p:nvPr/>
        </p:nvSpPr>
        <p:spPr>
          <a:xfrm>
            <a:off x="6583680" y="1946562"/>
            <a:ext cx="49377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fine-tune</a:t>
            </a:r>
          </a:p>
        </p:txBody>
      </p:sp>
      <p:sp>
        <p:nvSpPr>
          <p:cNvPr id="825" name="c1_bar741"/>
          <p:cNvSpPr/>
          <p:nvPr/>
        </p:nvSpPr>
        <p:spPr>
          <a:xfrm>
            <a:off x="6583680" y="2221992"/>
            <a:ext cx="3738591" cy="39685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6" name="c1_tx742"/>
          <p:cNvSpPr txBox="1"/>
          <p:nvPr/>
        </p:nvSpPr>
        <p:spPr>
          <a:xfrm>
            <a:off x="10413710" y="2318326"/>
            <a:ext cx="82296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63.6%</a:t>
            </a:r>
          </a:p>
        </p:txBody>
      </p:sp>
      <p:sp>
        <p:nvSpPr>
          <p:cNvPr id="827" name="c1_tx743"/>
          <p:cNvSpPr txBox="1"/>
          <p:nvPr/>
        </p:nvSpPr>
        <p:spPr>
          <a:xfrm>
            <a:off x="6583680" y="2879250"/>
            <a:ext cx="49377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OpenAI text-embedding-3-large</a:t>
            </a:r>
          </a:p>
        </p:txBody>
      </p:sp>
      <p:sp>
        <p:nvSpPr>
          <p:cNvPr id="828" name="c1_bar744"/>
          <p:cNvSpPr/>
          <p:nvPr/>
        </p:nvSpPr>
        <p:spPr>
          <a:xfrm>
            <a:off x="6583680" y="3154679"/>
            <a:ext cx="3515216" cy="396851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" name="c1_tx745"/>
          <p:cNvSpPr txBox="1"/>
          <p:nvPr/>
        </p:nvSpPr>
        <p:spPr>
          <a:xfrm>
            <a:off x="10190335" y="3251014"/>
            <a:ext cx="82296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59.8%</a:t>
            </a:r>
          </a:p>
        </p:txBody>
      </p:sp>
      <p:sp>
        <p:nvSpPr>
          <p:cNvPr id="830" name="c1_tx746"/>
          <p:cNvSpPr txBox="1"/>
          <p:nvPr/>
        </p:nvSpPr>
        <p:spPr>
          <a:xfrm>
            <a:off x="6583680" y="3811938"/>
            <a:ext cx="49377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Qwen3 base</a:t>
            </a:r>
          </a:p>
        </p:txBody>
      </p:sp>
      <p:sp>
        <p:nvSpPr>
          <p:cNvPr id="831" name="c1_bar747"/>
          <p:cNvSpPr/>
          <p:nvPr/>
        </p:nvSpPr>
        <p:spPr>
          <a:xfrm>
            <a:off x="6583680" y="4087367"/>
            <a:ext cx="3438798" cy="396851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2" name="c1_tx748"/>
          <p:cNvSpPr txBox="1"/>
          <p:nvPr/>
        </p:nvSpPr>
        <p:spPr>
          <a:xfrm>
            <a:off x="10113916" y="4183702"/>
            <a:ext cx="82296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58.5%</a:t>
            </a:r>
          </a:p>
        </p:txBody>
      </p:sp>
      <p:sp>
        <p:nvSpPr>
          <p:cNvPr id="833" name="c1_tx749"/>
          <p:cNvSpPr txBox="1"/>
          <p:nvPr/>
        </p:nvSpPr>
        <p:spPr>
          <a:xfrm>
            <a:off x="6583680" y="4846320"/>
            <a:ext cx="4937761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GraphQL AI Working Group benchmark, 816 questions, 5 schemas. Source: the model card.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35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35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5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5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35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5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35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26" grpId="4"/>
      <p:bldP build="whole" bldLvl="1" animBg="1" rev="0" advAuto="0" spid="823" grpId="1"/>
      <p:bldP build="whole" bldLvl="1" animBg="1" rev="0" advAuto="0" spid="825" grpId="3"/>
      <p:bldP build="whole" bldLvl="1" animBg="1" rev="0" advAuto="0" spid="832" grpId="10"/>
      <p:bldP build="whole" bldLvl="1" animBg="1" rev="0" advAuto="0" spid="833" grpId="11"/>
      <p:bldP build="whole" bldLvl="1" animBg="1" rev="0" advAuto="0" spid="830" grpId="8"/>
      <p:bldP build="whole" bldLvl="1" animBg="1" rev="0" advAuto="0" spid="831" grpId="9"/>
      <p:bldP build="whole" bldLvl="1" animBg="1" rev="0" advAuto="0" spid="824" grpId="2"/>
      <p:bldP build="whole" bldLvl="1" animBg="1" rev="0" advAuto="0" spid="828" grpId="6"/>
      <p:bldP build="whole" bldLvl="1" animBg="1" rev="0" advAuto="0" spid="827" grpId="5"/>
      <p:bldP build="whole" bldLvl="1" animBg="1" rev="0" advAuto="0" spid="829" grpId="7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x750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 search returns</a:t>
            </a:r>
          </a:p>
        </p:txBody>
      </p:sp>
      <p:sp>
        <p:nvSpPr>
          <p:cNvPr id="836" name="rc751"/>
          <p:cNvSpPr/>
          <p:nvPr/>
        </p:nvSpPr>
        <p:spPr>
          <a:xfrm>
            <a:off x="548639" y="1280160"/>
            <a:ext cx="11064242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7" name="tx752"/>
          <p:cNvSpPr txBox="1"/>
          <p:nvPr/>
        </p:nvSpPr>
        <p:spPr>
          <a:xfrm>
            <a:off x="621792" y="1479550"/>
            <a:ext cx="109179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searchSchema(“Were any lost pets reported in Denver last month?”)</a:t>
            </a:r>
          </a:p>
        </p:txBody>
      </p:sp>
      <p:sp>
        <p:nvSpPr>
          <p:cNvPr id="838" name="rc753"/>
          <p:cNvSpPr/>
          <p:nvPr/>
        </p:nvSpPr>
        <p:spPr>
          <a:xfrm>
            <a:off x="548640" y="2148839"/>
            <a:ext cx="11064241" cy="2545462"/>
          </a:xfrm>
          <a:prstGeom prst="roundRect">
            <a:avLst>
              <a:gd name="adj" fmla="val 2155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9" name="code754"/>
          <p:cNvSpPr txBox="1"/>
          <p:nvPr/>
        </p:nvSpPr>
        <p:spPr>
          <a:xfrm>
            <a:off x="749807" y="2350007"/>
            <a:ext cx="10661906" cy="2068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Query.denverAnimalServiceRequests: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denverAnimalServiceRequests(caseTypes: [DenverAnimalCaseType!],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zipCode: String, councilDistrict: Int,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createdFrom: Date, createdTo: Date,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page: Int! = 1, size: Int! = 10): DenverAnimalServiceRequestPage!</a:t>
            </a:r>
          </a:p>
          <a:p>
            <a:pPr>
              <a:lnSpc>
                <a:spcPts val="1800"/>
              </a:lnSpc>
              <a:defRPr sz="1500"/>
            </a:pP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Query.denverAnimalServiceRequestCounts: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denverAnimalServiceRequestCounts(createdFrom: Date, createdTo: Date,</a:t>
            </a:r>
          </a:p>
          <a:p>
            <a:pPr>
              <a:lnSpc>
                <a:spcPts val="1800"/>
              </a:lnSpc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zipCode: String, councilDistrict: Int): [DenverAnimalCaseCount!]!</a:t>
            </a:r>
          </a:p>
        </p:txBody>
      </p:sp>
      <p:sp>
        <p:nvSpPr>
          <p:cNvPr id="840" name="c1_hl755"/>
          <p:cNvSpPr/>
          <p:nvPr/>
        </p:nvSpPr>
        <p:spPr>
          <a:xfrm>
            <a:off x="5321808" y="2569845"/>
            <a:ext cx="2331721" cy="274702"/>
          </a:xfrm>
          <a:prstGeom prst="rect">
            <a:avLst/>
          </a:prstGeom>
          <a:ln w="3175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1" name="c1_hl756"/>
          <p:cNvSpPr/>
          <p:nvPr/>
        </p:nvSpPr>
        <p:spPr>
          <a:xfrm>
            <a:off x="5093208" y="3284220"/>
            <a:ext cx="3474721" cy="274702"/>
          </a:xfrm>
          <a:prstGeom prst="rect">
            <a:avLst/>
          </a:prstGeom>
          <a:ln w="31750">
            <a:solidFill>
              <a:srgbClr val="D628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2" name="c1_tx757"/>
          <p:cNvSpPr txBox="1"/>
          <p:nvPr/>
        </p:nvSpPr>
        <p:spPr>
          <a:xfrm>
            <a:off x="548639" y="5161624"/>
            <a:ext cx="1106424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values? Which fields? Never guess a name.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40" grpId="1"/>
      <p:bldP build="whole" bldLvl="1" animBg="1" rev="0" advAuto="0" spid="841" grpId="2"/>
      <p:bldP build="whole" bldLvl="1" animBg="1" rev="0" advAuto="0" spid="842" grpId="3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tx758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introspectType: look inside a type</a:t>
            </a:r>
          </a:p>
        </p:txBody>
      </p:sp>
      <p:sp>
        <p:nvSpPr>
          <p:cNvPr id="845" name="tx759"/>
          <p:cNvSpPr txBox="1"/>
          <p:nvPr/>
        </p:nvSpPr>
        <p:spPr>
          <a:xfrm>
            <a:off x="548640" y="1403926"/>
            <a:ext cx="384048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when to use it</a:t>
            </a:r>
          </a:p>
        </p:txBody>
      </p:sp>
      <p:sp>
        <p:nvSpPr>
          <p:cNvPr id="846" name="Text 2"/>
          <p:cNvSpPr txBox="1"/>
          <p:nvPr/>
        </p:nvSpPr>
        <p:spPr>
          <a:xfrm>
            <a:off x="548639" y="1737360"/>
            <a:ext cx="3931922" cy="1034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79400" indent="-279400">
              <a:spcBef>
                <a:spcPts val="1000"/>
              </a:spcBef>
              <a:buSzPct val="100000"/>
              <a:buChar char="•"/>
              <a:defRPr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value you pass: an enum or an input type</a:t>
            </a:r>
          </a:p>
          <a:p>
            <a:pPr marL="279400" indent="-279400">
              <a:spcBef>
                <a:spcPts val="1000"/>
              </a:spcBef>
              <a:buSzPct val="100000"/>
              <a:buChar char="•"/>
              <a:defRPr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fields you can select on a type it returns</a:t>
            </a:r>
          </a:p>
        </p:txBody>
      </p:sp>
      <p:sp>
        <p:nvSpPr>
          <p:cNvPr id="847" name="c1_rc760"/>
          <p:cNvSpPr/>
          <p:nvPr/>
        </p:nvSpPr>
        <p:spPr>
          <a:xfrm>
            <a:off x="4846320" y="1325880"/>
            <a:ext cx="6766560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8" name="c1_tx761"/>
          <p:cNvSpPr txBox="1"/>
          <p:nvPr/>
        </p:nvSpPr>
        <p:spPr>
          <a:xfrm>
            <a:off x="4919471" y="1492250"/>
            <a:ext cx="6620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introspectType(“DenverAnimalCaseType”)</a:t>
            </a:r>
          </a:p>
        </p:txBody>
      </p:sp>
      <p:sp>
        <p:nvSpPr>
          <p:cNvPr id="849" name="c1_rc762"/>
          <p:cNvSpPr/>
          <p:nvPr/>
        </p:nvSpPr>
        <p:spPr>
          <a:xfrm>
            <a:off x="4846320" y="1965960"/>
            <a:ext cx="6766560" cy="1069087"/>
          </a:xfrm>
          <a:prstGeom prst="roundRect">
            <a:avLst>
              <a:gd name="adj" fmla="val 5132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0" name="c1_code763"/>
          <p:cNvSpPr txBox="1"/>
          <p:nvPr/>
        </p:nvSpPr>
        <p:spPr>
          <a:xfrm>
            <a:off x="5047488" y="2167127"/>
            <a:ext cx="6364224" cy="6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enum DenverAnimalCaseType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LOST_PET  BARKING_DOG  PET_SURRENDER  LOOSE_ANIMAL  …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851" name="c2_rc764"/>
          <p:cNvSpPr/>
          <p:nvPr/>
        </p:nvSpPr>
        <p:spPr>
          <a:xfrm>
            <a:off x="4846320" y="3246120"/>
            <a:ext cx="6766560" cy="54864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2" name="c2_tx765"/>
          <p:cNvSpPr txBox="1"/>
          <p:nvPr/>
        </p:nvSpPr>
        <p:spPr>
          <a:xfrm>
            <a:off x="4919471" y="3412490"/>
            <a:ext cx="6620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introspectType(“DenverAnimalServiceRequestPage”)</a:t>
            </a:r>
          </a:p>
        </p:txBody>
      </p:sp>
      <p:sp>
        <p:nvSpPr>
          <p:cNvPr id="853" name="c2_rc766"/>
          <p:cNvSpPr/>
          <p:nvPr/>
        </p:nvSpPr>
        <p:spPr>
          <a:xfrm>
            <a:off x="4846320" y="3886200"/>
            <a:ext cx="6766560" cy="1735836"/>
          </a:xfrm>
          <a:prstGeom prst="roundRect">
            <a:avLst>
              <a:gd name="adj" fmla="val 3161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4" name="c2_code767"/>
          <p:cNvSpPr txBox="1"/>
          <p:nvPr/>
        </p:nvSpPr>
        <p:spPr>
          <a:xfrm>
            <a:off x="5047488" y="4087367"/>
            <a:ext cx="6364224" cy="130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 DenverAnimalServiceRequestPage {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requests: [DenverAnimalServiceRequest!]!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page: Int!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totalPages: Int!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totalRequests: Int!</a:t>
            </a:r>
          </a:p>
          <a:p>
            <a:pPr>
              <a:lnSpc>
                <a:spcPts val="1700"/>
              </a:lnSpc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855" name="c2_tx768"/>
          <p:cNvSpPr txBox="1"/>
          <p:nvPr/>
        </p:nvSpPr>
        <p:spPr>
          <a:xfrm>
            <a:off x="548639" y="4023359"/>
            <a:ext cx="4023361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search finds where to look,</a:t>
            </a:r>
          </a:p>
          <a:p>
            <a:pPr>
              <a:defRPr b="1" sz="1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introspectType shows what is inside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54" grpId="8"/>
      <p:bldP build="whole" bldLvl="1" animBg="1" rev="0" advAuto="0" spid="848" grpId="2"/>
      <p:bldP build="whole" bldLvl="1" animBg="1" rev="0" advAuto="0" spid="852" grpId="6"/>
      <p:bldP build="whole" bldLvl="1" animBg="1" rev="0" advAuto="0" spid="855" grpId="9"/>
      <p:bldP build="whole" bldLvl="1" animBg="1" rev="0" advAuto="0" spid="853" grpId="7"/>
      <p:bldP build="whole" bldLvl="1" animBg="1" rev="0" advAuto="0" spid="851" grpId="5"/>
      <p:bldP build="whole" bldLvl="1" animBg="1" rev="0" advAuto="0" spid="849" grpId="3"/>
      <p:bldP build="whole" bldLvl="1" animBg="1" rev="0" advAuto="0" spid="850" grpId="4"/>
      <p:bldP build="whole" bldLvl="1" animBg="1" rev="0" advAuto="0" spid="847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tx769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executeGraphql: run what it wrote</a:t>
            </a:r>
          </a:p>
        </p:txBody>
      </p:sp>
      <p:sp>
        <p:nvSpPr>
          <p:cNvPr id="858" name="rc770"/>
          <p:cNvSpPr/>
          <p:nvPr/>
        </p:nvSpPr>
        <p:spPr>
          <a:xfrm>
            <a:off x="548640" y="1325880"/>
            <a:ext cx="5120641" cy="2259711"/>
          </a:xfrm>
          <a:prstGeom prst="roundRect">
            <a:avLst>
              <a:gd name="adj" fmla="val 2428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9" name="code771"/>
          <p:cNvSpPr txBox="1"/>
          <p:nvPr/>
        </p:nvSpPr>
        <p:spPr>
          <a:xfrm>
            <a:off x="749807" y="1527047"/>
            <a:ext cx="4718306" cy="1837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 {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denverAnimalServiceRequests(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caseTypes: [LOST_PET],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createdFrom: "2026-09-01",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createdTo: "2026-09-30") {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totalRequests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requests { createdDate zipCode status }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ts val="1600"/>
              </a:lnSpc>
              <a:defRPr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860" name="ln772"/>
          <p:cNvSpPr/>
          <p:nvPr/>
        </p:nvSpPr>
        <p:spPr>
          <a:xfrm>
            <a:off x="5760720" y="2514600"/>
            <a:ext cx="54864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61" name="rc773"/>
          <p:cNvSpPr/>
          <p:nvPr/>
        </p:nvSpPr>
        <p:spPr>
          <a:xfrm>
            <a:off x="6400800" y="1325880"/>
            <a:ext cx="283464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2" name="Text 6"/>
          <p:cNvSpPr txBox="1"/>
          <p:nvPr/>
        </p:nvSpPr>
        <p:spPr>
          <a:xfrm>
            <a:off x="6537959" y="1508759"/>
            <a:ext cx="2606041" cy="1111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800"/>
              </a:spcBef>
              <a:buSzPct val="100000"/>
              <a:buChar char="•"/>
              <a:defRPr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valid for the schema</a:t>
            </a: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within limits</a:t>
            </a: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query, not a mutation</a:t>
            </a:r>
          </a:p>
          <a:p>
            <a:pPr marL="228600" indent="-228600">
              <a:spcBef>
                <a:spcPts val="800"/>
              </a:spcBef>
              <a:buSzPct val="100000"/>
              <a:buChar char="•"/>
              <a:defRPr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 __schema, __type</a:t>
            </a:r>
          </a:p>
        </p:txBody>
      </p:sp>
      <p:sp>
        <p:nvSpPr>
          <p:cNvPr id="863" name="tx775"/>
          <p:cNvSpPr txBox="1"/>
          <p:nvPr/>
        </p:nvSpPr>
        <p:spPr>
          <a:xfrm>
            <a:off x="6400800" y="3833228"/>
            <a:ext cx="283464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checks</a:t>
            </a:r>
          </a:p>
        </p:txBody>
      </p:sp>
      <p:sp>
        <p:nvSpPr>
          <p:cNvPr id="864" name="c1_ln776"/>
          <p:cNvSpPr/>
          <p:nvPr/>
        </p:nvSpPr>
        <p:spPr>
          <a:xfrm>
            <a:off x="9326880" y="2011679"/>
            <a:ext cx="54864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65" name="c1_rc777"/>
          <p:cNvSpPr/>
          <p:nvPr/>
        </p:nvSpPr>
        <p:spPr>
          <a:xfrm>
            <a:off x="9966959" y="1600199"/>
            <a:ext cx="1645921" cy="822962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6" name="c1_tx778"/>
          <p:cNvSpPr txBox="1"/>
          <p:nvPr/>
        </p:nvSpPr>
        <p:spPr>
          <a:xfrm>
            <a:off x="10040111" y="1882069"/>
            <a:ext cx="149961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</a:t>
            </a:r>
          </a:p>
        </p:txBody>
      </p:sp>
      <p:sp>
        <p:nvSpPr>
          <p:cNvPr id="867" name="c1_tx779"/>
          <p:cNvSpPr txBox="1"/>
          <p:nvPr/>
        </p:nvSpPr>
        <p:spPr>
          <a:xfrm>
            <a:off x="9966959" y="2546926"/>
            <a:ext cx="164592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868" name="c2_ln780"/>
          <p:cNvSpPr/>
          <p:nvPr/>
        </p:nvSpPr>
        <p:spPr>
          <a:xfrm>
            <a:off x="7818119" y="4160520"/>
            <a:ext cx="92" cy="594361"/>
          </a:xfrm>
          <a:prstGeom prst="line">
            <a:avLst/>
          </a:prstGeom>
          <a:ln w="28575">
            <a:solidFill>
              <a:srgbClr val="D6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69" name="c2_rc781"/>
          <p:cNvSpPr/>
          <p:nvPr/>
        </p:nvSpPr>
        <p:spPr>
          <a:xfrm>
            <a:off x="5577840" y="4846320"/>
            <a:ext cx="448056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0" name="c2_tx782"/>
          <p:cNvSpPr txBox="1"/>
          <p:nvPr/>
        </p:nvSpPr>
        <p:spPr>
          <a:xfrm>
            <a:off x="5650991" y="5061526"/>
            <a:ext cx="4334257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D628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errors name the types to read</a:t>
            </a:r>
          </a:p>
        </p:txBody>
      </p:sp>
      <p:sp>
        <p:nvSpPr>
          <p:cNvPr id="871" name="c2_ln783"/>
          <p:cNvSpPr/>
          <p:nvPr/>
        </p:nvSpPr>
        <p:spPr>
          <a:xfrm flipH="1">
            <a:off x="3108959" y="5166359"/>
            <a:ext cx="2377441" cy="92"/>
          </a:xfrm>
          <a:prstGeom prst="line">
            <a:avLst/>
          </a:prstGeom>
          <a:ln w="28575">
            <a:solidFill>
              <a:srgbClr val="D62828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72" name="c2_rc784"/>
          <p:cNvSpPr/>
          <p:nvPr/>
        </p:nvSpPr>
        <p:spPr>
          <a:xfrm>
            <a:off x="1280160" y="4846320"/>
            <a:ext cx="1828801" cy="640081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3" name="c2_tx785"/>
          <p:cNvSpPr txBox="1"/>
          <p:nvPr/>
        </p:nvSpPr>
        <p:spPr>
          <a:xfrm>
            <a:off x="1353311" y="5064760"/>
            <a:ext cx="168249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introspectType</a:t>
            </a:r>
          </a:p>
        </p:txBody>
      </p:sp>
      <p:sp>
        <p:nvSpPr>
          <p:cNvPr id="874" name="c2_tx786"/>
          <p:cNvSpPr txBox="1"/>
          <p:nvPr/>
        </p:nvSpPr>
        <p:spPr>
          <a:xfrm>
            <a:off x="914399" y="5616308"/>
            <a:ext cx="256032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then try again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5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35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10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35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69" grpId="6"/>
      <p:bldP build="whole" bldLvl="1" animBg="1" rev="0" advAuto="0" spid="865" grpId="2"/>
      <p:bldP build="whole" bldLvl="1" animBg="1" rev="0" advAuto="0" spid="873" grpId="10"/>
      <p:bldP build="whole" bldLvl="1" animBg="1" rev="0" advAuto="0" spid="867" grpId="4"/>
      <p:bldP build="whole" bldLvl="1" animBg="1" rev="0" advAuto="0" spid="868" grpId="5"/>
      <p:bldP build="whole" bldLvl="1" animBg="1" rev="0" advAuto="0" spid="870" grpId="7"/>
      <p:bldP build="whole" bldLvl="1" animBg="1" rev="0" advAuto="0" spid="871" grpId="8"/>
      <p:bldP build="whole" bldLvl="1" animBg="1" rev="0" advAuto="0" spid="866" grpId="3"/>
      <p:bldP build="whole" bldLvl="1" animBg="1" rev="0" advAuto="0" spid="864" grpId="1"/>
      <p:bldP build="whole" bldLvl="1" animBg="1" rev="0" advAuto="0" spid="872" grpId="9"/>
      <p:bldP build="whole" bldLvl="1" animBg="1" rev="0" advAuto="0" spid="874" grpId="1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x787"/>
          <p:cNvSpPr txBox="1"/>
          <p:nvPr/>
        </p:nvSpPr>
        <p:spPr>
          <a:xfrm>
            <a:off x="548640" y="518018"/>
            <a:ext cx="10972801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question, three tools</a:t>
            </a:r>
          </a:p>
        </p:txBody>
      </p:sp>
      <p:sp>
        <p:nvSpPr>
          <p:cNvPr id="877" name="ln788"/>
          <p:cNvSpPr/>
          <p:nvPr/>
        </p:nvSpPr>
        <p:spPr>
          <a:xfrm>
            <a:off x="1645920" y="1371599"/>
            <a:ext cx="92" cy="9875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8" name="ov789"/>
          <p:cNvSpPr/>
          <p:nvPr/>
        </p:nvSpPr>
        <p:spPr>
          <a:xfrm>
            <a:off x="1618488" y="1344167"/>
            <a:ext cx="54865" cy="54865"/>
          </a:xfrm>
          <a:prstGeom prst="ellipse">
            <a:avLst/>
          </a:prstGeom>
          <a:solidFill>
            <a:srgbClr val="111111"/>
          </a:solidFill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9" name="rc790"/>
          <p:cNvSpPr/>
          <p:nvPr/>
        </p:nvSpPr>
        <p:spPr>
          <a:xfrm>
            <a:off x="1481327" y="1470355"/>
            <a:ext cx="329185" cy="246889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0" name="ov791"/>
          <p:cNvSpPr/>
          <p:nvPr/>
        </p:nvSpPr>
        <p:spPr>
          <a:xfrm>
            <a:off x="1552650" y="1558138"/>
            <a:ext cx="43893" cy="4389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1" name="ov792"/>
          <p:cNvSpPr/>
          <p:nvPr/>
        </p:nvSpPr>
        <p:spPr>
          <a:xfrm>
            <a:off x="1695298" y="1558138"/>
            <a:ext cx="43893" cy="43893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2" name="ln793"/>
          <p:cNvSpPr/>
          <p:nvPr/>
        </p:nvSpPr>
        <p:spPr>
          <a:xfrm>
            <a:off x="1580083" y="1656893"/>
            <a:ext cx="131675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3" name="rc794"/>
          <p:cNvSpPr/>
          <p:nvPr/>
        </p:nvSpPr>
        <p:spPr>
          <a:xfrm>
            <a:off x="1448410" y="1755648"/>
            <a:ext cx="395022" cy="340158"/>
          </a:xfrm>
          <a:prstGeom prst="rect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4" name="ln795"/>
          <p:cNvSpPr/>
          <p:nvPr/>
        </p:nvSpPr>
        <p:spPr>
          <a:xfrm flipH="1">
            <a:off x="1305763" y="1821484"/>
            <a:ext cx="142647" cy="16459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5" name="ln796"/>
          <p:cNvSpPr/>
          <p:nvPr/>
        </p:nvSpPr>
        <p:spPr>
          <a:xfrm>
            <a:off x="1843429" y="1821484"/>
            <a:ext cx="142647" cy="164593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6" name="ln797"/>
          <p:cNvSpPr/>
          <p:nvPr/>
        </p:nvSpPr>
        <p:spPr>
          <a:xfrm>
            <a:off x="1547164" y="2095805"/>
            <a:ext cx="92" cy="21945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7" name="ln798"/>
          <p:cNvSpPr/>
          <p:nvPr/>
        </p:nvSpPr>
        <p:spPr>
          <a:xfrm>
            <a:off x="1744675" y="2095805"/>
            <a:ext cx="92" cy="219457"/>
          </a:xfrm>
          <a:prstGeom prst="line">
            <a:avLst/>
          </a:prstGeom>
          <a:ln w="28575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8" name="tx799"/>
          <p:cNvSpPr txBox="1"/>
          <p:nvPr/>
        </p:nvSpPr>
        <p:spPr>
          <a:xfrm>
            <a:off x="914400" y="2461628"/>
            <a:ext cx="1828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889" name="rc800"/>
          <p:cNvSpPr/>
          <p:nvPr/>
        </p:nvSpPr>
        <p:spPr>
          <a:xfrm>
            <a:off x="8778240" y="1463039"/>
            <a:ext cx="1828801" cy="731521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0" name="tx801"/>
          <p:cNvSpPr txBox="1"/>
          <p:nvPr/>
        </p:nvSpPr>
        <p:spPr>
          <a:xfrm>
            <a:off x="8778240" y="1699189"/>
            <a:ext cx="1828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GATool</a:t>
            </a:r>
          </a:p>
        </p:txBody>
      </p:sp>
      <p:sp>
        <p:nvSpPr>
          <p:cNvPr id="891" name="ln802"/>
          <p:cNvSpPr/>
          <p:nvPr/>
        </p:nvSpPr>
        <p:spPr>
          <a:xfrm>
            <a:off x="1828800" y="2788920"/>
            <a:ext cx="92" cy="3246121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892" name="ln803"/>
          <p:cNvSpPr/>
          <p:nvPr/>
        </p:nvSpPr>
        <p:spPr>
          <a:xfrm>
            <a:off x="9692640" y="2240279"/>
            <a:ext cx="92" cy="379476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893" name="c1_ln804"/>
          <p:cNvSpPr/>
          <p:nvPr/>
        </p:nvSpPr>
        <p:spPr>
          <a:xfrm>
            <a:off x="1874520" y="3063239"/>
            <a:ext cx="77724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4" name="c1_tx805"/>
          <p:cNvSpPr txBox="1"/>
          <p:nvPr/>
        </p:nvSpPr>
        <p:spPr>
          <a:xfrm>
            <a:off x="2011679" y="2726690"/>
            <a:ext cx="74980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  searchSchema(“lost pets in Denver”)</a:t>
            </a:r>
          </a:p>
        </p:txBody>
      </p:sp>
      <p:sp>
        <p:nvSpPr>
          <p:cNvPr id="895" name="c1_ln806"/>
          <p:cNvSpPr/>
          <p:nvPr/>
        </p:nvSpPr>
        <p:spPr>
          <a:xfrm flipH="1">
            <a:off x="1874519" y="3611879"/>
            <a:ext cx="77724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6" name="c1_tx807"/>
          <p:cNvSpPr txBox="1"/>
          <p:nvPr/>
        </p:nvSpPr>
        <p:spPr>
          <a:xfrm>
            <a:off x="2011679" y="3711447"/>
            <a:ext cx="74980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Query.denverAnimalServiceRequests</a:t>
            </a:r>
          </a:p>
        </p:txBody>
      </p:sp>
      <p:sp>
        <p:nvSpPr>
          <p:cNvPr id="897" name="c2_ln808"/>
          <p:cNvSpPr/>
          <p:nvPr/>
        </p:nvSpPr>
        <p:spPr>
          <a:xfrm>
            <a:off x="1874520" y="4434840"/>
            <a:ext cx="77724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8" name="c2_tx809"/>
          <p:cNvSpPr txBox="1"/>
          <p:nvPr/>
        </p:nvSpPr>
        <p:spPr>
          <a:xfrm>
            <a:off x="2011679" y="4098289"/>
            <a:ext cx="74980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  introspectType(“DenverAnimalCaseType”)</a:t>
            </a:r>
          </a:p>
        </p:txBody>
      </p:sp>
      <p:sp>
        <p:nvSpPr>
          <p:cNvPr id="899" name="c2_ln810"/>
          <p:cNvSpPr/>
          <p:nvPr/>
        </p:nvSpPr>
        <p:spPr>
          <a:xfrm flipH="1">
            <a:off x="1874519" y="4983479"/>
            <a:ext cx="77724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0" name="c2_tx811"/>
          <p:cNvSpPr txBox="1"/>
          <p:nvPr/>
        </p:nvSpPr>
        <p:spPr>
          <a:xfrm>
            <a:off x="2011679" y="5083047"/>
            <a:ext cx="74980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LOST_PET  BARKING_DOG  …</a:t>
            </a:r>
          </a:p>
        </p:txBody>
      </p:sp>
      <p:sp>
        <p:nvSpPr>
          <p:cNvPr id="901" name="c3_ln812"/>
          <p:cNvSpPr/>
          <p:nvPr/>
        </p:nvSpPr>
        <p:spPr>
          <a:xfrm>
            <a:off x="1874520" y="5806440"/>
            <a:ext cx="7772401" cy="92"/>
          </a:xfrm>
          <a:prstGeom prst="line">
            <a:avLst/>
          </a:prstGeom>
          <a:ln w="28575">
            <a:solidFill>
              <a:srgbClr val="111111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2" name="c3_tx813"/>
          <p:cNvSpPr txBox="1"/>
          <p:nvPr/>
        </p:nvSpPr>
        <p:spPr>
          <a:xfrm>
            <a:off x="2011679" y="5469889"/>
            <a:ext cx="74980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  executeGraphql(query { … })</a:t>
            </a:r>
          </a:p>
        </p:txBody>
      </p:sp>
      <p:sp>
        <p:nvSpPr>
          <p:cNvPr id="903" name="c3_ln814"/>
          <p:cNvSpPr/>
          <p:nvPr/>
        </p:nvSpPr>
        <p:spPr>
          <a:xfrm flipH="1">
            <a:off x="1874519" y="6355079"/>
            <a:ext cx="7772402" cy="92"/>
          </a:xfrm>
          <a:prstGeom prst="line">
            <a:avLst/>
          </a:prstGeom>
          <a:ln w="28575">
            <a:solidFill>
              <a:srgbClr val="111111"/>
            </a:solidFill>
            <a:prstDash val="dash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4" name="c3_tx815"/>
          <p:cNvSpPr txBox="1"/>
          <p:nvPr/>
        </p:nvSpPr>
        <p:spPr>
          <a:xfrm>
            <a:off x="2011679" y="6454647"/>
            <a:ext cx="74980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{ totalRequests, requests: [ … ] 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5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5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5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35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5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5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35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"/>
                            </p:stCondLst>
                            <p:childTnLst>
                              <p:par>
                                <p:cTn id="43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5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35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50"/>
                            </p:stCondLst>
                            <p:childTnLst>
                              <p:par>
                                <p:cTn id="51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35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97" grpId="5"/>
      <p:bldP build="whole" bldLvl="1" animBg="1" rev="0" advAuto="0" spid="900" grpId="8"/>
      <p:bldP build="whole" bldLvl="1" animBg="1" rev="0" advAuto="0" spid="898" grpId="6"/>
      <p:bldP build="whole" bldLvl="1" animBg="1" rev="0" advAuto="0" spid="904" grpId="12"/>
      <p:bldP build="whole" bldLvl="1" animBg="1" rev="0" advAuto="0" spid="902" grpId="10"/>
      <p:bldP build="whole" bldLvl="1" animBg="1" rev="0" advAuto="0" spid="896" grpId="4"/>
      <p:bldP build="whole" bldLvl="1" animBg="1" rev="0" advAuto="0" spid="894" grpId="2"/>
      <p:bldP build="whole" bldLvl="1" animBg="1" rev="0" advAuto="0" spid="893" grpId="1"/>
      <p:bldP build="whole" bldLvl="1" animBg="1" rev="0" advAuto="0" spid="901" grpId="9"/>
      <p:bldP build="whole" bldLvl="1" animBg="1" rev="0" advAuto="0" spid="903" grpId="11"/>
      <p:bldP build="whole" bldLvl="1" animBg="1" rev="0" advAuto="0" spid="895" grpId="3"/>
      <p:bldP build="whole" bldLvl="1" animBg="1" rev="0" advAuto="0" spid="899" grpId="7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c816"/>
          <p:cNvSpPr/>
          <p:nvPr/>
        </p:nvSpPr>
        <p:spPr>
          <a:xfrm>
            <a:off x="1371599" y="914400"/>
            <a:ext cx="9448497" cy="5029200"/>
          </a:xfrm>
          <a:prstGeom prst="rect">
            <a:avLst/>
          </a:prstGeom>
          <a:ln w="19050">
            <a:solidFill>
              <a:srgbClr val="8A8A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907" name="tx817"/>
          <p:cNvSpPr txBox="1"/>
          <p:nvPr/>
        </p:nvSpPr>
        <p:spPr>
          <a:xfrm>
            <a:off x="1371599" y="2895458"/>
            <a:ext cx="9448497" cy="51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908" name="tx818"/>
          <p:cNvSpPr txBox="1"/>
          <p:nvPr/>
        </p:nvSpPr>
        <p:spPr>
          <a:xfrm>
            <a:off x="1371599" y="3619429"/>
            <a:ext cx="9448497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tools over the large schema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c1_tx819"/>
          <p:cNvSpPr txBox="1"/>
          <p:nvPr/>
        </p:nvSpPr>
        <p:spPr>
          <a:xfrm>
            <a:off x="548639" y="750452"/>
            <a:ext cx="530352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Curated operations</a:t>
            </a:r>
          </a:p>
        </p:txBody>
      </p:sp>
      <p:sp>
        <p:nvSpPr>
          <p:cNvPr id="911" name="c1_tx820"/>
          <p:cNvSpPr txBox="1"/>
          <p:nvPr/>
        </p:nvSpPr>
        <p:spPr>
          <a:xfrm>
            <a:off x="548639" y="1463039"/>
            <a:ext cx="5303522" cy="981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reviewed in a pull request</a:t>
            </a:r>
          </a:p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small, cheap, predictable</a:t>
            </a:r>
          </a:p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questions you planned for</a:t>
            </a:r>
          </a:p>
        </p:txBody>
      </p:sp>
      <p:sp>
        <p:nvSpPr>
          <p:cNvPr id="912" name="ln821"/>
          <p:cNvSpPr/>
          <p:nvPr/>
        </p:nvSpPr>
        <p:spPr>
          <a:xfrm>
            <a:off x="6099047" y="731519"/>
            <a:ext cx="92" cy="320040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3" name="c2_tx822"/>
          <p:cNvSpPr txBox="1"/>
          <p:nvPr/>
        </p:nvSpPr>
        <p:spPr>
          <a:xfrm>
            <a:off x="6400799" y="750452"/>
            <a:ext cx="530352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three tools</a:t>
            </a:r>
          </a:p>
        </p:txBody>
      </p:sp>
      <p:sp>
        <p:nvSpPr>
          <p:cNvPr id="914" name="c2_tx823"/>
          <p:cNvSpPr txBox="1"/>
          <p:nvPr/>
        </p:nvSpPr>
        <p:spPr>
          <a:xfrm>
            <a:off x="6400799" y="1463039"/>
            <a:ext cx="5303522" cy="981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model writes the query</a:t>
            </a:r>
          </a:p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whole schema</a:t>
            </a:r>
          </a:p>
          <a:p>
            <a:pPr>
              <a:defRPr sz="2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long tail of questions</a:t>
            </a:r>
          </a:p>
        </p:txBody>
      </p:sp>
      <p:sp>
        <p:nvSpPr>
          <p:cNvPr id="915" name="c3_ln824"/>
          <p:cNvSpPr/>
          <p:nvPr/>
        </p:nvSpPr>
        <p:spPr>
          <a:xfrm>
            <a:off x="548639" y="4343400"/>
            <a:ext cx="11064242" cy="92"/>
          </a:xfrm>
          <a:prstGeom prst="line">
            <a:avLst/>
          </a:prstGeom>
          <a:ln w="1905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6" name="c3_tx825"/>
          <p:cNvSpPr txBox="1"/>
          <p:nvPr/>
        </p:nvSpPr>
        <p:spPr>
          <a:xfrm>
            <a:off x="548639" y="4678585"/>
            <a:ext cx="11064242" cy="70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 both: curated tools for the common questions, the three tools for the rest.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5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35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35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5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5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35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11" grpId="2"/>
      <p:bldP build="whole" bldLvl="1" animBg="1" rev="0" advAuto="0" spid="914" grpId="4"/>
      <p:bldP build="whole" bldLvl="1" animBg="1" rev="0" advAuto="0" spid="910" grpId="1"/>
      <p:bldP build="whole" bldLvl="1" animBg="1" rev="0" advAuto="0" spid="915" grpId="5"/>
      <p:bldP build="whole" bldLvl="1" animBg="1" rev="0" advAuto="0" spid="916" grpId="6"/>
      <p:bldP build="whole" bldLvl="1" animBg="1" rev="0" advAuto="0" spid="913" grpId="3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tx826"/>
          <p:cNvSpPr txBox="1"/>
          <p:nvPr/>
        </p:nvSpPr>
        <p:spPr>
          <a:xfrm>
            <a:off x="3017519" y="2146017"/>
            <a:ext cx="6156657" cy="101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919" name="tx827"/>
          <p:cNvSpPr txBox="1"/>
          <p:nvPr/>
        </p:nvSpPr>
        <p:spPr>
          <a:xfrm>
            <a:off x="3017519" y="3429297"/>
            <a:ext cx="6156657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920" name="tx828"/>
          <p:cNvSpPr txBox="1"/>
          <p:nvPr/>
        </p:nvSpPr>
        <p:spPr>
          <a:xfrm>
            <a:off x="3017519" y="4841584"/>
            <a:ext cx="615665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Željko Kozina  ·  @zkozina</a:t>
            </a:r>
          </a:p>
        </p:txBody>
      </p:sp>
      <p:pic>
        <p:nvPicPr>
          <p:cNvPr id="921" name="qr829" descr="qr829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2919" y="1874520"/>
            <a:ext cx="2377441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Text 3"/>
          <p:cNvSpPr txBox="1"/>
          <p:nvPr/>
        </p:nvSpPr>
        <p:spPr>
          <a:xfrm>
            <a:off x="137159" y="4419529"/>
            <a:ext cx="31089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ea typeface="Arial"/>
                <a:cs typeface="Arial"/>
                <a:sym typeface="Arial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111111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linkedin.com/in/zkozina</a:t>
            </a:r>
          </a:p>
        </p:txBody>
      </p:sp>
      <p:pic>
        <p:nvPicPr>
          <p:cNvPr id="923" name="qr830" descr="qr830">
            <a:hlinkClick r:id="rId4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11334" y="1874520"/>
            <a:ext cx="2377441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924" name="Text 4"/>
          <p:cNvSpPr txBox="1"/>
          <p:nvPr/>
        </p:nvSpPr>
        <p:spPr>
          <a:xfrm>
            <a:off x="8945574" y="4419529"/>
            <a:ext cx="310896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ea typeface="Arial"/>
                <a:cs typeface="Arial"/>
                <a:sym typeface="Arial"/>
                <a:hlinkClick r:id="rId4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111111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gatool.io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